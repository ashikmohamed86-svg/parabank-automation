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a one-line intro: this is my submission for the Incubyte Software Craftsperson automation assessment - an automated test suite for the ParaBank sign-up and login flow, built with Playwright, TypeScript, BDD and the Page Object Model. Mention it grew into 33 deep-testing scenarios that all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objective: the core task was to automate sign-up, sign-in, and log the post-login balance. Deliverables were test cases in Excel, automation code on GitHub using BDD and POM, multiple commits, and proof of execution. I treated it as a craftsmanship exercise and expanded the scope into deep testing across functional, boundary, security, access-control and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Playwright with TypeScript for reliable, typed automation. BDD - the behaviour of each test is written in plain Gherkin so anyone can read it. POM - the Page Object Model keeps every selector in a page class so the test steps stay clean. The glue is playwright-bdd, which runs the Gherkin files on the Playwright engine, plus fixtures that hand page objects to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is layered. Feature files describe scenarios in Gherkin. Step definitions translate each Gherkin line into actions. Page objects hold all the locators and page interactions. At the end is the live ParaBank app. Because of this separation the suite is readable, maintainable - a UI change is a one-place fix - repeatable thanks to a data factory, and reusable because steps are shared across all six feature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The suite has 33 automated test cases in 6 feature files. Six are core functional tests - registration, login and the balance. Then the deep testing: eight boundary and validation tests, nine security tests, five access-control tests, and five performance tests. Every single case is automated - nothing is manual-only.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 going beyond the happy path. Boundary testing pushes field limits, lengths, special characters and password mismatch. Security testing fires SQL and HTML injection, checks password masking, HTTPS and HttpOnly cookies, and confirms login errors do not reveal whether a username exists. Access control proves protected pages cannot be reached without logging in. Performance measures page-load and action times against generous budgets suited to the slow ParaBank database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cue slide. Switch to the screen recording. Show: one - npm test kicking off and scenarios passing. Two - a registration scenario running in the browser. Three - the Monocart HTML report with video and screenshots per test. Four - the Excel workbook of test cases. Keep this to about two minutes; if the full run is long, show it sped up or pre-recorded.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The full suite was run on 24 May 2026 - 33 of 33 scenarios passed, zero failures, in about 141 seconds, and it is 100% automated. Every run produces proof automatically: a rich Monocart HTML report with video, screenshots and traces per test; a plain-English executive summary; and logs for the balance, performance timings and security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highlight. The security suite found a real vulnerability - stored XSS in the registration first-name field; ParaBank renders it unescaped. The test asserts the secure behaviour, so against the vulnerable site it fails - and I tagged it @fail, an expected failure, so the defect is tracked and the suite stays green. A security test that catches a genuine vulnerability is doing exactly its job, and the finding is documented in both the workbook and the test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ships: the automation suite itself, the Excel test-case workbook with five sheets, a Word test plan, the GitHub repository with an incremental commit history, a CI pipeline that runs the suite on every push, and rich reporting. Throughout I focused on craftsmanship - typed code, small reviewable commits, reusable steps, repeatable data, CI, and documentation a non-technical reader can actually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out. To recap - 33 deep-testing scenarios spanning functional, boundary, security, access-control and performance; built with BDD and the Page Object Model so it is readable and maintainable; a fully green run with proof of execution; and a real security finding that the suite caught and tracked. Thank you - happy to walk through any part of the code or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7A398"/>
          </a:solidFill>
          <a:ln/>
        </p:spPr>
      </p:sp>
      <p:sp>
        <p:nvSpPr>
          <p:cNvPr id="3" name="Shape 1"/>
          <p:cNvSpPr/>
          <p:nvPr/>
        </p:nvSpPr>
        <p:spPr>
          <a:xfrm>
            <a:off x="256032" y="0"/>
            <a:ext cx="64008" cy="6858000"/>
          </a:xfrm>
          <a:prstGeom prst="rect">
            <a:avLst/>
          </a:prstGeom>
          <a:solidFill>
            <a:srgbClr val="E8A33D"/>
          </a:solidFill>
          <a:ln/>
        </p:spPr>
      </p:sp>
      <p:sp>
        <p:nvSpPr>
          <p:cNvPr id="4" name="Text 2"/>
          <p:cNvSpPr/>
          <p:nvPr/>
        </p:nvSpPr>
        <p:spPr>
          <a:xfrm>
            <a:off x="1005840" y="1371600"/>
            <a:ext cx="10058400" cy="365760"/>
          </a:xfrm>
          <a:prstGeom prst="rect">
            <a:avLst/>
          </a:prstGeom>
          <a:noFill/>
          <a:ln/>
        </p:spPr>
        <p:txBody>
          <a:bodyPr wrap="square" rtlCol="0" anchor="ctr"/>
          <a:lstStyle/>
          <a:p>
            <a:pPr indent="0" marL="0">
              <a:buNone/>
            </a:pPr>
            <a:r>
              <a:rPr lang="en-US" sz="1400" b="1" spc="400" kern="0" dirty="0">
                <a:solidFill>
                  <a:srgbClr val="17A398"/>
                </a:solidFill>
                <a:latin typeface="Trebuchet MS" pitchFamily="34" charset="0"/>
                <a:ea typeface="Trebuchet MS" pitchFamily="34" charset="-122"/>
                <a:cs typeface="Trebuchet MS" pitchFamily="34" charset="-120"/>
              </a:rPr>
              <a:t>QA AUTOMATION ASSESSMENT</a:t>
            </a:r>
            <a:endParaRPr lang="en-US" sz="1400" dirty="0"/>
          </a:p>
        </p:txBody>
      </p:sp>
      <p:sp>
        <p:nvSpPr>
          <p:cNvPr id="5" name="Text 3"/>
          <p:cNvSpPr/>
          <p:nvPr/>
        </p:nvSpPr>
        <p:spPr>
          <a:xfrm>
            <a:off x="960120" y="1874520"/>
            <a:ext cx="10424160" cy="914400"/>
          </a:xfrm>
          <a:prstGeom prst="rect">
            <a:avLst/>
          </a:prstGeom>
          <a:noFill/>
          <a:ln/>
        </p:spPr>
        <p:txBody>
          <a:bodyPr wrap="square" rtlCol="0" anchor="ctr"/>
          <a:lstStyle/>
          <a:p>
            <a:pPr indent="0" marL="0">
              <a:buNone/>
            </a:pPr>
            <a:r>
              <a:rPr lang="en-US" sz="5000" b="1" dirty="0">
                <a:solidFill>
                  <a:srgbClr val="FFFFFF"/>
                </a:solidFill>
                <a:latin typeface="Trebuchet MS" pitchFamily="34" charset="0"/>
                <a:ea typeface="Trebuchet MS" pitchFamily="34" charset="-122"/>
                <a:cs typeface="Trebuchet MS" pitchFamily="34" charset="-120"/>
              </a:rPr>
              <a:t>ParaBank Sign-Up &amp; Login</a:t>
            </a:r>
            <a:endParaRPr lang="en-US" sz="5000" dirty="0"/>
          </a:p>
        </p:txBody>
      </p:sp>
      <p:sp>
        <p:nvSpPr>
          <p:cNvPr id="6" name="Text 4"/>
          <p:cNvSpPr/>
          <p:nvPr/>
        </p:nvSpPr>
        <p:spPr>
          <a:xfrm>
            <a:off x="960120" y="2697480"/>
            <a:ext cx="10424160" cy="868680"/>
          </a:xfrm>
          <a:prstGeom prst="rect">
            <a:avLst/>
          </a:prstGeom>
          <a:noFill/>
          <a:ln/>
        </p:spPr>
        <p:txBody>
          <a:bodyPr wrap="square" rtlCol="0" anchor="ctr"/>
          <a:lstStyle/>
          <a:p>
            <a:pPr indent="0" marL="0">
              <a:buNone/>
            </a:pPr>
            <a:r>
              <a:rPr lang="en-US" sz="5000" b="1" dirty="0">
                <a:solidFill>
                  <a:srgbClr val="CADCFC"/>
                </a:solidFill>
                <a:latin typeface="Trebuchet MS" pitchFamily="34" charset="0"/>
                <a:ea typeface="Trebuchet MS" pitchFamily="34" charset="-122"/>
                <a:cs typeface="Trebuchet MS" pitchFamily="34" charset="-120"/>
              </a:rPr>
              <a:t>Automation Test Suite</a:t>
            </a:r>
            <a:endParaRPr lang="en-US" sz="5000" dirty="0"/>
          </a:p>
        </p:txBody>
      </p:sp>
      <p:sp>
        <p:nvSpPr>
          <p:cNvPr id="7" name="Text 5"/>
          <p:cNvSpPr/>
          <p:nvPr/>
        </p:nvSpPr>
        <p:spPr>
          <a:xfrm>
            <a:off x="987552" y="3611880"/>
            <a:ext cx="10058400" cy="411480"/>
          </a:xfrm>
          <a:prstGeom prst="rect">
            <a:avLst/>
          </a:prstGeom>
          <a:noFill/>
          <a:ln/>
        </p:spPr>
        <p:txBody>
          <a:bodyPr wrap="square" rtlCol="0" anchor="ctr"/>
          <a:lstStyle/>
          <a:p>
            <a:pPr indent="0" marL="0">
              <a:buNone/>
            </a:pPr>
            <a:r>
              <a:rPr lang="en-US" sz="1700" i="1" dirty="0">
                <a:solidFill>
                  <a:srgbClr val="C7D2E8"/>
                </a:solidFill>
                <a:latin typeface="Calibri" pitchFamily="34" charset="0"/>
                <a:ea typeface="Calibri" pitchFamily="34" charset="-122"/>
                <a:cs typeface="Calibri" pitchFamily="34" charset="-120"/>
              </a:rPr>
              <a:t>Deep functional, boundary, security, access-control &amp; performance testing</a:t>
            </a:r>
            <a:endParaRPr lang="en-US" sz="1700" dirty="0"/>
          </a:p>
        </p:txBody>
      </p:sp>
      <p:sp>
        <p:nvSpPr>
          <p:cNvPr id="8" name="Shape 6"/>
          <p:cNvSpPr/>
          <p:nvPr/>
        </p:nvSpPr>
        <p:spPr>
          <a:xfrm>
            <a:off x="1005840" y="4224528"/>
            <a:ext cx="2743200" cy="32004"/>
          </a:xfrm>
          <a:prstGeom prst="rect">
            <a:avLst/>
          </a:prstGeom>
          <a:solidFill>
            <a:srgbClr val="E8A33D"/>
          </a:solidFill>
          <a:ln/>
        </p:spPr>
      </p:sp>
      <p:sp>
        <p:nvSpPr>
          <p:cNvPr id="9" name="Text 7"/>
          <p:cNvSpPr/>
          <p:nvPr/>
        </p:nvSpPr>
        <p:spPr>
          <a:xfrm>
            <a:off x="987552" y="4389120"/>
            <a:ext cx="10058400" cy="365760"/>
          </a:xfrm>
          <a:prstGeom prst="rect">
            <a:avLst/>
          </a:prstGeom>
          <a:noFill/>
          <a:ln/>
        </p:spPr>
        <p:txBody>
          <a:bodyPr wrap="square"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Ashik Mohamed</a:t>
            </a:r>
            <a:pPr indent="0" marL="0">
              <a:buNone/>
            </a:pPr>
            <a:r>
              <a:rPr lang="en-US" sz="1400" dirty="0">
                <a:solidFill>
                  <a:srgbClr val="9FB0CE"/>
                </a:solidFill>
                <a:latin typeface="Trebuchet MS" pitchFamily="34" charset="0"/>
                <a:ea typeface="Trebuchet MS" pitchFamily="34" charset="-122"/>
                <a:cs typeface="Trebuchet MS" pitchFamily="34" charset="-120"/>
              </a:rPr>
              <a:t>    |    Software Craftsperson role  -  Incubyte</a:t>
            </a:r>
            <a:endParaRPr lang="en-US" sz="1600" dirty="0"/>
          </a:p>
        </p:txBody>
      </p:sp>
      <p:sp>
        <p:nvSpPr>
          <p:cNvPr id="10" name="Text 8"/>
          <p:cNvSpPr/>
          <p:nvPr/>
        </p:nvSpPr>
        <p:spPr>
          <a:xfrm>
            <a:off x="987552" y="5074920"/>
            <a:ext cx="10058400" cy="365760"/>
          </a:xfrm>
          <a:prstGeom prst="rect">
            <a:avLst/>
          </a:prstGeom>
          <a:noFill/>
          <a:ln/>
        </p:spPr>
        <p:txBody>
          <a:bodyPr wrap="square" rtlCol="0" anchor="ctr"/>
          <a:lstStyle/>
          <a:p>
            <a:pPr indent="0" marL="0">
              <a:buNone/>
            </a:pPr>
            <a:r>
              <a:rPr lang="en-US" sz="1300" dirty="0">
                <a:solidFill>
                  <a:srgbClr val="9FB0CE"/>
                </a:solidFill>
                <a:latin typeface="Calibri" pitchFamily="34" charset="0"/>
                <a:ea typeface="Calibri" pitchFamily="34" charset="-122"/>
                <a:cs typeface="Calibri" pitchFamily="34" charset="-120"/>
              </a:rPr>
              <a:t>Built with  </a:t>
            </a:r>
            <a:pPr indent="0" marL="0">
              <a:buNone/>
            </a:pPr>
            <a:r>
              <a:rPr lang="en-US" sz="1300" b="1" dirty="0">
                <a:solidFill>
                  <a:srgbClr val="FFFFFF"/>
                </a:solidFill>
                <a:latin typeface="Calibri" pitchFamily="34" charset="0"/>
                <a:ea typeface="Calibri" pitchFamily="34" charset="-122"/>
                <a:cs typeface="Calibri" pitchFamily="34" charset="-120"/>
              </a:rPr>
              <a:t>Playwright + TypeScript</a:t>
            </a:r>
            <a:pPr indent="0" marL="0">
              <a:buNone/>
            </a:pPr>
            <a:r>
              <a:rPr lang="en-US" sz="1300" dirty="0">
                <a:solidFill>
                  <a:srgbClr val="9FB0CE"/>
                </a:solidFill>
                <a:latin typeface="Calibri" pitchFamily="34" charset="0"/>
                <a:ea typeface="Calibri" pitchFamily="34" charset="-122"/>
                <a:cs typeface="Calibri" pitchFamily="34" charset="-120"/>
              </a:rPr>
              <a:t>    -    BDD (Gherkin) + Page Object Model</a:t>
            </a:r>
            <a:endParaRPr lang="en-US" sz="1300" dirty="0"/>
          </a:p>
        </p:txBody>
      </p:sp>
      <p:sp>
        <p:nvSpPr>
          <p:cNvPr id="11" name="Text 9"/>
          <p:cNvSpPr/>
          <p:nvPr/>
        </p:nvSpPr>
        <p:spPr>
          <a:xfrm>
            <a:off x="987552" y="5440680"/>
            <a:ext cx="10058400" cy="320040"/>
          </a:xfrm>
          <a:prstGeom prst="rect">
            <a:avLst/>
          </a:prstGeom>
          <a:noFill/>
          <a:ln/>
        </p:spPr>
        <p:txBody>
          <a:bodyPr wrap="square" rtlCol="0" anchor="ctr"/>
          <a:lstStyle/>
          <a:p>
            <a:pPr indent="0" marL="0">
              <a:buNone/>
            </a:pPr>
            <a:r>
              <a:rPr lang="en-US" sz="1200" b="1" dirty="0">
                <a:solidFill>
                  <a:srgbClr val="17A398"/>
                </a:solidFill>
                <a:latin typeface="Calibri" pitchFamily="34" charset="0"/>
                <a:ea typeface="Calibri" pitchFamily="34" charset="-122"/>
                <a:cs typeface="Calibri" pitchFamily="34" charset="-120"/>
              </a:rPr>
              <a:t>33 automated scenarios  ·  100% green run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THE ASSIGNMENT</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What was asked</a:t>
            </a:r>
            <a:endParaRPr lang="en-US" sz="2900" dirty="0"/>
          </a:p>
        </p:txBody>
      </p:sp>
      <p:sp>
        <p:nvSpPr>
          <p:cNvPr id="5" name="Shape 3"/>
          <p:cNvSpPr/>
          <p:nvPr/>
        </p:nvSpPr>
        <p:spPr>
          <a:xfrm>
            <a:off x="548640" y="1508760"/>
            <a:ext cx="5074920" cy="4526280"/>
          </a:xfrm>
          <a:prstGeom prst="roundRect">
            <a:avLst>
              <a:gd name="adj" fmla="val 141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548640" y="1508760"/>
            <a:ext cx="5074920" cy="457200"/>
          </a:xfrm>
          <a:prstGeom prst="rect">
            <a:avLst/>
          </a:prstGeom>
          <a:solidFill>
            <a:srgbClr val="1F3864"/>
          </a:solidFill>
          <a:ln/>
        </p:spPr>
      </p:sp>
      <p:sp>
        <p:nvSpPr>
          <p:cNvPr id="7" name="Text 5"/>
          <p:cNvSpPr/>
          <p:nvPr/>
        </p:nvSpPr>
        <p:spPr>
          <a:xfrm>
            <a:off x="777240" y="1508760"/>
            <a:ext cx="45720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Trebuchet MS" pitchFamily="34" charset="0"/>
                <a:ea typeface="Trebuchet MS" pitchFamily="34" charset="-122"/>
                <a:cs typeface="Trebuchet MS" pitchFamily="34" charset="-120"/>
              </a:rPr>
              <a:t>OBJECTIVE</a:t>
            </a:r>
            <a:endParaRPr lang="en-US" sz="1200" dirty="0"/>
          </a:p>
        </p:txBody>
      </p:sp>
      <p:sp>
        <p:nvSpPr>
          <p:cNvPr id="8" name="Text 6"/>
          <p:cNvSpPr/>
          <p:nvPr/>
        </p:nvSpPr>
        <p:spPr>
          <a:xfrm>
            <a:off x="777240" y="2194560"/>
            <a:ext cx="4617720" cy="1371600"/>
          </a:xfrm>
          <a:prstGeom prst="rect">
            <a:avLst/>
          </a:prstGeom>
          <a:noFill/>
          <a:ln/>
        </p:spPr>
        <p:txBody>
          <a:bodyPr wrap="square" rtlCol="0" anchor="t"/>
          <a:lstStyle/>
          <a:p>
            <a:pPr indent="0" marL="0">
              <a:spcAft>
                <a:spcPts val="800"/>
              </a:spcAft>
              <a:buNone/>
            </a:pPr>
            <a:r>
              <a:rPr lang="en-US" sz="1700" b="1" dirty="0">
                <a:solidFill>
                  <a:srgbClr val="1F3864"/>
                </a:solidFill>
                <a:latin typeface="Calibri" pitchFamily="34" charset="0"/>
                <a:ea typeface="Calibri" pitchFamily="34" charset="-122"/>
                <a:cs typeface="Calibri" pitchFamily="34" charset="-120"/>
              </a:rPr>
              <a:t>Test the sign-up flow.</a:t>
            </a:r>
            <a:endParaRPr lang="en-US" sz="1700" dirty="0"/>
          </a:p>
          <a:p>
            <a:pPr indent="0" marL="0">
              <a:buNone/>
            </a:pPr>
            <a:r>
              <a:rPr lang="en-US" sz="1400" dirty="0">
                <a:solidFill>
                  <a:srgbClr val="2A2E3A"/>
                </a:solidFill>
                <a:latin typeface="Calibri" pitchFamily="34" charset="0"/>
                <a:ea typeface="Calibri" pitchFamily="34" charset="-122"/>
                <a:cs typeface="Calibri" pitchFamily="34" charset="-120"/>
              </a:rPr>
              <a:t>Automate creating an account on ParaBank, sign in with that account, and log the amount displayed on the page after login.</a:t>
            </a:r>
            <a:endParaRPr lang="en-US" sz="1700" dirty="0"/>
          </a:p>
        </p:txBody>
      </p:sp>
      <p:sp>
        <p:nvSpPr>
          <p:cNvPr id="9" name="Text 7"/>
          <p:cNvSpPr/>
          <p:nvPr/>
        </p:nvSpPr>
        <p:spPr>
          <a:xfrm>
            <a:off x="777240" y="3611880"/>
            <a:ext cx="4572000" cy="274320"/>
          </a:xfrm>
          <a:prstGeom prst="rect">
            <a:avLst/>
          </a:prstGeom>
          <a:noFill/>
          <a:ln/>
        </p:spPr>
        <p:txBody>
          <a:bodyPr wrap="square" rtlCol="0" anchor="ctr"/>
          <a:lstStyle/>
          <a:p>
            <a:pPr indent="0" marL="0">
              <a:buNone/>
            </a:pPr>
            <a:r>
              <a:rPr lang="en-US" sz="1050" b="1" spc="150" kern="0" dirty="0">
                <a:solidFill>
                  <a:srgbClr val="17A398"/>
                </a:solidFill>
                <a:latin typeface="Trebuchet MS" pitchFamily="34" charset="0"/>
                <a:ea typeface="Trebuchet MS" pitchFamily="34" charset="-122"/>
                <a:cs typeface="Trebuchet MS" pitchFamily="34" charset="-120"/>
              </a:rPr>
              <a:t>SCOPE EXPANDED TO DEEP TESTING</a:t>
            </a:r>
            <a:endParaRPr lang="en-US" sz="1050" dirty="0"/>
          </a:p>
        </p:txBody>
      </p:sp>
      <p:sp>
        <p:nvSpPr>
          <p:cNvPr id="10" name="Shape 8"/>
          <p:cNvSpPr/>
          <p:nvPr/>
        </p:nvSpPr>
        <p:spPr>
          <a:xfrm>
            <a:off x="786384" y="3968496"/>
            <a:ext cx="146304" cy="146304"/>
          </a:xfrm>
          <a:prstGeom prst="ellipse">
            <a:avLst/>
          </a:prstGeom>
          <a:solidFill>
            <a:srgbClr val="17A398"/>
          </a:solidFill>
          <a:ln/>
        </p:spPr>
      </p:sp>
      <p:sp>
        <p:nvSpPr>
          <p:cNvPr id="11" name="Text 9"/>
          <p:cNvSpPr/>
          <p:nvPr/>
        </p:nvSpPr>
        <p:spPr>
          <a:xfrm>
            <a:off x="1024128" y="3886200"/>
            <a:ext cx="448056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Functional  </a:t>
            </a:r>
            <a:pPr indent="0" marL="0">
              <a:buNone/>
            </a:pPr>
            <a:r>
              <a:rPr lang="en-US" sz="1200" dirty="0">
                <a:solidFill>
                  <a:srgbClr val="6B7280"/>
                </a:solidFill>
                <a:latin typeface="Calibri" pitchFamily="34" charset="0"/>
                <a:ea typeface="Calibri" pitchFamily="34" charset="-122"/>
                <a:cs typeface="Calibri" pitchFamily="34" charset="-120"/>
              </a:rPr>
              <a:t>- registration, login &amp; balance</a:t>
            </a:r>
            <a:endParaRPr lang="en-US" sz="1200" dirty="0"/>
          </a:p>
        </p:txBody>
      </p:sp>
      <p:sp>
        <p:nvSpPr>
          <p:cNvPr id="12" name="Shape 10"/>
          <p:cNvSpPr/>
          <p:nvPr/>
        </p:nvSpPr>
        <p:spPr>
          <a:xfrm>
            <a:off x="786384" y="4471416"/>
            <a:ext cx="146304" cy="146304"/>
          </a:xfrm>
          <a:prstGeom prst="ellipse">
            <a:avLst/>
          </a:prstGeom>
          <a:solidFill>
            <a:srgbClr val="17A398"/>
          </a:solidFill>
          <a:ln/>
        </p:spPr>
      </p:sp>
      <p:sp>
        <p:nvSpPr>
          <p:cNvPr id="13" name="Text 11"/>
          <p:cNvSpPr/>
          <p:nvPr/>
        </p:nvSpPr>
        <p:spPr>
          <a:xfrm>
            <a:off x="1024128" y="4389120"/>
            <a:ext cx="448056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Boundary  </a:t>
            </a:r>
            <a:pPr indent="0" marL="0">
              <a:buNone/>
            </a:pPr>
            <a:r>
              <a:rPr lang="en-US" sz="1200" dirty="0">
                <a:solidFill>
                  <a:srgbClr val="6B7280"/>
                </a:solidFill>
                <a:latin typeface="Calibri" pitchFamily="34" charset="0"/>
                <a:ea typeface="Calibri" pitchFamily="34" charset="-122"/>
                <a:cs typeface="Calibri" pitchFamily="34" charset="-120"/>
              </a:rPr>
              <a:t>- input limits &amp; validation</a:t>
            </a:r>
            <a:endParaRPr lang="en-US" sz="1200" dirty="0"/>
          </a:p>
        </p:txBody>
      </p:sp>
      <p:sp>
        <p:nvSpPr>
          <p:cNvPr id="14" name="Shape 12"/>
          <p:cNvSpPr/>
          <p:nvPr/>
        </p:nvSpPr>
        <p:spPr>
          <a:xfrm>
            <a:off x="786384" y="4974336"/>
            <a:ext cx="146304" cy="146304"/>
          </a:xfrm>
          <a:prstGeom prst="ellipse">
            <a:avLst/>
          </a:prstGeom>
          <a:solidFill>
            <a:srgbClr val="17A398"/>
          </a:solidFill>
          <a:ln/>
        </p:spPr>
      </p:sp>
      <p:sp>
        <p:nvSpPr>
          <p:cNvPr id="15" name="Text 13"/>
          <p:cNvSpPr/>
          <p:nvPr/>
        </p:nvSpPr>
        <p:spPr>
          <a:xfrm>
            <a:off x="1024128" y="4892040"/>
            <a:ext cx="448056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Security  </a:t>
            </a:r>
            <a:pPr indent="0" marL="0">
              <a:buNone/>
            </a:pPr>
            <a:r>
              <a:rPr lang="en-US" sz="1200" dirty="0">
                <a:solidFill>
                  <a:srgbClr val="6B7280"/>
                </a:solidFill>
                <a:latin typeface="Calibri" pitchFamily="34" charset="0"/>
                <a:ea typeface="Calibri" pitchFamily="34" charset="-122"/>
                <a:cs typeface="Calibri" pitchFamily="34" charset="-120"/>
              </a:rPr>
              <a:t>- injection, masking, sessions</a:t>
            </a:r>
            <a:endParaRPr lang="en-US" sz="1200" dirty="0"/>
          </a:p>
        </p:txBody>
      </p:sp>
      <p:sp>
        <p:nvSpPr>
          <p:cNvPr id="16" name="Shape 14"/>
          <p:cNvSpPr/>
          <p:nvPr/>
        </p:nvSpPr>
        <p:spPr>
          <a:xfrm>
            <a:off x="786384" y="5477256"/>
            <a:ext cx="146304" cy="146304"/>
          </a:xfrm>
          <a:prstGeom prst="ellipse">
            <a:avLst/>
          </a:prstGeom>
          <a:solidFill>
            <a:srgbClr val="17A398"/>
          </a:solidFill>
          <a:ln/>
        </p:spPr>
      </p:sp>
      <p:sp>
        <p:nvSpPr>
          <p:cNvPr id="17" name="Text 15"/>
          <p:cNvSpPr/>
          <p:nvPr/>
        </p:nvSpPr>
        <p:spPr>
          <a:xfrm>
            <a:off x="1024128" y="5394960"/>
            <a:ext cx="448056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Performance  </a:t>
            </a:r>
            <a:pPr indent="0" marL="0">
              <a:buNone/>
            </a:pPr>
            <a:r>
              <a:rPr lang="en-US" sz="1200" dirty="0">
                <a:solidFill>
                  <a:srgbClr val="6B7280"/>
                </a:solidFill>
                <a:latin typeface="Calibri" pitchFamily="34" charset="0"/>
                <a:ea typeface="Calibri" pitchFamily="34" charset="-122"/>
                <a:cs typeface="Calibri" pitchFamily="34" charset="-120"/>
              </a:rPr>
              <a:t>- response-time budgets</a:t>
            </a:r>
            <a:endParaRPr lang="en-US" sz="1200" dirty="0"/>
          </a:p>
        </p:txBody>
      </p:sp>
      <p:sp>
        <p:nvSpPr>
          <p:cNvPr id="18" name="Shape 16"/>
          <p:cNvSpPr/>
          <p:nvPr/>
        </p:nvSpPr>
        <p:spPr>
          <a:xfrm>
            <a:off x="5852160" y="1508760"/>
            <a:ext cx="5788152" cy="4526280"/>
          </a:xfrm>
          <a:prstGeom prst="roundRect">
            <a:avLst>
              <a:gd name="adj" fmla="val 141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9" name="Shape 17"/>
          <p:cNvSpPr/>
          <p:nvPr/>
        </p:nvSpPr>
        <p:spPr>
          <a:xfrm>
            <a:off x="5852160" y="1508760"/>
            <a:ext cx="5788152" cy="457200"/>
          </a:xfrm>
          <a:prstGeom prst="rect">
            <a:avLst/>
          </a:prstGeom>
          <a:solidFill>
            <a:srgbClr val="17A398"/>
          </a:solidFill>
          <a:ln/>
        </p:spPr>
      </p:sp>
      <p:sp>
        <p:nvSpPr>
          <p:cNvPr id="20" name="Text 18"/>
          <p:cNvSpPr/>
          <p:nvPr/>
        </p:nvSpPr>
        <p:spPr>
          <a:xfrm>
            <a:off x="6080760" y="1508760"/>
            <a:ext cx="5486400" cy="457200"/>
          </a:xfrm>
          <a:prstGeom prst="rect">
            <a:avLst/>
          </a:prstGeom>
          <a:noFill/>
          <a:ln/>
        </p:spPr>
        <p:txBody>
          <a:bodyPr wrap="square" lIns="0" tIns="0" rIns="0" bIns="0" rtlCol="0" anchor="ctr"/>
          <a:lstStyle/>
          <a:p>
            <a:pPr indent="0" marL="0">
              <a:buNone/>
            </a:pPr>
            <a:r>
              <a:rPr lang="en-US" sz="1200" b="1" spc="200" kern="0" dirty="0">
                <a:solidFill>
                  <a:srgbClr val="FFFFFF"/>
                </a:solidFill>
                <a:latin typeface="Trebuchet MS" pitchFamily="34" charset="0"/>
                <a:ea typeface="Trebuchet MS" pitchFamily="34" charset="-122"/>
                <a:cs typeface="Trebuchet MS" pitchFamily="34" charset="-120"/>
              </a:rPr>
              <a:t>DELIVERABLES</a:t>
            </a:r>
            <a:endParaRPr lang="en-US" sz="1200" dirty="0"/>
          </a:p>
        </p:txBody>
      </p:sp>
      <p:sp>
        <p:nvSpPr>
          <p:cNvPr id="21" name="Shape 19"/>
          <p:cNvSpPr/>
          <p:nvPr/>
        </p:nvSpPr>
        <p:spPr>
          <a:xfrm>
            <a:off x="6080760" y="2194560"/>
            <a:ext cx="566928" cy="566928"/>
          </a:xfrm>
          <a:prstGeom prst="roundRect">
            <a:avLst>
              <a:gd name="adj" fmla="val 8065"/>
            </a:avLst>
          </a:prstGeom>
          <a:solidFill>
            <a:srgbClr val="1F3864"/>
          </a:solidFill>
          <a:ln/>
        </p:spPr>
      </p:sp>
      <p:sp>
        <p:nvSpPr>
          <p:cNvPr id="22" name="Text 20"/>
          <p:cNvSpPr/>
          <p:nvPr/>
        </p:nvSpPr>
        <p:spPr>
          <a:xfrm>
            <a:off x="6080760" y="21945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23" name="Text 21"/>
          <p:cNvSpPr/>
          <p:nvPr/>
        </p:nvSpPr>
        <p:spPr>
          <a:xfrm>
            <a:off x="6812280" y="2176272"/>
            <a:ext cx="4663440" cy="310896"/>
          </a:xfrm>
          <a:prstGeom prst="rect">
            <a:avLst/>
          </a:prstGeom>
          <a:noFill/>
          <a:ln/>
        </p:spPr>
        <p:txBody>
          <a:bodyPr wrap="square" lIns="0" tIns="0" rIns="0" bIns="0" rtlCol="0" anchor="ctr"/>
          <a:lstStyle/>
          <a:p>
            <a:pPr indent="0" marL="0">
              <a:buNone/>
            </a:pPr>
            <a:r>
              <a:rPr lang="en-US" sz="1450" b="1" dirty="0">
                <a:solidFill>
                  <a:srgbClr val="1F3864"/>
                </a:solidFill>
                <a:latin typeface="Trebuchet MS" pitchFamily="34" charset="0"/>
                <a:ea typeface="Trebuchet MS" pitchFamily="34" charset="-122"/>
                <a:cs typeface="Trebuchet MS" pitchFamily="34" charset="-120"/>
              </a:rPr>
              <a:t>Test cases</a:t>
            </a:r>
            <a:endParaRPr lang="en-US" sz="1450" dirty="0"/>
          </a:p>
        </p:txBody>
      </p:sp>
      <p:sp>
        <p:nvSpPr>
          <p:cNvPr id="24" name="Text 22"/>
          <p:cNvSpPr/>
          <p:nvPr/>
        </p:nvSpPr>
        <p:spPr>
          <a:xfrm>
            <a:off x="6812280" y="2468880"/>
            <a:ext cx="470916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Documented in a structured Excel workbook</a:t>
            </a:r>
            <a:endParaRPr lang="en-US" sz="1150" dirty="0"/>
          </a:p>
        </p:txBody>
      </p:sp>
      <p:sp>
        <p:nvSpPr>
          <p:cNvPr id="25" name="Shape 23"/>
          <p:cNvSpPr/>
          <p:nvPr/>
        </p:nvSpPr>
        <p:spPr>
          <a:xfrm>
            <a:off x="6080760" y="3108960"/>
            <a:ext cx="566928" cy="566928"/>
          </a:xfrm>
          <a:prstGeom prst="roundRect">
            <a:avLst>
              <a:gd name="adj" fmla="val 8065"/>
            </a:avLst>
          </a:prstGeom>
          <a:solidFill>
            <a:srgbClr val="1F3864"/>
          </a:solidFill>
          <a:ln/>
        </p:spPr>
      </p:sp>
      <p:sp>
        <p:nvSpPr>
          <p:cNvPr id="26" name="Text 24"/>
          <p:cNvSpPr/>
          <p:nvPr/>
        </p:nvSpPr>
        <p:spPr>
          <a:xfrm>
            <a:off x="6080760" y="3108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27" name="Text 25"/>
          <p:cNvSpPr/>
          <p:nvPr/>
        </p:nvSpPr>
        <p:spPr>
          <a:xfrm>
            <a:off x="6812280" y="3090672"/>
            <a:ext cx="4663440" cy="310896"/>
          </a:xfrm>
          <a:prstGeom prst="rect">
            <a:avLst/>
          </a:prstGeom>
          <a:noFill/>
          <a:ln/>
        </p:spPr>
        <p:txBody>
          <a:bodyPr wrap="square" lIns="0" tIns="0" rIns="0" bIns="0" rtlCol="0" anchor="ctr"/>
          <a:lstStyle/>
          <a:p>
            <a:pPr indent="0" marL="0">
              <a:buNone/>
            </a:pPr>
            <a:r>
              <a:rPr lang="en-US" sz="1450" b="1" dirty="0">
                <a:solidFill>
                  <a:srgbClr val="1F3864"/>
                </a:solidFill>
                <a:latin typeface="Trebuchet MS" pitchFamily="34" charset="0"/>
                <a:ea typeface="Trebuchet MS" pitchFamily="34" charset="-122"/>
                <a:cs typeface="Trebuchet MS" pitchFamily="34" charset="-120"/>
              </a:rPr>
              <a:t>Automation code</a:t>
            </a:r>
            <a:endParaRPr lang="en-US" sz="1450" dirty="0"/>
          </a:p>
        </p:txBody>
      </p:sp>
      <p:sp>
        <p:nvSpPr>
          <p:cNvPr id="28" name="Text 26"/>
          <p:cNvSpPr/>
          <p:nvPr/>
        </p:nvSpPr>
        <p:spPr>
          <a:xfrm>
            <a:off x="6812280" y="3383280"/>
            <a:ext cx="470916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GitHub repo - BDD to structure tests, BDD + POM for the scripts</a:t>
            </a:r>
            <a:endParaRPr lang="en-US" sz="1150" dirty="0"/>
          </a:p>
        </p:txBody>
      </p:sp>
      <p:sp>
        <p:nvSpPr>
          <p:cNvPr id="29" name="Shape 27"/>
          <p:cNvSpPr/>
          <p:nvPr/>
        </p:nvSpPr>
        <p:spPr>
          <a:xfrm>
            <a:off x="6080760" y="4023360"/>
            <a:ext cx="566928" cy="566928"/>
          </a:xfrm>
          <a:prstGeom prst="roundRect">
            <a:avLst>
              <a:gd name="adj" fmla="val 8065"/>
            </a:avLst>
          </a:prstGeom>
          <a:solidFill>
            <a:srgbClr val="1F3864"/>
          </a:solidFill>
          <a:ln/>
        </p:spPr>
      </p:sp>
      <p:sp>
        <p:nvSpPr>
          <p:cNvPr id="30" name="Text 28"/>
          <p:cNvSpPr/>
          <p:nvPr/>
        </p:nvSpPr>
        <p:spPr>
          <a:xfrm>
            <a:off x="6080760" y="4023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31" name="Text 29"/>
          <p:cNvSpPr/>
          <p:nvPr/>
        </p:nvSpPr>
        <p:spPr>
          <a:xfrm>
            <a:off x="6812280" y="4005072"/>
            <a:ext cx="4663440" cy="310896"/>
          </a:xfrm>
          <a:prstGeom prst="rect">
            <a:avLst/>
          </a:prstGeom>
          <a:noFill/>
          <a:ln/>
        </p:spPr>
        <p:txBody>
          <a:bodyPr wrap="square" lIns="0" tIns="0" rIns="0" bIns="0" rtlCol="0" anchor="ctr"/>
          <a:lstStyle/>
          <a:p>
            <a:pPr indent="0" marL="0">
              <a:buNone/>
            </a:pPr>
            <a:r>
              <a:rPr lang="en-US" sz="1450" b="1" dirty="0">
                <a:solidFill>
                  <a:srgbClr val="1F3864"/>
                </a:solidFill>
                <a:latin typeface="Trebuchet MS" pitchFamily="34" charset="0"/>
                <a:ea typeface="Trebuchet MS" pitchFamily="34" charset="-122"/>
                <a:cs typeface="Trebuchet MS" pitchFamily="34" charset="-120"/>
              </a:rPr>
              <a:t>Multiple commits</a:t>
            </a:r>
            <a:endParaRPr lang="en-US" sz="1450" dirty="0"/>
          </a:p>
        </p:txBody>
      </p:sp>
      <p:sp>
        <p:nvSpPr>
          <p:cNvPr id="32" name="Text 30"/>
          <p:cNvSpPr/>
          <p:nvPr/>
        </p:nvSpPr>
        <p:spPr>
          <a:xfrm>
            <a:off x="6812280" y="4297680"/>
            <a:ext cx="470916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An incremental, reviewable commit history</a:t>
            </a:r>
            <a:endParaRPr lang="en-US" sz="1150" dirty="0"/>
          </a:p>
        </p:txBody>
      </p:sp>
      <p:sp>
        <p:nvSpPr>
          <p:cNvPr id="33" name="Shape 31"/>
          <p:cNvSpPr/>
          <p:nvPr/>
        </p:nvSpPr>
        <p:spPr>
          <a:xfrm>
            <a:off x="6080760" y="4937760"/>
            <a:ext cx="566928" cy="566928"/>
          </a:xfrm>
          <a:prstGeom prst="roundRect">
            <a:avLst>
              <a:gd name="adj" fmla="val 8065"/>
            </a:avLst>
          </a:prstGeom>
          <a:solidFill>
            <a:srgbClr val="1F3864"/>
          </a:solidFill>
          <a:ln/>
        </p:spPr>
      </p:sp>
      <p:sp>
        <p:nvSpPr>
          <p:cNvPr id="34" name="Text 32"/>
          <p:cNvSpPr/>
          <p:nvPr/>
        </p:nvSpPr>
        <p:spPr>
          <a:xfrm>
            <a:off x="6080760" y="49377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35" name="Text 33"/>
          <p:cNvSpPr/>
          <p:nvPr/>
        </p:nvSpPr>
        <p:spPr>
          <a:xfrm>
            <a:off x="6812280" y="4919472"/>
            <a:ext cx="4663440" cy="310896"/>
          </a:xfrm>
          <a:prstGeom prst="rect">
            <a:avLst/>
          </a:prstGeom>
          <a:noFill/>
          <a:ln/>
        </p:spPr>
        <p:txBody>
          <a:bodyPr wrap="square" lIns="0" tIns="0" rIns="0" bIns="0" rtlCol="0" anchor="ctr"/>
          <a:lstStyle/>
          <a:p>
            <a:pPr indent="0" marL="0">
              <a:buNone/>
            </a:pPr>
            <a:r>
              <a:rPr lang="en-US" sz="1450" b="1" dirty="0">
                <a:solidFill>
                  <a:srgbClr val="1F3864"/>
                </a:solidFill>
                <a:latin typeface="Trebuchet MS" pitchFamily="34" charset="0"/>
                <a:ea typeface="Trebuchet MS" pitchFamily="34" charset="-122"/>
                <a:cs typeface="Trebuchet MS" pitchFamily="34" charset="-120"/>
              </a:rPr>
              <a:t>Proof of execution</a:t>
            </a:r>
            <a:endParaRPr lang="en-US" sz="1450" dirty="0"/>
          </a:p>
        </p:txBody>
      </p:sp>
      <p:sp>
        <p:nvSpPr>
          <p:cNvPr id="36" name="Text 34"/>
          <p:cNvSpPr/>
          <p:nvPr/>
        </p:nvSpPr>
        <p:spPr>
          <a:xfrm>
            <a:off x="6812280" y="5212080"/>
            <a:ext cx="4709160" cy="45720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Screenshots / recording of a passing run</a:t>
            </a:r>
            <a:endParaRPr lang="en-US" sz="1150" dirty="0"/>
          </a:p>
        </p:txBody>
      </p:sp>
      <p:sp>
        <p:nvSpPr>
          <p:cNvPr id="37" name="Text 35"/>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38" name="Text 36"/>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APPROACH</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How the suite is built</a:t>
            </a:r>
            <a:endParaRPr lang="en-US" sz="2900" dirty="0"/>
          </a:p>
        </p:txBody>
      </p:sp>
      <p:sp>
        <p:nvSpPr>
          <p:cNvPr id="5" name="Shape 3"/>
          <p:cNvSpPr/>
          <p:nvPr/>
        </p:nvSpPr>
        <p:spPr>
          <a:xfrm>
            <a:off x="548640" y="1645920"/>
            <a:ext cx="3520440" cy="2743200"/>
          </a:xfrm>
          <a:prstGeom prst="roundRect">
            <a:avLst>
              <a:gd name="adj" fmla="val 233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548640" y="1645920"/>
            <a:ext cx="3520440" cy="109728"/>
          </a:xfrm>
          <a:prstGeom prst="rect">
            <a:avLst/>
          </a:prstGeom>
          <a:solidFill>
            <a:srgbClr val="1F3864"/>
          </a:solidFill>
          <a:ln/>
        </p:spPr>
      </p:sp>
      <p:sp>
        <p:nvSpPr>
          <p:cNvPr id="7" name="Text 5"/>
          <p:cNvSpPr/>
          <p:nvPr/>
        </p:nvSpPr>
        <p:spPr>
          <a:xfrm>
            <a:off x="822960" y="1938528"/>
            <a:ext cx="2971800" cy="548640"/>
          </a:xfrm>
          <a:prstGeom prst="rect">
            <a:avLst/>
          </a:prstGeom>
          <a:noFill/>
          <a:ln/>
        </p:spPr>
        <p:txBody>
          <a:bodyPr wrap="square" lIns="0" tIns="0" rIns="0" bIns="0" rtlCol="0" anchor="ctr"/>
          <a:lstStyle/>
          <a:p>
            <a:pPr indent="0" marL="0">
              <a:buNone/>
            </a:pPr>
            <a:r>
              <a:rPr lang="en-US" sz="2600" b="1" dirty="0">
                <a:solidFill>
                  <a:srgbClr val="1F3864"/>
                </a:solidFill>
                <a:latin typeface="Trebuchet MS" pitchFamily="34" charset="0"/>
                <a:ea typeface="Trebuchet MS" pitchFamily="34" charset="-122"/>
                <a:cs typeface="Trebuchet MS" pitchFamily="34" charset="-120"/>
              </a:rPr>
              <a:t>Playwright</a:t>
            </a:r>
            <a:endParaRPr lang="en-US" sz="2600" dirty="0"/>
          </a:p>
        </p:txBody>
      </p:sp>
      <p:sp>
        <p:nvSpPr>
          <p:cNvPr id="8" name="Text 6"/>
          <p:cNvSpPr/>
          <p:nvPr/>
        </p:nvSpPr>
        <p:spPr>
          <a:xfrm>
            <a:off x="822960" y="2505456"/>
            <a:ext cx="2971800" cy="320040"/>
          </a:xfrm>
          <a:prstGeom prst="rect">
            <a:avLst/>
          </a:prstGeom>
          <a:noFill/>
          <a:ln/>
        </p:spPr>
        <p:txBody>
          <a:bodyPr wrap="square" lIns="0" tIns="0" rIns="0" bIns="0" rtlCol="0" anchor="ctr"/>
          <a:lstStyle/>
          <a:p>
            <a:pPr indent="0" marL="0">
              <a:buNone/>
            </a:pPr>
            <a:r>
              <a:rPr lang="en-US" sz="1300" b="1" dirty="0">
                <a:solidFill>
                  <a:srgbClr val="2A2E3A"/>
                </a:solidFill>
                <a:latin typeface="Trebuchet MS" pitchFamily="34" charset="0"/>
                <a:ea typeface="Trebuchet MS" pitchFamily="34" charset="-122"/>
                <a:cs typeface="Trebuchet MS" pitchFamily="34" charset="-120"/>
              </a:rPr>
              <a:t>+ TypeScript</a:t>
            </a:r>
            <a:endParaRPr lang="en-US" sz="1300" dirty="0"/>
          </a:p>
        </p:txBody>
      </p:sp>
      <p:sp>
        <p:nvSpPr>
          <p:cNvPr id="9" name="Shape 7"/>
          <p:cNvSpPr/>
          <p:nvPr/>
        </p:nvSpPr>
        <p:spPr>
          <a:xfrm>
            <a:off x="822960" y="2907792"/>
            <a:ext cx="502920" cy="27432"/>
          </a:xfrm>
          <a:prstGeom prst="rect">
            <a:avLst/>
          </a:prstGeom>
          <a:solidFill>
            <a:srgbClr val="E8A33D"/>
          </a:solidFill>
          <a:ln/>
        </p:spPr>
      </p:sp>
      <p:sp>
        <p:nvSpPr>
          <p:cNvPr id="10" name="Text 8"/>
          <p:cNvSpPr/>
          <p:nvPr/>
        </p:nvSpPr>
        <p:spPr>
          <a:xfrm>
            <a:off x="822960" y="3035808"/>
            <a:ext cx="2971800" cy="11887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Fast, reliable browser automation in fully typed, maintainable code.</a:t>
            </a:r>
            <a:endParaRPr lang="en-US" sz="1250" dirty="0"/>
          </a:p>
        </p:txBody>
      </p:sp>
      <p:sp>
        <p:nvSpPr>
          <p:cNvPr id="11" name="Shape 9"/>
          <p:cNvSpPr/>
          <p:nvPr/>
        </p:nvSpPr>
        <p:spPr>
          <a:xfrm>
            <a:off x="4270248" y="1645920"/>
            <a:ext cx="3520440" cy="2743200"/>
          </a:xfrm>
          <a:prstGeom prst="roundRect">
            <a:avLst>
              <a:gd name="adj" fmla="val 233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2" name="Shape 10"/>
          <p:cNvSpPr/>
          <p:nvPr/>
        </p:nvSpPr>
        <p:spPr>
          <a:xfrm>
            <a:off x="4270248" y="1645920"/>
            <a:ext cx="3520440" cy="109728"/>
          </a:xfrm>
          <a:prstGeom prst="rect">
            <a:avLst/>
          </a:prstGeom>
          <a:solidFill>
            <a:srgbClr val="17A398"/>
          </a:solidFill>
          <a:ln/>
        </p:spPr>
      </p:sp>
      <p:sp>
        <p:nvSpPr>
          <p:cNvPr id="13" name="Text 11"/>
          <p:cNvSpPr/>
          <p:nvPr/>
        </p:nvSpPr>
        <p:spPr>
          <a:xfrm>
            <a:off x="4544568" y="1938528"/>
            <a:ext cx="2971800" cy="548640"/>
          </a:xfrm>
          <a:prstGeom prst="rect">
            <a:avLst/>
          </a:prstGeom>
          <a:noFill/>
          <a:ln/>
        </p:spPr>
        <p:txBody>
          <a:bodyPr wrap="square" lIns="0" tIns="0" rIns="0" bIns="0" rtlCol="0" anchor="ctr"/>
          <a:lstStyle/>
          <a:p>
            <a:pPr indent="0" marL="0">
              <a:buNone/>
            </a:pPr>
            <a:r>
              <a:rPr lang="en-US" sz="2600" b="1" dirty="0">
                <a:solidFill>
                  <a:srgbClr val="17A398"/>
                </a:solidFill>
                <a:latin typeface="Trebuchet MS" pitchFamily="34" charset="0"/>
                <a:ea typeface="Trebuchet MS" pitchFamily="34" charset="-122"/>
                <a:cs typeface="Trebuchet MS" pitchFamily="34" charset="-120"/>
              </a:rPr>
              <a:t>BDD</a:t>
            </a:r>
            <a:endParaRPr lang="en-US" sz="2600" dirty="0"/>
          </a:p>
        </p:txBody>
      </p:sp>
      <p:sp>
        <p:nvSpPr>
          <p:cNvPr id="14" name="Text 12"/>
          <p:cNvSpPr/>
          <p:nvPr/>
        </p:nvSpPr>
        <p:spPr>
          <a:xfrm>
            <a:off x="4544568" y="2505456"/>
            <a:ext cx="2971800" cy="320040"/>
          </a:xfrm>
          <a:prstGeom prst="rect">
            <a:avLst/>
          </a:prstGeom>
          <a:noFill/>
          <a:ln/>
        </p:spPr>
        <p:txBody>
          <a:bodyPr wrap="square" lIns="0" tIns="0" rIns="0" bIns="0" rtlCol="0" anchor="ctr"/>
          <a:lstStyle/>
          <a:p>
            <a:pPr indent="0" marL="0">
              <a:buNone/>
            </a:pPr>
            <a:r>
              <a:rPr lang="en-US" sz="1300" b="1" dirty="0">
                <a:solidFill>
                  <a:srgbClr val="2A2E3A"/>
                </a:solidFill>
                <a:latin typeface="Trebuchet MS" pitchFamily="34" charset="0"/>
                <a:ea typeface="Trebuchet MS" pitchFamily="34" charset="-122"/>
                <a:cs typeface="Trebuchet MS" pitchFamily="34" charset="-120"/>
              </a:rPr>
              <a:t>Gherkin features</a:t>
            </a:r>
            <a:endParaRPr lang="en-US" sz="1300" dirty="0"/>
          </a:p>
        </p:txBody>
      </p:sp>
      <p:sp>
        <p:nvSpPr>
          <p:cNvPr id="15" name="Shape 13"/>
          <p:cNvSpPr/>
          <p:nvPr/>
        </p:nvSpPr>
        <p:spPr>
          <a:xfrm>
            <a:off x="4544568" y="2907792"/>
            <a:ext cx="502920" cy="27432"/>
          </a:xfrm>
          <a:prstGeom prst="rect">
            <a:avLst/>
          </a:prstGeom>
          <a:solidFill>
            <a:srgbClr val="E8A33D"/>
          </a:solidFill>
          <a:ln/>
        </p:spPr>
      </p:sp>
      <p:sp>
        <p:nvSpPr>
          <p:cNvPr id="16" name="Text 14"/>
          <p:cNvSpPr/>
          <p:nvPr/>
        </p:nvSpPr>
        <p:spPr>
          <a:xfrm>
            <a:off x="4544568" y="3035808"/>
            <a:ext cx="2971800" cy="11887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Every scenario reads as plain Given / When / Then business language.</a:t>
            </a:r>
            <a:endParaRPr lang="en-US" sz="1250" dirty="0"/>
          </a:p>
        </p:txBody>
      </p:sp>
      <p:sp>
        <p:nvSpPr>
          <p:cNvPr id="17" name="Shape 15"/>
          <p:cNvSpPr/>
          <p:nvPr/>
        </p:nvSpPr>
        <p:spPr>
          <a:xfrm>
            <a:off x="7991856" y="1645920"/>
            <a:ext cx="3520440" cy="2743200"/>
          </a:xfrm>
          <a:prstGeom prst="roundRect">
            <a:avLst>
              <a:gd name="adj" fmla="val 233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8" name="Shape 16"/>
          <p:cNvSpPr/>
          <p:nvPr/>
        </p:nvSpPr>
        <p:spPr>
          <a:xfrm>
            <a:off x="7991856" y="1645920"/>
            <a:ext cx="3520440" cy="109728"/>
          </a:xfrm>
          <a:prstGeom prst="rect">
            <a:avLst/>
          </a:prstGeom>
          <a:solidFill>
            <a:srgbClr val="2F5496"/>
          </a:solidFill>
          <a:ln/>
        </p:spPr>
      </p:sp>
      <p:sp>
        <p:nvSpPr>
          <p:cNvPr id="19" name="Text 17"/>
          <p:cNvSpPr/>
          <p:nvPr/>
        </p:nvSpPr>
        <p:spPr>
          <a:xfrm>
            <a:off x="8266176" y="1938528"/>
            <a:ext cx="2971800" cy="548640"/>
          </a:xfrm>
          <a:prstGeom prst="rect">
            <a:avLst/>
          </a:prstGeom>
          <a:noFill/>
          <a:ln/>
        </p:spPr>
        <p:txBody>
          <a:bodyPr wrap="square" lIns="0" tIns="0" rIns="0" bIns="0" rtlCol="0" anchor="ctr"/>
          <a:lstStyle/>
          <a:p>
            <a:pPr indent="0" marL="0">
              <a:buNone/>
            </a:pPr>
            <a:r>
              <a:rPr lang="en-US" sz="2600" b="1" dirty="0">
                <a:solidFill>
                  <a:srgbClr val="2F5496"/>
                </a:solidFill>
                <a:latin typeface="Trebuchet MS" pitchFamily="34" charset="0"/>
                <a:ea typeface="Trebuchet MS" pitchFamily="34" charset="-122"/>
                <a:cs typeface="Trebuchet MS" pitchFamily="34" charset="-120"/>
              </a:rPr>
              <a:t>POM</a:t>
            </a:r>
            <a:endParaRPr lang="en-US" sz="2600" dirty="0"/>
          </a:p>
        </p:txBody>
      </p:sp>
      <p:sp>
        <p:nvSpPr>
          <p:cNvPr id="20" name="Text 18"/>
          <p:cNvSpPr/>
          <p:nvPr/>
        </p:nvSpPr>
        <p:spPr>
          <a:xfrm>
            <a:off x="8266176" y="2505456"/>
            <a:ext cx="2971800" cy="320040"/>
          </a:xfrm>
          <a:prstGeom prst="rect">
            <a:avLst/>
          </a:prstGeom>
          <a:noFill/>
          <a:ln/>
        </p:spPr>
        <p:txBody>
          <a:bodyPr wrap="square" lIns="0" tIns="0" rIns="0" bIns="0" rtlCol="0" anchor="ctr"/>
          <a:lstStyle/>
          <a:p>
            <a:pPr indent="0" marL="0">
              <a:buNone/>
            </a:pPr>
            <a:r>
              <a:rPr lang="en-US" sz="1300" b="1" dirty="0">
                <a:solidFill>
                  <a:srgbClr val="2A2E3A"/>
                </a:solidFill>
                <a:latin typeface="Trebuchet MS" pitchFamily="34" charset="0"/>
                <a:ea typeface="Trebuchet MS" pitchFamily="34" charset="-122"/>
                <a:cs typeface="Trebuchet MS" pitchFamily="34" charset="-120"/>
              </a:rPr>
              <a:t>Page Object Model</a:t>
            </a:r>
            <a:endParaRPr lang="en-US" sz="1300" dirty="0"/>
          </a:p>
        </p:txBody>
      </p:sp>
      <p:sp>
        <p:nvSpPr>
          <p:cNvPr id="21" name="Shape 19"/>
          <p:cNvSpPr/>
          <p:nvPr/>
        </p:nvSpPr>
        <p:spPr>
          <a:xfrm>
            <a:off x="8266176" y="2907792"/>
            <a:ext cx="502920" cy="27432"/>
          </a:xfrm>
          <a:prstGeom prst="rect">
            <a:avLst/>
          </a:prstGeom>
          <a:solidFill>
            <a:srgbClr val="E8A33D"/>
          </a:solidFill>
          <a:ln/>
        </p:spPr>
      </p:sp>
      <p:sp>
        <p:nvSpPr>
          <p:cNvPr id="22" name="Text 20"/>
          <p:cNvSpPr/>
          <p:nvPr/>
        </p:nvSpPr>
        <p:spPr>
          <a:xfrm>
            <a:off x="8266176" y="3035808"/>
            <a:ext cx="2971800" cy="11887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Locators and actions live in page classes; steps stay thin and readable.</a:t>
            </a:r>
            <a:endParaRPr lang="en-US" sz="1250" dirty="0"/>
          </a:p>
        </p:txBody>
      </p:sp>
      <p:sp>
        <p:nvSpPr>
          <p:cNvPr id="23" name="Shape 21"/>
          <p:cNvSpPr/>
          <p:nvPr/>
        </p:nvSpPr>
        <p:spPr>
          <a:xfrm>
            <a:off x="548640" y="4617720"/>
            <a:ext cx="11091672" cy="1371600"/>
          </a:xfrm>
          <a:prstGeom prst="roundRect">
            <a:avLst>
              <a:gd name="adj" fmla="val 4667"/>
            </a:avLst>
          </a:prstGeom>
          <a:solidFill>
            <a:srgbClr val="1F3864"/>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4" name="Text 22"/>
          <p:cNvSpPr/>
          <p:nvPr/>
        </p:nvSpPr>
        <p:spPr>
          <a:xfrm>
            <a:off x="868680" y="4828032"/>
            <a:ext cx="1828800" cy="274320"/>
          </a:xfrm>
          <a:prstGeom prst="rect">
            <a:avLst/>
          </a:prstGeom>
          <a:noFill/>
          <a:ln/>
        </p:spPr>
        <p:txBody>
          <a:bodyPr wrap="square" rtlCol="0" anchor="ctr"/>
          <a:lstStyle/>
          <a:p>
            <a:pPr indent="0" marL="0">
              <a:buNone/>
            </a:pPr>
            <a:r>
              <a:rPr lang="en-US" sz="1100" b="1" spc="200" kern="0" dirty="0">
                <a:solidFill>
                  <a:srgbClr val="17A398"/>
                </a:solidFill>
                <a:latin typeface="Trebuchet MS" pitchFamily="34" charset="0"/>
                <a:ea typeface="Trebuchet MS" pitchFamily="34" charset="-122"/>
                <a:cs typeface="Trebuchet MS" pitchFamily="34" charset="-120"/>
              </a:rPr>
              <a:t>THE GLUE</a:t>
            </a:r>
            <a:endParaRPr lang="en-US" sz="1100" dirty="0"/>
          </a:p>
        </p:txBody>
      </p:sp>
      <p:sp>
        <p:nvSpPr>
          <p:cNvPr id="25" name="Text 23"/>
          <p:cNvSpPr/>
          <p:nvPr/>
        </p:nvSpPr>
        <p:spPr>
          <a:xfrm>
            <a:off x="868680" y="5120640"/>
            <a:ext cx="10515600" cy="73152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playwright-bdd</a:t>
            </a:r>
            <a:pPr indent="0" marL="0">
              <a:buNone/>
            </a:pPr>
            <a:r>
              <a:rPr lang="en-US" sz="1300" dirty="0">
                <a:solidFill>
                  <a:srgbClr val="C7D2E8"/>
                </a:solidFill>
                <a:latin typeface="Calibri" pitchFamily="34" charset="0"/>
                <a:ea typeface="Calibri" pitchFamily="34" charset="-122"/>
                <a:cs typeface="Calibri" pitchFamily="34" charset="-120"/>
              </a:rPr>
              <a:t>  compiles the Gherkin feature files into runnable Playwright specs, and custom </a:t>
            </a:r>
            <a:pPr indent="0" marL="0">
              <a:buNone/>
            </a:pPr>
            <a:r>
              <a:rPr lang="en-US" sz="1300" b="1" dirty="0">
                <a:solidFill>
                  <a:srgbClr val="FFFFFF"/>
                </a:solidFill>
                <a:latin typeface="Calibri" pitchFamily="34" charset="0"/>
                <a:ea typeface="Calibri" pitchFamily="34" charset="-122"/>
                <a:cs typeface="Calibri" pitchFamily="34" charset="-120"/>
              </a:rPr>
              <a:t>fixtures</a:t>
            </a:r>
            <a:pPr indent="0" marL="0">
              <a:buNone/>
            </a:pPr>
            <a:r>
              <a:rPr lang="en-US" sz="1300" dirty="0">
                <a:solidFill>
                  <a:srgbClr val="C7D2E8"/>
                </a:solidFill>
                <a:latin typeface="Calibri" pitchFamily="34" charset="0"/>
                <a:ea typeface="Calibri" pitchFamily="34" charset="-122"/>
                <a:cs typeface="Calibri" pitchFamily="34" charset="-120"/>
              </a:rPr>
              <a:t> inject ready-to-use page objects into every step - the bridge between BDD and POM.</a:t>
            </a:r>
            <a:endParaRPr lang="en-US" sz="1300" dirty="0"/>
          </a:p>
        </p:txBody>
      </p:sp>
      <p:sp>
        <p:nvSpPr>
          <p:cNvPr id="26" name="Text 24"/>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27" name="Text 25"/>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ARCHITECTURE</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A clean, layered framework</a:t>
            </a:r>
            <a:endParaRPr lang="en-US" sz="2900" dirty="0"/>
          </a:p>
        </p:txBody>
      </p:sp>
      <p:sp>
        <p:nvSpPr>
          <p:cNvPr id="5" name="Shape 3"/>
          <p:cNvSpPr/>
          <p:nvPr/>
        </p:nvSpPr>
        <p:spPr>
          <a:xfrm>
            <a:off x="548640" y="1783080"/>
            <a:ext cx="2487168" cy="2103120"/>
          </a:xfrm>
          <a:prstGeom prst="roundRect">
            <a:avLst>
              <a:gd name="adj" fmla="val 304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Text 4"/>
          <p:cNvSpPr/>
          <p:nvPr/>
        </p:nvSpPr>
        <p:spPr>
          <a:xfrm>
            <a:off x="548640" y="1938528"/>
            <a:ext cx="2487168" cy="274320"/>
          </a:xfrm>
          <a:prstGeom prst="rect">
            <a:avLst/>
          </a:prstGeom>
          <a:noFill/>
          <a:ln/>
        </p:spPr>
        <p:txBody>
          <a:bodyPr wrap="square" rtlCol="0" anchor="ctr"/>
          <a:lstStyle/>
          <a:p>
            <a:pPr algn="ctr" indent="0" marL="0">
              <a:buNone/>
            </a:pPr>
            <a:r>
              <a:rPr lang="en-US" sz="1000" b="1" spc="200" kern="0" dirty="0">
                <a:solidFill>
                  <a:srgbClr val="17A398"/>
                </a:solidFill>
                <a:latin typeface="Trebuchet MS" pitchFamily="34" charset="0"/>
                <a:ea typeface="Trebuchet MS" pitchFamily="34" charset="-122"/>
                <a:cs typeface="Trebuchet MS" pitchFamily="34" charset="-120"/>
              </a:rPr>
              <a:t>BDD</a:t>
            </a:r>
            <a:endParaRPr lang="en-US" sz="1000" dirty="0"/>
          </a:p>
        </p:txBody>
      </p:sp>
      <p:sp>
        <p:nvSpPr>
          <p:cNvPr id="7" name="Text 5"/>
          <p:cNvSpPr/>
          <p:nvPr/>
        </p:nvSpPr>
        <p:spPr>
          <a:xfrm>
            <a:off x="658368" y="2212848"/>
            <a:ext cx="2267712" cy="457200"/>
          </a:xfrm>
          <a:prstGeom prst="rect">
            <a:avLst/>
          </a:prstGeom>
          <a:noFill/>
          <a:ln/>
        </p:spPr>
        <p:txBody>
          <a:bodyPr wrap="square" lIns="0" tIns="0" rIns="0" bIns="0" rtlCol="0" anchor="ctr"/>
          <a:lstStyle/>
          <a:p>
            <a:pPr algn="ctr" indent="0" marL="0">
              <a:buNone/>
            </a:pPr>
            <a:r>
              <a:rPr lang="en-US" sz="1650" b="1" dirty="0">
                <a:solidFill>
                  <a:srgbClr val="1F3864"/>
                </a:solidFill>
                <a:latin typeface="Trebuchet MS" pitchFamily="34" charset="0"/>
                <a:ea typeface="Trebuchet MS" pitchFamily="34" charset="-122"/>
                <a:cs typeface="Trebuchet MS" pitchFamily="34" charset="-120"/>
              </a:rPr>
              <a:t>.feature files</a:t>
            </a:r>
            <a:endParaRPr lang="en-US" sz="1650" dirty="0"/>
          </a:p>
        </p:txBody>
      </p:sp>
      <p:sp>
        <p:nvSpPr>
          <p:cNvPr id="8" name="Text 6"/>
          <p:cNvSpPr/>
          <p:nvPr/>
        </p:nvSpPr>
        <p:spPr>
          <a:xfrm>
            <a:off x="658368" y="2724912"/>
            <a:ext cx="2267712" cy="91440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6 Gherkin feature</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files - the scenarios</a:t>
            </a:r>
            <a:endParaRPr lang="en-US" sz="1150" dirty="0"/>
          </a:p>
        </p:txBody>
      </p:sp>
      <p:sp>
        <p:nvSpPr>
          <p:cNvPr id="9" name="Text 7"/>
          <p:cNvSpPr/>
          <p:nvPr/>
        </p:nvSpPr>
        <p:spPr>
          <a:xfrm>
            <a:off x="2999232" y="2377440"/>
            <a:ext cx="457200" cy="548640"/>
          </a:xfrm>
          <a:prstGeom prst="rect">
            <a:avLst/>
          </a:prstGeom>
          <a:noFill/>
          <a:ln/>
        </p:spPr>
        <p:txBody>
          <a:bodyPr wrap="square" lIns="0" tIns="0" rIns="0" bIns="0" rtlCol="0" anchor="ctr"/>
          <a:lstStyle/>
          <a:p>
            <a:pPr algn="ctr" indent="0" marL="0">
              <a:buNone/>
            </a:pPr>
            <a:r>
              <a:rPr lang="en-US" sz="2600" b="1" dirty="0">
                <a:solidFill>
                  <a:srgbClr val="E8A33D"/>
                </a:solidFill>
                <a:latin typeface="Trebuchet MS" pitchFamily="34" charset="0"/>
                <a:ea typeface="Trebuchet MS" pitchFamily="34" charset="-122"/>
                <a:cs typeface="Trebuchet MS" pitchFamily="34" charset="-120"/>
              </a:rPr>
              <a:t>&gt;</a:t>
            </a:r>
            <a:endParaRPr lang="en-US" sz="2600" dirty="0"/>
          </a:p>
        </p:txBody>
      </p:sp>
      <p:sp>
        <p:nvSpPr>
          <p:cNvPr id="10" name="Shape 8"/>
          <p:cNvSpPr/>
          <p:nvPr/>
        </p:nvSpPr>
        <p:spPr>
          <a:xfrm>
            <a:off x="3456432" y="1783080"/>
            <a:ext cx="2487168" cy="2103120"/>
          </a:xfrm>
          <a:prstGeom prst="roundRect">
            <a:avLst>
              <a:gd name="adj" fmla="val 304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1" name="Text 9"/>
          <p:cNvSpPr/>
          <p:nvPr/>
        </p:nvSpPr>
        <p:spPr>
          <a:xfrm>
            <a:off x="3456432" y="1938528"/>
            <a:ext cx="2487168" cy="274320"/>
          </a:xfrm>
          <a:prstGeom prst="rect">
            <a:avLst/>
          </a:prstGeom>
          <a:noFill/>
          <a:ln/>
        </p:spPr>
        <p:txBody>
          <a:bodyPr wrap="square" rtlCol="0" anchor="ctr"/>
          <a:lstStyle/>
          <a:p>
            <a:pPr algn="ctr" indent="0" marL="0">
              <a:buNone/>
            </a:pPr>
            <a:r>
              <a:rPr lang="en-US" sz="1000" b="1" spc="200" kern="0" dirty="0">
                <a:solidFill>
                  <a:srgbClr val="2F5496"/>
                </a:solidFill>
                <a:latin typeface="Trebuchet MS" pitchFamily="34" charset="0"/>
                <a:ea typeface="Trebuchet MS" pitchFamily="34" charset="-122"/>
                <a:cs typeface="Trebuchet MS" pitchFamily="34" charset="-120"/>
              </a:rPr>
              <a:t>GLUE</a:t>
            </a:r>
            <a:endParaRPr lang="en-US" sz="1000" dirty="0"/>
          </a:p>
        </p:txBody>
      </p:sp>
      <p:sp>
        <p:nvSpPr>
          <p:cNvPr id="12" name="Text 10"/>
          <p:cNvSpPr/>
          <p:nvPr/>
        </p:nvSpPr>
        <p:spPr>
          <a:xfrm>
            <a:off x="3566160" y="2212848"/>
            <a:ext cx="2267712" cy="457200"/>
          </a:xfrm>
          <a:prstGeom prst="rect">
            <a:avLst/>
          </a:prstGeom>
          <a:noFill/>
          <a:ln/>
        </p:spPr>
        <p:txBody>
          <a:bodyPr wrap="square" lIns="0" tIns="0" rIns="0" bIns="0" rtlCol="0" anchor="ctr"/>
          <a:lstStyle/>
          <a:p>
            <a:pPr algn="ctr" indent="0" marL="0">
              <a:buNone/>
            </a:pPr>
            <a:r>
              <a:rPr lang="en-US" sz="1650" b="1" dirty="0">
                <a:solidFill>
                  <a:srgbClr val="1F3864"/>
                </a:solidFill>
                <a:latin typeface="Trebuchet MS" pitchFamily="34" charset="0"/>
                <a:ea typeface="Trebuchet MS" pitchFamily="34" charset="-122"/>
                <a:cs typeface="Trebuchet MS" pitchFamily="34" charset="-120"/>
              </a:rPr>
              <a:t>Step definitions</a:t>
            </a:r>
            <a:endParaRPr lang="en-US" sz="1650" dirty="0"/>
          </a:p>
        </p:txBody>
      </p:sp>
      <p:sp>
        <p:nvSpPr>
          <p:cNvPr id="13" name="Text 11"/>
          <p:cNvSpPr/>
          <p:nvPr/>
        </p:nvSpPr>
        <p:spPr>
          <a:xfrm>
            <a:off x="3566160" y="2724912"/>
            <a:ext cx="2267712" cy="91440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6 step files turn</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Gherkin into actions</a:t>
            </a:r>
            <a:endParaRPr lang="en-US" sz="1150" dirty="0"/>
          </a:p>
        </p:txBody>
      </p:sp>
      <p:sp>
        <p:nvSpPr>
          <p:cNvPr id="14" name="Text 12"/>
          <p:cNvSpPr/>
          <p:nvPr/>
        </p:nvSpPr>
        <p:spPr>
          <a:xfrm>
            <a:off x="5907024" y="2377440"/>
            <a:ext cx="457200" cy="548640"/>
          </a:xfrm>
          <a:prstGeom prst="rect">
            <a:avLst/>
          </a:prstGeom>
          <a:noFill/>
          <a:ln/>
        </p:spPr>
        <p:txBody>
          <a:bodyPr wrap="square" lIns="0" tIns="0" rIns="0" bIns="0" rtlCol="0" anchor="ctr"/>
          <a:lstStyle/>
          <a:p>
            <a:pPr algn="ctr" indent="0" marL="0">
              <a:buNone/>
            </a:pPr>
            <a:r>
              <a:rPr lang="en-US" sz="2600" b="1" dirty="0">
                <a:solidFill>
                  <a:srgbClr val="E8A33D"/>
                </a:solidFill>
                <a:latin typeface="Trebuchet MS" pitchFamily="34" charset="0"/>
                <a:ea typeface="Trebuchet MS" pitchFamily="34" charset="-122"/>
                <a:cs typeface="Trebuchet MS" pitchFamily="34" charset="-120"/>
              </a:rPr>
              <a:t>&gt;</a:t>
            </a:r>
            <a:endParaRPr lang="en-US" sz="2600" dirty="0"/>
          </a:p>
        </p:txBody>
      </p:sp>
      <p:sp>
        <p:nvSpPr>
          <p:cNvPr id="15" name="Shape 13"/>
          <p:cNvSpPr/>
          <p:nvPr/>
        </p:nvSpPr>
        <p:spPr>
          <a:xfrm>
            <a:off x="6364224" y="1783080"/>
            <a:ext cx="2487168" cy="2103120"/>
          </a:xfrm>
          <a:prstGeom prst="roundRect">
            <a:avLst>
              <a:gd name="adj" fmla="val 304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6" name="Text 14"/>
          <p:cNvSpPr/>
          <p:nvPr/>
        </p:nvSpPr>
        <p:spPr>
          <a:xfrm>
            <a:off x="6364224" y="1938528"/>
            <a:ext cx="2487168" cy="274320"/>
          </a:xfrm>
          <a:prstGeom prst="rect">
            <a:avLst/>
          </a:prstGeom>
          <a:noFill/>
          <a:ln/>
        </p:spPr>
        <p:txBody>
          <a:bodyPr wrap="square" rtlCol="0" anchor="ctr"/>
          <a:lstStyle/>
          <a:p>
            <a:pPr algn="ctr" indent="0" marL="0">
              <a:buNone/>
            </a:pPr>
            <a:r>
              <a:rPr lang="en-US" sz="1000" b="1" spc="200" kern="0" dirty="0">
                <a:solidFill>
                  <a:srgbClr val="1F3864"/>
                </a:solidFill>
                <a:latin typeface="Trebuchet MS" pitchFamily="34" charset="0"/>
                <a:ea typeface="Trebuchet MS" pitchFamily="34" charset="-122"/>
                <a:cs typeface="Trebuchet MS" pitchFamily="34" charset="-120"/>
              </a:rPr>
              <a:t>POM</a:t>
            </a:r>
            <a:endParaRPr lang="en-US" sz="1000" dirty="0"/>
          </a:p>
        </p:txBody>
      </p:sp>
      <p:sp>
        <p:nvSpPr>
          <p:cNvPr id="17" name="Text 15"/>
          <p:cNvSpPr/>
          <p:nvPr/>
        </p:nvSpPr>
        <p:spPr>
          <a:xfrm>
            <a:off x="6473952" y="2212848"/>
            <a:ext cx="2267712" cy="457200"/>
          </a:xfrm>
          <a:prstGeom prst="rect">
            <a:avLst/>
          </a:prstGeom>
          <a:noFill/>
          <a:ln/>
        </p:spPr>
        <p:txBody>
          <a:bodyPr wrap="square" lIns="0" tIns="0" rIns="0" bIns="0" rtlCol="0" anchor="ctr"/>
          <a:lstStyle/>
          <a:p>
            <a:pPr algn="ctr" indent="0" marL="0">
              <a:buNone/>
            </a:pPr>
            <a:r>
              <a:rPr lang="en-US" sz="1650" b="1" dirty="0">
                <a:solidFill>
                  <a:srgbClr val="1F3864"/>
                </a:solidFill>
                <a:latin typeface="Trebuchet MS" pitchFamily="34" charset="0"/>
                <a:ea typeface="Trebuchet MS" pitchFamily="34" charset="-122"/>
                <a:cs typeface="Trebuchet MS" pitchFamily="34" charset="-120"/>
              </a:rPr>
              <a:t>Page Objects</a:t>
            </a:r>
            <a:endParaRPr lang="en-US" sz="1650" dirty="0"/>
          </a:p>
        </p:txBody>
      </p:sp>
      <p:sp>
        <p:nvSpPr>
          <p:cNvPr id="18" name="Text 16"/>
          <p:cNvSpPr/>
          <p:nvPr/>
        </p:nvSpPr>
        <p:spPr>
          <a:xfrm>
            <a:off x="6473952" y="2724912"/>
            <a:ext cx="2267712" cy="91440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5 page classes hold</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locators &amp; actions</a:t>
            </a:r>
            <a:endParaRPr lang="en-US" sz="1150" dirty="0"/>
          </a:p>
        </p:txBody>
      </p:sp>
      <p:sp>
        <p:nvSpPr>
          <p:cNvPr id="19" name="Text 17"/>
          <p:cNvSpPr/>
          <p:nvPr/>
        </p:nvSpPr>
        <p:spPr>
          <a:xfrm>
            <a:off x="8814816" y="2377440"/>
            <a:ext cx="457200" cy="548640"/>
          </a:xfrm>
          <a:prstGeom prst="rect">
            <a:avLst/>
          </a:prstGeom>
          <a:noFill/>
          <a:ln/>
        </p:spPr>
        <p:txBody>
          <a:bodyPr wrap="square" lIns="0" tIns="0" rIns="0" bIns="0" rtlCol="0" anchor="ctr"/>
          <a:lstStyle/>
          <a:p>
            <a:pPr algn="ctr" indent="0" marL="0">
              <a:buNone/>
            </a:pPr>
            <a:r>
              <a:rPr lang="en-US" sz="2600" b="1" dirty="0">
                <a:solidFill>
                  <a:srgbClr val="E8A33D"/>
                </a:solidFill>
                <a:latin typeface="Trebuchet MS" pitchFamily="34" charset="0"/>
                <a:ea typeface="Trebuchet MS" pitchFamily="34" charset="-122"/>
                <a:cs typeface="Trebuchet MS" pitchFamily="34" charset="-120"/>
              </a:rPr>
              <a:t>&gt;</a:t>
            </a:r>
            <a:endParaRPr lang="en-US" sz="2600" dirty="0"/>
          </a:p>
        </p:txBody>
      </p:sp>
      <p:sp>
        <p:nvSpPr>
          <p:cNvPr id="20" name="Shape 18"/>
          <p:cNvSpPr/>
          <p:nvPr/>
        </p:nvSpPr>
        <p:spPr>
          <a:xfrm>
            <a:off x="9272016" y="1783080"/>
            <a:ext cx="2487168" cy="2103120"/>
          </a:xfrm>
          <a:prstGeom prst="roundRect">
            <a:avLst>
              <a:gd name="adj" fmla="val 304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1" name="Text 19"/>
          <p:cNvSpPr/>
          <p:nvPr/>
        </p:nvSpPr>
        <p:spPr>
          <a:xfrm>
            <a:off x="9272016" y="1938528"/>
            <a:ext cx="2487168" cy="274320"/>
          </a:xfrm>
          <a:prstGeom prst="rect">
            <a:avLst/>
          </a:prstGeom>
          <a:noFill/>
          <a:ln/>
        </p:spPr>
        <p:txBody>
          <a:bodyPr wrap="square" rtlCol="0" anchor="ctr"/>
          <a:lstStyle/>
          <a:p>
            <a:pPr algn="ctr" indent="0" marL="0">
              <a:buNone/>
            </a:pPr>
            <a:r>
              <a:rPr lang="en-US" sz="1000" b="1" spc="200" kern="0" dirty="0">
                <a:solidFill>
                  <a:srgbClr val="E8A33D"/>
                </a:solidFill>
                <a:latin typeface="Trebuchet MS" pitchFamily="34" charset="0"/>
                <a:ea typeface="Trebuchet MS" pitchFamily="34" charset="-122"/>
                <a:cs typeface="Trebuchet MS" pitchFamily="34" charset="-120"/>
              </a:rPr>
              <a:t>APP</a:t>
            </a:r>
            <a:endParaRPr lang="en-US" sz="1000" dirty="0"/>
          </a:p>
        </p:txBody>
      </p:sp>
      <p:sp>
        <p:nvSpPr>
          <p:cNvPr id="22" name="Text 20"/>
          <p:cNvSpPr/>
          <p:nvPr/>
        </p:nvSpPr>
        <p:spPr>
          <a:xfrm>
            <a:off x="9381744" y="2212848"/>
            <a:ext cx="2267712" cy="457200"/>
          </a:xfrm>
          <a:prstGeom prst="rect">
            <a:avLst/>
          </a:prstGeom>
          <a:noFill/>
          <a:ln/>
        </p:spPr>
        <p:txBody>
          <a:bodyPr wrap="square" lIns="0" tIns="0" rIns="0" bIns="0" rtlCol="0" anchor="ctr"/>
          <a:lstStyle/>
          <a:p>
            <a:pPr algn="ctr" indent="0" marL="0">
              <a:buNone/>
            </a:pPr>
            <a:r>
              <a:rPr lang="en-US" sz="1650" b="1" dirty="0">
                <a:solidFill>
                  <a:srgbClr val="1F3864"/>
                </a:solidFill>
                <a:latin typeface="Trebuchet MS" pitchFamily="34" charset="0"/>
                <a:ea typeface="Trebuchet MS" pitchFamily="34" charset="-122"/>
                <a:cs typeface="Trebuchet MS" pitchFamily="34" charset="-120"/>
              </a:rPr>
              <a:t>ParaBank</a:t>
            </a:r>
            <a:endParaRPr lang="en-US" sz="1650" dirty="0"/>
          </a:p>
        </p:txBody>
      </p:sp>
      <p:sp>
        <p:nvSpPr>
          <p:cNvPr id="23" name="Text 21"/>
          <p:cNvSpPr/>
          <p:nvPr/>
        </p:nvSpPr>
        <p:spPr>
          <a:xfrm>
            <a:off x="9381744" y="2724912"/>
            <a:ext cx="2267712" cy="914400"/>
          </a:xfrm>
          <a:prstGeom prst="rect">
            <a:avLst/>
          </a:prstGeom>
          <a:noFill/>
          <a:ln/>
        </p:spPr>
        <p:txBody>
          <a:bodyPr wrap="square" lIns="0" tIns="0" rIns="0" bIns="0"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The live application</a:t>
            </a:r>
            <a:endParaRPr lang="en-US" sz="1150" dirty="0"/>
          </a:p>
          <a:p>
            <a:pPr algn="ctr" indent="0" marL="0">
              <a:buNone/>
            </a:pPr>
            <a:r>
              <a:rPr lang="en-US" sz="1150" dirty="0">
                <a:solidFill>
                  <a:srgbClr val="6B7280"/>
                </a:solidFill>
                <a:latin typeface="Calibri" pitchFamily="34" charset="0"/>
                <a:ea typeface="Calibri" pitchFamily="34" charset="-122"/>
                <a:cs typeface="Calibri" pitchFamily="34" charset="-120"/>
              </a:rPr>
              <a:t>under test</a:t>
            </a:r>
            <a:endParaRPr lang="en-US" sz="1150" dirty="0"/>
          </a:p>
        </p:txBody>
      </p:sp>
      <p:sp>
        <p:nvSpPr>
          <p:cNvPr id="24" name="Text 22"/>
          <p:cNvSpPr/>
          <p:nvPr/>
        </p:nvSpPr>
        <p:spPr>
          <a:xfrm>
            <a:off x="566928" y="4114800"/>
            <a:ext cx="5486400" cy="274320"/>
          </a:xfrm>
          <a:prstGeom prst="rect">
            <a:avLst/>
          </a:prstGeom>
          <a:noFill/>
          <a:ln/>
        </p:spPr>
        <p:txBody>
          <a:bodyPr wrap="square" rtlCol="0" anchor="ctr"/>
          <a:lstStyle/>
          <a:p>
            <a:pPr indent="0" marL="0">
              <a:buNone/>
            </a:pPr>
            <a:r>
              <a:rPr lang="en-US" sz="1100" b="1" spc="200" kern="0" dirty="0">
                <a:solidFill>
                  <a:srgbClr val="17A398"/>
                </a:solidFill>
                <a:latin typeface="Trebuchet MS" pitchFamily="34" charset="0"/>
                <a:ea typeface="Trebuchet MS" pitchFamily="34" charset="-122"/>
                <a:cs typeface="Trebuchet MS" pitchFamily="34" charset="-120"/>
              </a:rPr>
              <a:t>WHAT THIS GIVES US</a:t>
            </a:r>
            <a:endParaRPr lang="en-US" sz="1100" dirty="0"/>
          </a:p>
        </p:txBody>
      </p:sp>
      <p:sp>
        <p:nvSpPr>
          <p:cNvPr id="25" name="Shape 23"/>
          <p:cNvSpPr/>
          <p:nvPr/>
        </p:nvSpPr>
        <p:spPr>
          <a:xfrm>
            <a:off x="548640" y="4434840"/>
            <a:ext cx="5349240" cy="621792"/>
          </a:xfrm>
          <a:prstGeom prst="roundRect">
            <a:avLst>
              <a:gd name="adj" fmla="val 1029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6" name="Shape 24"/>
          <p:cNvSpPr/>
          <p:nvPr/>
        </p:nvSpPr>
        <p:spPr>
          <a:xfrm>
            <a:off x="548640" y="4434840"/>
            <a:ext cx="91440" cy="621792"/>
          </a:xfrm>
          <a:prstGeom prst="rect">
            <a:avLst/>
          </a:prstGeom>
          <a:solidFill>
            <a:srgbClr val="17A398"/>
          </a:solidFill>
          <a:ln/>
        </p:spPr>
      </p:sp>
      <p:sp>
        <p:nvSpPr>
          <p:cNvPr id="27" name="Text 25"/>
          <p:cNvSpPr/>
          <p:nvPr/>
        </p:nvSpPr>
        <p:spPr>
          <a:xfrm>
            <a:off x="804672" y="4434840"/>
            <a:ext cx="1554480" cy="621792"/>
          </a:xfrm>
          <a:prstGeom prst="rect">
            <a:avLst/>
          </a:prstGeom>
          <a:noFill/>
          <a:ln/>
        </p:spPr>
        <p:txBody>
          <a:bodyPr wrap="square" lIns="0" tIns="0" rIns="0" bIns="0" rtlCol="0" anchor="ctr"/>
          <a:lstStyle/>
          <a:p>
            <a:pPr indent="0" marL="0">
              <a:buNone/>
            </a:pPr>
            <a:r>
              <a:rPr lang="en-US" sz="1350" b="1" dirty="0">
                <a:solidFill>
                  <a:srgbClr val="1F3864"/>
                </a:solidFill>
                <a:latin typeface="Trebuchet MS" pitchFamily="34" charset="0"/>
                <a:ea typeface="Trebuchet MS" pitchFamily="34" charset="-122"/>
                <a:cs typeface="Trebuchet MS" pitchFamily="34" charset="-120"/>
              </a:rPr>
              <a:t>Readable</a:t>
            </a:r>
            <a:endParaRPr lang="en-US" sz="1350" dirty="0"/>
          </a:p>
        </p:txBody>
      </p:sp>
      <p:sp>
        <p:nvSpPr>
          <p:cNvPr id="28" name="Text 26"/>
          <p:cNvSpPr/>
          <p:nvPr/>
        </p:nvSpPr>
        <p:spPr>
          <a:xfrm>
            <a:off x="2331720" y="4434840"/>
            <a:ext cx="3474720" cy="62179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Scenarios are business language, not code.</a:t>
            </a:r>
            <a:endParaRPr lang="en-US" sz="1150" dirty="0"/>
          </a:p>
        </p:txBody>
      </p:sp>
      <p:sp>
        <p:nvSpPr>
          <p:cNvPr id="29" name="Shape 27"/>
          <p:cNvSpPr/>
          <p:nvPr/>
        </p:nvSpPr>
        <p:spPr>
          <a:xfrm>
            <a:off x="6099048" y="4434840"/>
            <a:ext cx="5349240" cy="621792"/>
          </a:xfrm>
          <a:prstGeom prst="roundRect">
            <a:avLst>
              <a:gd name="adj" fmla="val 1029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0" name="Shape 28"/>
          <p:cNvSpPr/>
          <p:nvPr/>
        </p:nvSpPr>
        <p:spPr>
          <a:xfrm>
            <a:off x="6099048" y="4434840"/>
            <a:ext cx="91440" cy="621792"/>
          </a:xfrm>
          <a:prstGeom prst="rect">
            <a:avLst/>
          </a:prstGeom>
          <a:solidFill>
            <a:srgbClr val="17A398"/>
          </a:solidFill>
          <a:ln/>
        </p:spPr>
      </p:sp>
      <p:sp>
        <p:nvSpPr>
          <p:cNvPr id="31" name="Text 29"/>
          <p:cNvSpPr/>
          <p:nvPr/>
        </p:nvSpPr>
        <p:spPr>
          <a:xfrm>
            <a:off x="6355080" y="4434840"/>
            <a:ext cx="1554480" cy="621792"/>
          </a:xfrm>
          <a:prstGeom prst="rect">
            <a:avLst/>
          </a:prstGeom>
          <a:noFill/>
          <a:ln/>
        </p:spPr>
        <p:txBody>
          <a:bodyPr wrap="square" lIns="0" tIns="0" rIns="0" bIns="0" rtlCol="0" anchor="ctr"/>
          <a:lstStyle/>
          <a:p>
            <a:pPr indent="0" marL="0">
              <a:buNone/>
            </a:pPr>
            <a:r>
              <a:rPr lang="en-US" sz="1350" b="1" dirty="0">
                <a:solidFill>
                  <a:srgbClr val="1F3864"/>
                </a:solidFill>
                <a:latin typeface="Trebuchet MS" pitchFamily="34" charset="0"/>
                <a:ea typeface="Trebuchet MS" pitchFamily="34" charset="-122"/>
                <a:cs typeface="Trebuchet MS" pitchFamily="34" charset="-120"/>
              </a:rPr>
              <a:t>Maintainable</a:t>
            </a:r>
            <a:endParaRPr lang="en-US" sz="1350" dirty="0"/>
          </a:p>
        </p:txBody>
      </p:sp>
      <p:sp>
        <p:nvSpPr>
          <p:cNvPr id="32" name="Text 30"/>
          <p:cNvSpPr/>
          <p:nvPr/>
        </p:nvSpPr>
        <p:spPr>
          <a:xfrm>
            <a:off x="7882128" y="4434840"/>
            <a:ext cx="3474720" cy="62179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 UI change is fixed in one page object.</a:t>
            </a:r>
            <a:endParaRPr lang="en-US" sz="1150" dirty="0"/>
          </a:p>
        </p:txBody>
      </p:sp>
      <p:sp>
        <p:nvSpPr>
          <p:cNvPr id="33" name="Shape 31"/>
          <p:cNvSpPr/>
          <p:nvPr/>
        </p:nvSpPr>
        <p:spPr>
          <a:xfrm>
            <a:off x="548640" y="5184648"/>
            <a:ext cx="5349240" cy="621792"/>
          </a:xfrm>
          <a:prstGeom prst="roundRect">
            <a:avLst>
              <a:gd name="adj" fmla="val 1029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4" name="Shape 32"/>
          <p:cNvSpPr/>
          <p:nvPr/>
        </p:nvSpPr>
        <p:spPr>
          <a:xfrm>
            <a:off x="548640" y="5184648"/>
            <a:ext cx="91440" cy="621792"/>
          </a:xfrm>
          <a:prstGeom prst="rect">
            <a:avLst/>
          </a:prstGeom>
          <a:solidFill>
            <a:srgbClr val="17A398"/>
          </a:solidFill>
          <a:ln/>
        </p:spPr>
      </p:sp>
      <p:sp>
        <p:nvSpPr>
          <p:cNvPr id="35" name="Text 33"/>
          <p:cNvSpPr/>
          <p:nvPr/>
        </p:nvSpPr>
        <p:spPr>
          <a:xfrm>
            <a:off x="804672" y="5184648"/>
            <a:ext cx="1554480" cy="621792"/>
          </a:xfrm>
          <a:prstGeom prst="rect">
            <a:avLst/>
          </a:prstGeom>
          <a:noFill/>
          <a:ln/>
        </p:spPr>
        <p:txBody>
          <a:bodyPr wrap="square" lIns="0" tIns="0" rIns="0" bIns="0" rtlCol="0" anchor="ctr"/>
          <a:lstStyle/>
          <a:p>
            <a:pPr indent="0" marL="0">
              <a:buNone/>
            </a:pPr>
            <a:r>
              <a:rPr lang="en-US" sz="1350" b="1" dirty="0">
                <a:solidFill>
                  <a:srgbClr val="1F3864"/>
                </a:solidFill>
                <a:latin typeface="Trebuchet MS" pitchFamily="34" charset="0"/>
                <a:ea typeface="Trebuchet MS" pitchFamily="34" charset="-122"/>
                <a:cs typeface="Trebuchet MS" pitchFamily="34" charset="-120"/>
              </a:rPr>
              <a:t>Repeatable</a:t>
            </a:r>
            <a:endParaRPr lang="en-US" sz="1350" dirty="0"/>
          </a:p>
        </p:txBody>
      </p:sp>
      <p:sp>
        <p:nvSpPr>
          <p:cNvPr id="36" name="Text 34"/>
          <p:cNvSpPr/>
          <p:nvPr/>
        </p:nvSpPr>
        <p:spPr>
          <a:xfrm>
            <a:off x="2331720" y="5184648"/>
            <a:ext cx="3474720" cy="62179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A data factory makes every run independent.</a:t>
            </a:r>
            <a:endParaRPr lang="en-US" sz="1150" dirty="0"/>
          </a:p>
        </p:txBody>
      </p:sp>
      <p:sp>
        <p:nvSpPr>
          <p:cNvPr id="37" name="Shape 35"/>
          <p:cNvSpPr/>
          <p:nvPr/>
        </p:nvSpPr>
        <p:spPr>
          <a:xfrm>
            <a:off x="6099048" y="5184648"/>
            <a:ext cx="5349240" cy="621792"/>
          </a:xfrm>
          <a:prstGeom prst="roundRect">
            <a:avLst>
              <a:gd name="adj" fmla="val 10294"/>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8" name="Shape 36"/>
          <p:cNvSpPr/>
          <p:nvPr/>
        </p:nvSpPr>
        <p:spPr>
          <a:xfrm>
            <a:off x="6099048" y="5184648"/>
            <a:ext cx="91440" cy="621792"/>
          </a:xfrm>
          <a:prstGeom prst="rect">
            <a:avLst/>
          </a:prstGeom>
          <a:solidFill>
            <a:srgbClr val="17A398"/>
          </a:solidFill>
          <a:ln/>
        </p:spPr>
      </p:sp>
      <p:sp>
        <p:nvSpPr>
          <p:cNvPr id="39" name="Text 37"/>
          <p:cNvSpPr/>
          <p:nvPr/>
        </p:nvSpPr>
        <p:spPr>
          <a:xfrm>
            <a:off x="6355080" y="5184648"/>
            <a:ext cx="1554480" cy="621792"/>
          </a:xfrm>
          <a:prstGeom prst="rect">
            <a:avLst/>
          </a:prstGeom>
          <a:noFill/>
          <a:ln/>
        </p:spPr>
        <p:txBody>
          <a:bodyPr wrap="square" lIns="0" tIns="0" rIns="0" bIns="0" rtlCol="0" anchor="ctr"/>
          <a:lstStyle/>
          <a:p>
            <a:pPr indent="0" marL="0">
              <a:buNone/>
            </a:pPr>
            <a:r>
              <a:rPr lang="en-US" sz="1350" b="1" dirty="0">
                <a:solidFill>
                  <a:srgbClr val="1F3864"/>
                </a:solidFill>
                <a:latin typeface="Trebuchet MS" pitchFamily="34" charset="0"/>
                <a:ea typeface="Trebuchet MS" pitchFamily="34" charset="-122"/>
                <a:cs typeface="Trebuchet MS" pitchFamily="34" charset="-120"/>
              </a:rPr>
              <a:t>Reusable</a:t>
            </a:r>
            <a:endParaRPr lang="en-US" sz="1350" dirty="0"/>
          </a:p>
        </p:txBody>
      </p:sp>
      <p:sp>
        <p:nvSpPr>
          <p:cNvPr id="40" name="Text 38"/>
          <p:cNvSpPr/>
          <p:nvPr/>
        </p:nvSpPr>
        <p:spPr>
          <a:xfrm>
            <a:off x="7882128" y="5184648"/>
            <a:ext cx="3474720" cy="621792"/>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Steps are shared across all six feature files.</a:t>
            </a:r>
            <a:endParaRPr lang="en-US" sz="1150" dirty="0"/>
          </a:p>
        </p:txBody>
      </p:sp>
      <p:sp>
        <p:nvSpPr>
          <p:cNvPr id="41" name="Text 39"/>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42" name="Text 40"/>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TEST COVERAGE</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33 scenarios across five test types</a:t>
            </a:r>
            <a:endParaRPr lang="en-US" sz="2900" dirty="0"/>
          </a:p>
        </p:txBody>
      </p:sp>
      <p:sp>
        <p:nvSpPr>
          <p:cNvPr id="5" name="Shape 3"/>
          <p:cNvSpPr/>
          <p:nvPr/>
        </p:nvSpPr>
        <p:spPr>
          <a:xfrm>
            <a:off x="548640" y="1737360"/>
            <a:ext cx="2834640" cy="4206240"/>
          </a:xfrm>
          <a:prstGeom prst="roundRect">
            <a:avLst>
              <a:gd name="adj" fmla="val 2258"/>
            </a:avLst>
          </a:prstGeom>
          <a:solidFill>
            <a:srgbClr val="1F3864"/>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Text 4"/>
          <p:cNvSpPr/>
          <p:nvPr/>
        </p:nvSpPr>
        <p:spPr>
          <a:xfrm>
            <a:off x="548640" y="2148840"/>
            <a:ext cx="2834640" cy="1280160"/>
          </a:xfrm>
          <a:prstGeom prst="rect">
            <a:avLst/>
          </a:prstGeom>
          <a:noFill/>
          <a:ln/>
        </p:spPr>
        <p:txBody>
          <a:bodyPr wrap="square" lIns="0" tIns="0" rIns="0" bIns="0" rtlCol="0" anchor="ctr"/>
          <a:lstStyle/>
          <a:p>
            <a:pPr algn="ctr" indent="0" marL="0">
              <a:buNone/>
            </a:pPr>
            <a:r>
              <a:rPr lang="en-US" sz="8000" b="1" dirty="0">
                <a:solidFill>
                  <a:srgbClr val="FFFFFF"/>
                </a:solidFill>
                <a:latin typeface="Trebuchet MS" pitchFamily="34" charset="0"/>
                <a:ea typeface="Trebuchet MS" pitchFamily="34" charset="-122"/>
                <a:cs typeface="Trebuchet MS" pitchFamily="34" charset="-120"/>
              </a:rPr>
              <a:t>33</a:t>
            </a:r>
            <a:endParaRPr lang="en-US" sz="8000" dirty="0"/>
          </a:p>
        </p:txBody>
      </p:sp>
      <p:sp>
        <p:nvSpPr>
          <p:cNvPr id="7" name="Text 5"/>
          <p:cNvSpPr/>
          <p:nvPr/>
        </p:nvSpPr>
        <p:spPr>
          <a:xfrm>
            <a:off x="548640" y="3429000"/>
            <a:ext cx="2834640" cy="640080"/>
          </a:xfrm>
          <a:prstGeom prst="rect">
            <a:avLst/>
          </a:prstGeom>
          <a:noFill/>
          <a:ln/>
        </p:spPr>
        <p:txBody>
          <a:bodyPr wrap="square" rtlCol="0" anchor="ctr"/>
          <a:lstStyle/>
          <a:p>
            <a:pPr algn="ctr" indent="0" marL="0">
              <a:buNone/>
            </a:pPr>
            <a:r>
              <a:rPr lang="en-US" sz="1300" b="1" dirty="0">
                <a:solidFill>
                  <a:srgbClr val="17A398"/>
                </a:solidFill>
                <a:latin typeface="Trebuchet MS" pitchFamily="34" charset="0"/>
                <a:ea typeface="Trebuchet MS" pitchFamily="34" charset="-122"/>
                <a:cs typeface="Trebuchet MS" pitchFamily="34" charset="-120"/>
              </a:rPr>
              <a:t>AUTOMATED</a:t>
            </a:r>
            <a:endParaRPr lang="en-US" sz="1300" dirty="0"/>
          </a:p>
          <a:p>
            <a:pPr algn="ctr" indent="0" marL="0">
              <a:buNone/>
            </a:pPr>
            <a:r>
              <a:rPr lang="en-US" sz="1300" b="1" dirty="0">
                <a:solidFill>
                  <a:srgbClr val="17A398"/>
                </a:solidFill>
                <a:latin typeface="Trebuchet MS" pitchFamily="34" charset="0"/>
                <a:ea typeface="Trebuchet MS" pitchFamily="34" charset="-122"/>
                <a:cs typeface="Trebuchet MS" pitchFamily="34" charset="-120"/>
              </a:rPr>
              <a:t>TEST CASES</a:t>
            </a:r>
            <a:endParaRPr lang="en-US" sz="1300" dirty="0"/>
          </a:p>
        </p:txBody>
      </p:sp>
      <p:sp>
        <p:nvSpPr>
          <p:cNvPr id="8" name="Shape 6"/>
          <p:cNvSpPr/>
          <p:nvPr/>
        </p:nvSpPr>
        <p:spPr>
          <a:xfrm>
            <a:off x="1325880" y="4114800"/>
            <a:ext cx="1280160" cy="27432"/>
          </a:xfrm>
          <a:prstGeom prst="rect">
            <a:avLst/>
          </a:prstGeom>
          <a:solidFill>
            <a:srgbClr val="E8A33D"/>
          </a:solidFill>
          <a:ln/>
        </p:spPr>
      </p:sp>
      <p:sp>
        <p:nvSpPr>
          <p:cNvPr id="9" name="Text 7"/>
          <p:cNvSpPr/>
          <p:nvPr/>
        </p:nvSpPr>
        <p:spPr>
          <a:xfrm>
            <a:off x="548640" y="4251960"/>
            <a:ext cx="2834640" cy="731520"/>
          </a:xfrm>
          <a:prstGeom prst="rect">
            <a:avLst/>
          </a:prstGeom>
          <a:noFill/>
          <a:ln/>
        </p:spPr>
        <p:txBody>
          <a:bodyPr wrap="square" rtlCol="0" anchor="ctr"/>
          <a:lstStyle/>
          <a:p>
            <a:pPr algn="ctr" indent="0" marL="0">
              <a:buNone/>
            </a:pPr>
            <a:r>
              <a:rPr lang="en-US" sz="1150" dirty="0">
                <a:solidFill>
                  <a:srgbClr val="C7D2E8"/>
                </a:solidFill>
                <a:latin typeface="Calibri" pitchFamily="34" charset="0"/>
                <a:ea typeface="Calibri" pitchFamily="34" charset="-122"/>
                <a:cs typeface="Calibri" pitchFamily="34" charset="-120"/>
              </a:rPr>
              <a:t>6 BDD feature files</a:t>
            </a:r>
            <a:endParaRPr lang="en-US" sz="1150" dirty="0"/>
          </a:p>
          <a:p>
            <a:pPr algn="ctr" indent="0" marL="0">
              <a:buNone/>
            </a:pPr>
            <a:r>
              <a:rPr lang="en-US" sz="1150" dirty="0">
                <a:solidFill>
                  <a:srgbClr val="C7D2E8"/>
                </a:solidFill>
                <a:latin typeface="Calibri" pitchFamily="34" charset="0"/>
                <a:ea typeface="Calibri" pitchFamily="34" charset="-122"/>
                <a:cs typeface="Calibri" pitchFamily="34" charset="-120"/>
              </a:rPr>
              <a:t>Every case automated</a:t>
            </a:r>
            <a:endParaRPr lang="en-US" sz="1150" dirty="0"/>
          </a:p>
        </p:txBody>
      </p:sp>
      <p:sp>
        <p:nvSpPr>
          <p:cNvPr id="10" name="Shape 8"/>
          <p:cNvSpPr/>
          <p:nvPr/>
        </p:nvSpPr>
        <p:spPr>
          <a:xfrm>
            <a:off x="3611880" y="1737360"/>
            <a:ext cx="8028432" cy="731520"/>
          </a:xfrm>
          <a:prstGeom prst="roundRect">
            <a:avLst>
              <a:gd name="adj" fmla="val 875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1" name="Shape 9"/>
          <p:cNvSpPr/>
          <p:nvPr/>
        </p:nvSpPr>
        <p:spPr>
          <a:xfrm>
            <a:off x="3721608" y="1847088"/>
            <a:ext cx="512064" cy="512064"/>
          </a:xfrm>
          <a:prstGeom prst="roundRect">
            <a:avLst>
              <a:gd name="adj" fmla="val 8929"/>
            </a:avLst>
          </a:prstGeom>
          <a:solidFill>
            <a:srgbClr val="1F3864"/>
          </a:solidFill>
          <a:ln/>
        </p:spPr>
      </p:sp>
      <p:sp>
        <p:nvSpPr>
          <p:cNvPr id="12" name="Text 10"/>
          <p:cNvSpPr/>
          <p:nvPr/>
        </p:nvSpPr>
        <p:spPr>
          <a:xfrm>
            <a:off x="3721608" y="1847088"/>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6</a:t>
            </a:r>
            <a:endParaRPr lang="en-US" sz="2100" dirty="0"/>
          </a:p>
        </p:txBody>
      </p:sp>
      <p:sp>
        <p:nvSpPr>
          <p:cNvPr id="13" name="Text 11"/>
          <p:cNvSpPr/>
          <p:nvPr/>
        </p:nvSpPr>
        <p:spPr>
          <a:xfrm>
            <a:off x="4389120" y="1828800"/>
            <a:ext cx="2743200" cy="548640"/>
          </a:xfrm>
          <a:prstGeom prst="rect">
            <a:avLst/>
          </a:prstGeom>
          <a:noFill/>
          <a:ln/>
        </p:spPr>
        <p:txBody>
          <a:bodyPr wrap="square" lIns="0" tIns="0" rIns="0" bIns="0" rtlCol="0" anchor="ctr"/>
          <a:lstStyle/>
          <a:p>
            <a:pPr indent="0" marL="0">
              <a:buNone/>
            </a:pPr>
            <a:r>
              <a:rPr lang="en-US" sz="1500" b="1" dirty="0">
                <a:solidFill>
                  <a:srgbClr val="1F3864"/>
                </a:solidFill>
                <a:latin typeface="Trebuchet MS" pitchFamily="34" charset="0"/>
                <a:ea typeface="Trebuchet MS" pitchFamily="34" charset="-122"/>
                <a:cs typeface="Trebuchet MS" pitchFamily="34" charset="-120"/>
              </a:rPr>
              <a:t>Functional</a:t>
            </a:r>
            <a:endParaRPr lang="en-US" sz="1500" dirty="0"/>
          </a:p>
        </p:txBody>
      </p:sp>
      <p:sp>
        <p:nvSpPr>
          <p:cNvPr id="14" name="Text 12"/>
          <p:cNvSpPr/>
          <p:nvPr/>
        </p:nvSpPr>
        <p:spPr>
          <a:xfrm>
            <a:off x="6355080" y="1828800"/>
            <a:ext cx="51206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Registration, login &amp; post-login balance</a:t>
            </a:r>
            <a:endParaRPr lang="en-US" sz="1150" dirty="0"/>
          </a:p>
        </p:txBody>
      </p:sp>
      <p:sp>
        <p:nvSpPr>
          <p:cNvPr id="15" name="Shape 13"/>
          <p:cNvSpPr/>
          <p:nvPr/>
        </p:nvSpPr>
        <p:spPr>
          <a:xfrm>
            <a:off x="3611880" y="2596896"/>
            <a:ext cx="8028432" cy="731520"/>
          </a:xfrm>
          <a:prstGeom prst="roundRect">
            <a:avLst>
              <a:gd name="adj" fmla="val 875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6" name="Shape 14"/>
          <p:cNvSpPr/>
          <p:nvPr/>
        </p:nvSpPr>
        <p:spPr>
          <a:xfrm>
            <a:off x="3721608" y="2706624"/>
            <a:ext cx="512064" cy="512064"/>
          </a:xfrm>
          <a:prstGeom prst="roundRect">
            <a:avLst>
              <a:gd name="adj" fmla="val 8929"/>
            </a:avLst>
          </a:prstGeom>
          <a:solidFill>
            <a:srgbClr val="2F5496"/>
          </a:solidFill>
          <a:ln/>
        </p:spPr>
      </p:sp>
      <p:sp>
        <p:nvSpPr>
          <p:cNvPr id="17" name="Text 15"/>
          <p:cNvSpPr/>
          <p:nvPr/>
        </p:nvSpPr>
        <p:spPr>
          <a:xfrm>
            <a:off x="3721608" y="2706624"/>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8</a:t>
            </a:r>
            <a:endParaRPr lang="en-US" sz="2100" dirty="0"/>
          </a:p>
        </p:txBody>
      </p:sp>
      <p:sp>
        <p:nvSpPr>
          <p:cNvPr id="18" name="Text 16"/>
          <p:cNvSpPr/>
          <p:nvPr/>
        </p:nvSpPr>
        <p:spPr>
          <a:xfrm>
            <a:off x="4389120" y="2688336"/>
            <a:ext cx="2743200" cy="548640"/>
          </a:xfrm>
          <a:prstGeom prst="rect">
            <a:avLst/>
          </a:prstGeom>
          <a:noFill/>
          <a:ln/>
        </p:spPr>
        <p:txBody>
          <a:bodyPr wrap="square" lIns="0" tIns="0" rIns="0" bIns="0" rtlCol="0" anchor="ctr"/>
          <a:lstStyle/>
          <a:p>
            <a:pPr indent="0" marL="0">
              <a:buNone/>
            </a:pPr>
            <a:r>
              <a:rPr lang="en-US" sz="1500" b="1" dirty="0">
                <a:solidFill>
                  <a:srgbClr val="1F3864"/>
                </a:solidFill>
                <a:latin typeface="Trebuchet MS" pitchFamily="34" charset="0"/>
                <a:ea typeface="Trebuchet MS" pitchFamily="34" charset="-122"/>
                <a:cs typeface="Trebuchet MS" pitchFamily="34" charset="-120"/>
              </a:rPr>
              <a:t>Boundary</a:t>
            </a:r>
            <a:endParaRPr lang="en-US" sz="1500" dirty="0"/>
          </a:p>
        </p:txBody>
      </p:sp>
      <p:sp>
        <p:nvSpPr>
          <p:cNvPr id="19" name="Text 17"/>
          <p:cNvSpPr/>
          <p:nvPr/>
        </p:nvSpPr>
        <p:spPr>
          <a:xfrm>
            <a:off x="6355080" y="2688336"/>
            <a:ext cx="51206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Min / max length, special chars, missing fields</a:t>
            </a:r>
            <a:endParaRPr lang="en-US" sz="1150" dirty="0"/>
          </a:p>
        </p:txBody>
      </p:sp>
      <p:sp>
        <p:nvSpPr>
          <p:cNvPr id="20" name="Shape 18"/>
          <p:cNvSpPr/>
          <p:nvPr/>
        </p:nvSpPr>
        <p:spPr>
          <a:xfrm>
            <a:off x="3611880" y="3456432"/>
            <a:ext cx="8028432" cy="731520"/>
          </a:xfrm>
          <a:prstGeom prst="roundRect">
            <a:avLst>
              <a:gd name="adj" fmla="val 875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1" name="Shape 19"/>
          <p:cNvSpPr/>
          <p:nvPr/>
        </p:nvSpPr>
        <p:spPr>
          <a:xfrm>
            <a:off x="3721608" y="3566160"/>
            <a:ext cx="512064" cy="512064"/>
          </a:xfrm>
          <a:prstGeom prst="roundRect">
            <a:avLst>
              <a:gd name="adj" fmla="val 8929"/>
            </a:avLst>
          </a:prstGeom>
          <a:solidFill>
            <a:srgbClr val="17A398"/>
          </a:solidFill>
          <a:ln/>
        </p:spPr>
      </p:sp>
      <p:sp>
        <p:nvSpPr>
          <p:cNvPr id="22" name="Text 20"/>
          <p:cNvSpPr/>
          <p:nvPr/>
        </p:nvSpPr>
        <p:spPr>
          <a:xfrm>
            <a:off x="3721608" y="3566160"/>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9</a:t>
            </a:r>
            <a:endParaRPr lang="en-US" sz="2100" dirty="0"/>
          </a:p>
        </p:txBody>
      </p:sp>
      <p:sp>
        <p:nvSpPr>
          <p:cNvPr id="23" name="Text 21"/>
          <p:cNvSpPr/>
          <p:nvPr/>
        </p:nvSpPr>
        <p:spPr>
          <a:xfrm>
            <a:off x="4389120" y="3547872"/>
            <a:ext cx="2743200" cy="548640"/>
          </a:xfrm>
          <a:prstGeom prst="rect">
            <a:avLst/>
          </a:prstGeom>
          <a:noFill/>
          <a:ln/>
        </p:spPr>
        <p:txBody>
          <a:bodyPr wrap="square" lIns="0" tIns="0" rIns="0" bIns="0" rtlCol="0" anchor="ctr"/>
          <a:lstStyle/>
          <a:p>
            <a:pPr indent="0" marL="0">
              <a:buNone/>
            </a:pPr>
            <a:r>
              <a:rPr lang="en-US" sz="1500" b="1" dirty="0">
                <a:solidFill>
                  <a:srgbClr val="1F3864"/>
                </a:solidFill>
                <a:latin typeface="Trebuchet MS" pitchFamily="34" charset="0"/>
                <a:ea typeface="Trebuchet MS" pitchFamily="34" charset="-122"/>
                <a:cs typeface="Trebuchet MS" pitchFamily="34" charset="-120"/>
              </a:rPr>
              <a:t>Security</a:t>
            </a:r>
            <a:endParaRPr lang="en-US" sz="1500" dirty="0"/>
          </a:p>
        </p:txBody>
      </p:sp>
      <p:sp>
        <p:nvSpPr>
          <p:cNvPr id="24" name="Text 22"/>
          <p:cNvSpPr/>
          <p:nvPr/>
        </p:nvSpPr>
        <p:spPr>
          <a:xfrm>
            <a:off x="6355080" y="3547872"/>
            <a:ext cx="51206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Injection, masking, HTTPS, sessions, enumeration</a:t>
            </a:r>
            <a:endParaRPr lang="en-US" sz="1150" dirty="0"/>
          </a:p>
        </p:txBody>
      </p:sp>
      <p:sp>
        <p:nvSpPr>
          <p:cNvPr id="25" name="Shape 23"/>
          <p:cNvSpPr/>
          <p:nvPr/>
        </p:nvSpPr>
        <p:spPr>
          <a:xfrm>
            <a:off x="3611880" y="4315968"/>
            <a:ext cx="8028432" cy="731520"/>
          </a:xfrm>
          <a:prstGeom prst="roundRect">
            <a:avLst>
              <a:gd name="adj" fmla="val 875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6" name="Shape 24"/>
          <p:cNvSpPr/>
          <p:nvPr/>
        </p:nvSpPr>
        <p:spPr>
          <a:xfrm>
            <a:off x="3721608" y="4425696"/>
            <a:ext cx="512064" cy="512064"/>
          </a:xfrm>
          <a:prstGeom prst="roundRect">
            <a:avLst>
              <a:gd name="adj" fmla="val 8929"/>
            </a:avLst>
          </a:prstGeom>
          <a:solidFill>
            <a:srgbClr val="E8A33D"/>
          </a:solidFill>
          <a:ln/>
        </p:spPr>
      </p:sp>
      <p:sp>
        <p:nvSpPr>
          <p:cNvPr id="27" name="Text 25"/>
          <p:cNvSpPr/>
          <p:nvPr/>
        </p:nvSpPr>
        <p:spPr>
          <a:xfrm>
            <a:off x="3721608" y="4425696"/>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5</a:t>
            </a:r>
            <a:endParaRPr lang="en-US" sz="2100" dirty="0"/>
          </a:p>
        </p:txBody>
      </p:sp>
      <p:sp>
        <p:nvSpPr>
          <p:cNvPr id="28" name="Text 26"/>
          <p:cNvSpPr/>
          <p:nvPr/>
        </p:nvSpPr>
        <p:spPr>
          <a:xfrm>
            <a:off x="4389120" y="4407408"/>
            <a:ext cx="2743200" cy="548640"/>
          </a:xfrm>
          <a:prstGeom prst="rect">
            <a:avLst/>
          </a:prstGeom>
          <a:noFill/>
          <a:ln/>
        </p:spPr>
        <p:txBody>
          <a:bodyPr wrap="square" lIns="0" tIns="0" rIns="0" bIns="0" rtlCol="0" anchor="ctr"/>
          <a:lstStyle/>
          <a:p>
            <a:pPr indent="0" marL="0">
              <a:buNone/>
            </a:pPr>
            <a:r>
              <a:rPr lang="en-US" sz="1500" b="1" dirty="0">
                <a:solidFill>
                  <a:srgbClr val="1F3864"/>
                </a:solidFill>
                <a:latin typeface="Trebuchet MS" pitchFamily="34" charset="0"/>
                <a:ea typeface="Trebuchet MS" pitchFamily="34" charset="-122"/>
                <a:cs typeface="Trebuchet MS" pitchFamily="34" charset="-120"/>
              </a:rPr>
              <a:t>Access control</a:t>
            </a:r>
            <a:endParaRPr lang="en-US" sz="1500" dirty="0"/>
          </a:p>
        </p:txBody>
      </p:sp>
      <p:sp>
        <p:nvSpPr>
          <p:cNvPr id="29" name="Text 27"/>
          <p:cNvSpPr/>
          <p:nvPr/>
        </p:nvSpPr>
        <p:spPr>
          <a:xfrm>
            <a:off x="6355080" y="4407408"/>
            <a:ext cx="51206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Protected pages require an authenticated session</a:t>
            </a:r>
            <a:endParaRPr lang="en-US" sz="1150" dirty="0"/>
          </a:p>
        </p:txBody>
      </p:sp>
      <p:sp>
        <p:nvSpPr>
          <p:cNvPr id="30" name="Shape 28"/>
          <p:cNvSpPr/>
          <p:nvPr/>
        </p:nvSpPr>
        <p:spPr>
          <a:xfrm>
            <a:off x="3611880" y="5175504"/>
            <a:ext cx="8028432" cy="731520"/>
          </a:xfrm>
          <a:prstGeom prst="roundRect">
            <a:avLst>
              <a:gd name="adj" fmla="val 875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1" name="Shape 29"/>
          <p:cNvSpPr/>
          <p:nvPr/>
        </p:nvSpPr>
        <p:spPr>
          <a:xfrm>
            <a:off x="3721608" y="5285232"/>
            <a:ext cx="512064" cy="512064"/>
          </a:xfrm>
          <a:prstGeom prst="roundRect">
            <a:avLst>
              <a:gd name="adj" fmla="val 8929"/>
            </a:avLst>
          </a:prstGeom>
          <a:solidFill>
            <a:srgbClr val="7A4FA3"/>
          </a:solidFill>
          <a:ln/>
        </p:spPr>
      </p:sp>
      <p:sp>
        <p:nvSpPr>
          <p:cNvPr id="32" name="Text 30"/>
          <p:cNvSpPr/>
          <p:nvPr/>
        </p:nvSpPr>
        <p:spPr>
          <a:xfrm>
            <a:off x="3721608" y="5285232"/>
            <a:ext cx="512064" cy="51206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5</a:t>
            </a:r>
            <a:endParaRPr lang="en-US" sz="2100" dirty="0"/>
          </a:p>
        </p:txBody>
      </p:sp>
      <p:sp>
        <p:nvSpPr>
          <p:cNvPr id="33" name="Text 31"/>
          <p:cNvSpPr/>
          <p:nvPr/>
        </p:nvSpPr>
        <p:spPr>
          <a:xfrm>
            <a:off x="4389120" y="5266944"/>
            <a:ext cx="2743200" cy="548640"/>
          </a:xfrm>
          <a:prstGeom prst="rect">
            <a:avLst/>
          </a:prstGeom>
          <a:noFill/>
          <a:ln/>
        </p:spPr>
        <p:txBody>
          <a:bodyPr wrap="square" lIns="0" tIns="0" rIns="0" bIns="0" rtlCol="0" anchor="ctr"/>
          <a:lstStyle/>
          <a:p>
            <a:pPr indent="0" marL="0">
              <a:buNone/>
            </a:pPr>
            <a:r>
              <a:rPr lang="en-US" sz="1500" b="1" dirty="0">
                <a:solidFill>
                  <a:srgbClr val="1F3864"/>
                </a:solidFill>
                <a:latin typeface="Trebuchet MS" pitchFamily="34" charset="0"/>
                <a:ea typeface="Trebuchet MS" pitchFamily="34" charset="-122"/>
                <a:cs typeface="Trebuchet MS" pitchFamily="34" charset="-120"/>
              </a:rPr>
              <a:t>Performance</a:t>
            </a:r>
            <a:endParaRPr lang="en-US" sz="1500" dirty="0"/>
          </a:p>
        </p:txBody>
      </p:sp>
      <p:sp>
        <p:nvSpPr>
          <p:cNvPr id="34" name="Text 32"/>
          <p:cNvSpPr/>
          <p:nvPr/>
        </p:nvSpPr>
        <p:spPr>
          <a:xfrm>
            <a:off x="6355080" y="5266944"/>
            <a:ext cx="5120640" cy="548640"/>
          </a:xfrm>
          <a:prstGeom prst="rect">
            <a:avLst/>
          </a:prstGeom>
          <a:noFill/>
          <a:ln/>
        </p:spPr>
        <p:txBody>
          <a:bodyPr wrap="square" lIns="0" tIns="0" rIns="0" bIns="0" rtlCol="0" anchor="ctr"/>
          <a:lstStyle/>
          <a:p>
            <a:pPr indent="0" marL="0">
              <a:buNone/>
            </a:pPr>
            <a:r>
              <a:rPr lang="en-US" sz="1150" dirty="0">
                <a:solidFill>
                  <a:srgbClr val="6B7280"/>
                </a:solidFill>
                <a:latin typeface="Calibri" pitchFamily="34" charset="0"/>
                <a:ea typeface="Calibri" pitchFamily="34" charset="-122"/>
                <a:cs typeface="Calibri" pitchFamily="34" charset="-120"/>
              </a:rPr>
              <a:t>Page-load &amp; action response times vs budgets</a:t>
            </a:r>
            <a:endParaRPr lang="en-US" sz="1150" dirty="0"/>
          </a:p>
        </p:txBody>
      </p:sp>
      <p:sp>
        <p:nvSpPr>
          <p:cNvPr id="35" name="Text 33"/>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36" name="Text 34"/>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DEEP TESTING</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Going beyond the happy path</a:t>
            </a:r>
            <a:endParaRPr lang="en-US" sz="2900" dirty="0"/>
          </a:p>
        </p:txBody>
      </p:sp>
      <p:sp>
        <p:nvSpPr>
          <p:cNvPr id="5" name="Shape 3"/>
          <p:cNvSpPr/>
          <p:nvPr/>
        </p:nvSpPr>
        <p:spPr>
          <a:xfrm>
            <a:off x="548640" y="1691640"/>
            <a:ext cx="5431536" cy="2057400"/>
          </a:xfrm>
          <a:prstGeom prst="roundRect">
            <a:avLst>
              <a:gd name="adj" fmla="val 3111"/>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548640" y="1691640"/>
            <a:ext cx="109728" cy="2057400"/>
          </a:xfrm>
          <a:prstGeom prst="rect">
            <a:avLst/>
          </a:prstGeom>
          <a:solidFill>
            <a:srgbClr val="2F5496"/>
          </a:solidFill>
          <a:ln/>
        </p:spPr>
      </p:sp>
      <p:sp>
        <p:nvSpPr>
          <p:cNvPr id="7" name="Shape 5"/>
          <p:cNvSpPr/>
          <p:nvPr/>
        </p:nvSpPr>
        <p:spPr>
          <a:xfrm>
            <a:off x="841248" y="1947672"/>
            <a:ext cx="566928" cy="566928"/>
          </a:xfrm>
          <a:prstGeom prst="roundRect">
            <a:avLst>
              <a:gd name="adj" fmla="val 50000"/>
            </a:avLst>
          </a:prstGeom>
          <a:solidFill>
            <a:srgbClr val="2F5496"/>
          </a:solidFill>
          <a:ln/>
        </p:spPr>
      </p:sp>
      <p:sp>
        <p:nvSpPr>
          <p:cNvPr id="8" name="Text 6"/>
          <p:cNvSpPr/>
          <p:nvPr/>
        </p:nvSpPr>
        <p:spPr>
          <a:xfrm>
            <a:off x="841248" y="194767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B</a:t>
            </a:r>
            <a:endParaRPr lang="en-US" sz="2400" dirty="0"/>
          </a:p>
        </p:txBody>
      </p:sp>
      <p:sp>
        <p:nvSpPr>
          <p:cNvPr id="9" name="Text 7"/>
          <p:cNvSpPr/>
          <p:nvPr/>
        </p:nvSpPr>
        <p:spPr>
          <a:xfrm>
            <a:off x="1554480" y="1965960"/>
            <a:ext cx="4242816" cy="530352"/>
          </a:xfrm>
          <a:prstGeom prst="rect">
            <a:avLst/>
          </a:prstGeom>
          <a:noFill/>
          <a:ln/>
        </p:spPr>
        <p:txBody>
          <a:bodyPr wrap="square" lIns="0" tIns="0" rIns="0" bIns="0" rtlCol="0" anchor="ctr"/>
          <a:lstStyle/>
          <a:p>
            <a:pPr indent="0" marL="0">
              <a:buNone/>
            </a:pPr>
            <a:r>
              <a:rPr lang="en-US" sz="1700" b="1" dirty="0">
                <a:solidFill>
                  <a:srgbClr val="1F3864"/>
                </a:solidFill>
                <a:latin typeface="Trebuchet MS" pitchFamily="34" charset="0"/>
                <a:ea typeface="Trebuchet MS" pitchFamily="34" charset="-122"/>
                <a:cs typeface="Trebuchet MS" pitchFamily="34" charset="-120"/>
              </a:rPr>
              <a:t>Boundary &amp; Validation</a:t>
            </a:r>
            <a:endParaRPr lang="en-US" sz="1700" dirty="0"/>
          </a:p>
        </p:txBody>
      </p:sp>
      <p:sp>
        <p:nvSpPr>
          <p:cNvPr id="10" name="Text 8"/>
          <p:cNvSpPr/>
          <p:nvPr/>
        </p:nvSpPr>
        <p:spPr>
          <a:xfrm>
            <a:off x="932688" y="2569464"/>
            <a:ext cx="4754880" cy="105156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Password / confirm mismatch</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Minimum &amp; maximum field lengths</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Special characters &amp; partial forms</a:t>
            </a:r>
            <a:endParaRPr lang="en-US" sz="1200" dirty="0"/>
          </a:p>
        </p:txBody>
      </p:sp>
      <p:sp>
        <p:nvSpPr>
          <p:cNvPr id="11" name="Shape 9"/>
          <p:cNvSpPr/>
          <p:nvPr/>
        </p:nvSpPr>
        <p:spPr>
          <a:xfrm>
            <a:off x="6181344" y="1691640"/>
            <a:ext cx="5431536" cy="2057400"/>
          </a:xfrm>
          <a:prstGeom prst="roundRect">
            <a:avLst>
              <a:gd name="adj" fmla="val 3111"/>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2" name="Shape 10"/>
          <p:cNvSpPr/>
          <p:nvPr/>
        </p:nvSpPr>
        <p:spPr>
          <a:xfrm>
            <a:off x="6181344" y="1691640"/>
            <a:ext cx="109728" cy="2057400"/>
          </a:xfrm>
          <a:prstGeom prst="rect">
            <a:avLst/>
          </a:prstGeom>
          <a:solidFill>
            <a:srgbClr val="17A398"/>
          </a:solidFill>
          <a:ln/>
        </p:spPr>
      </p:sp>
      <p:sp>
        <p:nvSpPr>
          <p:cNvPr id="13" name="Shape 11"/>
          <p:cNvSpPr/>
          <p:nvPr/>
        </p:nvSpPr>
        <p:spPr>
          <a:xfrm>
            <a:off x="6473952" y="1947672"/>
            <a:ext cx="566928" cy="566928"/>
          </a:xfrm>
          <a:prstGeom prst="roundRect">
            <a:avLst>
              <a:gd name="adj" fmla="val 50000"/>
            </a:avLst>
          </a:prstGeom>
          <a:solidFill>
            <a:srgbClr val="17A398"/>
          </a:solidFill>
          <a:ln/>
        </p:spPr>
      </p:sp>
      <p:sp>
        <p:nvSpPr>
          <p:cNvPr id="14" name="Text 12"/>
          <p:cNvSpPr/>
          <p:nvPr/>
        </p:nvSpPr>
        <p:spPr>
          <a:xfrm>
            <a:off x="6473952" y="194767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S</a:t>
            </a:r>
            <a:endParaRPr lang="en-US" sz="2400" dirty="0"/>
          </a:p>
        </p:txBody>
      </p:sp>
      <p:sp>
        <p:nvSpPr>
          <p:cNvPr id="15" name="Text 13"/>
          <p:cNvSpPr/>
          <p:nvPr/>
        </p:nvSpPr>
        <p:spPr>
          <a:xfrm>
            <a:off x="7187184" y="1965960"/>
            <a:ext cx="4242816" cy="530352"/>
          </a:xfrm>
          <a:prstGeom prst="rect">
            <a:avLst/>
          </a:prstGeom>
          <a:noFill/>
          <a:ln/>
        </p:spPr>
        <p:txBody>
          <a:bodyPr wrap="square" lIns="0" tIns="0" rIns="0" bIns="0" rtlCol="0" anchor="ctr"/>
          <a:lstStyle/>
          <a:p>
            <a:pPr indent="0" marL="0">
              <a:buNone/>
            </a:pPr>
            <a:r>
              <a:rPr lang="en-US" sz="1700" b="1" dirty="0">
                <a:solidFill>
                  <a:srgbClr val="1F3864"/>
                </a:solidFill>
                <a:latin typeface="Trebuchet MS" pitchFamily="34" charset="0"/>
                <a:ea typeface="Trebuchet MS" pitchFamily="34" charset="-122"/>
                <a:cs typeface="Trebuchet MS" pitchFamily="34" charset="-120"/>
              </a:rPr>
              <a:t>Security</a:t>
            </a:r>
            <a:endParaRPr lang="en-US" sz="1700" dirty="0"/>
          </a:p>
        </p:txBody>
      </p:sp>
      <p:sp>
        <p:nvSpPr>
          <p:cNvPr id="16" name="Text 14"/>
          <p:cNvSpPr/>
          <p:nvPr/>
        </p:nvSpPr>
        <p:spPr>
          <a:xfrm>
            <a:off x="6565392" y="2569464"/>
            <a:ext cx="4754880" cy="105156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SQL &amp; HTML injection attempts</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Password masking &amp; HTTPS</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HttpOnly cookie, no user enumeration</a:t>
            </a:r>
            <a:endParaRPr lang="en-US" sz="1200" dirty="0"/>
          </a:p>
        </p:txBody>
      </p:sp>
      <p:sp>
        <p:nvSpPr>
          <p:cNvPr id="17" name="Shape 15"/>
          <p:cNvSpPr/>
          <p:nvPr/>
        </p:nvSpPr>
        <p:spPr>
          <a:xfrm>
            <a:off x="548640" y="3931920"/>
            <a:ext cx="5431536" cy="2057400"/>
          </a:xfrm>
          <a:prstGeom prst="roundRect">
            <a:avLst>
              <a:gd name="adj" fmla="val 3111"/>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8" name="Shape 16"/>
          <p:cNvSpPr/>
          <p:nvPr/>
        </p:nvSpPr>
        <p:spPr>
          <a:xfrm>
            <a:off x="548640" y="3931920"/>
            <a:ext cx="109728" cy="2057400"/>
          </a:xfrm>
          <a:prstGeom prst="rect">
            <a:avLst/>
          </a:prstGeom>
          <a:solidFill>
            <a:srgbClr val="E8A33D"/>
          </a:solidFill>
          <a:ln/>
        </p:spPr>
      </p:sp>
      <p:sp>
        <p:nvSpPr>
          <p:cNvPr id="19" name="Shape 17"/>
          <p:cNvSpPr/>
          <p:nvPr/>
        </p:nvSpPr>
        <p:spPr>
          <a:xfrm>
            <a:off x="841248" y="4187952"/>
            <a:ext cx="566928" cy="566928"/>
          </a:xfrm>
          <a:prstGeom prst="roundRect">
            <a:avLst>
              <a:gd name="adj" fmla="val 50000"/>
            </a:avLst>
          </a:prstGeom>
          <a:solidFill>
            <a:srgbClr val="E8A33D"/>
          </a:solidFill>
          <a:ln/>
        </p:spPr>
      </p:sp>
      <p:sp>
        <p:nvSpPr>
          <p:cNvPr id="20" name="Text 18"/>
          <p:cNvSpPr/>
          <p:nvPr/>
        </p:nvSpPr>
        <p:spPr>
          <a:xfrm>
            <a:off x="841248" y="418795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A</a:t>
            </a:r>
            <a:endParaRPr lang="en-US" sz="2400" dirty="0"/>
          </a:p>
        </p:txBody>
      </p:sp>
      <p:sp>
        <p:nvSpPr>
          <p:cNvPr id="21" name="Text 19"/>
          <p:cNvSpPr/>
          <p:nvPr/>
        </p:nvSpPr>
        <p:spPr>
          <a:xfrm>
            <a:off x="1554480" y="4206240"/>
            <a:ext cx="4242816" cy="530352"/>
          </a:xfrm>
          <a:prstGeom prst="rect">
            <a:avLst/>
          </a:prstGeom>
          <a:noFill/>
          <a:ln/>
        </p:spPr>
        <p:txBody>
          <a:bodyPr wrap="square" lIns="0" tIns="0" rIns="0" bIns="0" rtlCol="0" anchor="ctr"/>
          <a:lstStyle/>
          <a:p>
            <a:pPr indent="0" marL="0">
              <a:buNone/>
            </a:pPr>
            <a:r>
              <a:rPr lang="en-US" sz="1700" b="1" dirty="0">
                <a:solidFill>
                  <a:srgbClr val="1F3864"/>
                </a:solidFill>
                <a:latin typeface="Trebuchet MS" pitchFamily="34" charset="0"/>
                <a:ea typeface="Trebuchet MS" pitchFamily="34" charset="-122"/>
                <a:cs typeface="Trebuchet MS" pitchFamily="34" charset="-120"/>
              </a:rPr>
              <a:t>Access Control</a:t>
            </a:r>
            <a:endParaRPr lang="en-US" sz="1700" dirty="0"/>
          </a:p>
        </p:txBody>
      </p:sp>
      <p:sp>
        <p:nvSpPr>
          <p:cNvPr id="22" name="Text 20"/>
          <p:cNvSpPr/>
          <p:nvPr/>
        </p:nvSpPr>
        <p:spPr>
          <a:xfrm>
            <a:off x="932688" y="4809744"/>
            <a:ext cx="4754880" cy="105156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Protected pages blocked when logged out</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No access after logout</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Session persists across navigation</a:t>
            </a:r>
            <a:endParaRPr lang="en-US" sz="1200" dirty="0"/>
          </a:p>
        </p:txBody>
      </p:sp>
      <p:sp>
        <p:nvSpPr>
          <p:cNvPr id="23" name="Shape 21"/>
          <p:cNvSpPr/>
          <p:nvPr/>
        </p:nvSpPr>
        <p:spPr>
          <a:xfrm>
            <a:off x="6181344" y="3931920"/>
            <a:ext cx="5431536" cy="2057400"/>
          </a:xfrm>
          <a:prstGeom prst="roundRect">
            <a:avLst>
              <a:gd name="adj" fmla="val 3111"/>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4" name="Shape 22"/>
          <p:cNvSpPr/>
          <p:nvPr/>
        </p:nvSpPr>
        <p:spPr>
          <a:xfrm>
            <a:off x="6181344" y="3931920"/>
            <a:ext cx="109728" cy="2057400"/>
          </a:xfrm>
          <a:prstGeom prst="rect">
            <a:avLst/>
          </a:prstGeom>
          <a:solidFill>
            <a:srgbClr val="7A4FA3"/>
          </a:solidFill>
          <a:ln/>
        </p:spPr>
      </p:sp>
      <p:sp>
        <p:nvSpPr>
          <p:cNvPr id="25" name="Shape 23"/>
          <p:cNvSpPr/>
          <p:nvPr/>
        </p:nvSpPr>
        <p:spPr>
          <a:xfrm>
            <a:off x="6473952" y="4187952"/>
            <a:ext cx="566928" cy="566928"/>
          </a:xfrm>
          <a:prstGeom prst="roundRect">
            <a:avLst>
              <a:gd name="adj" fmla="val 50000"/>
            </a:avLst>
          </a:prstGeom>
          <a:solidFill>
            <a:srgbClr val="7A4FA3"/>
          </a:solidFill>
          <a:ln/>
        </p:spPr>
      </p:sp>
      <p:sp>
        <p:nvSpPr>
          <p:cNvPr id="26" name="Text 24"/>
          <p:cNvSpPr/>
          <p:nvPr/>
        </p:nvSpPr>
        <p:spPr>
          <a:xfrm>
            <a:off x="6473952" y="4187952"/>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P</a:t>
            </a:r>
            <a:endParaRPr lang="en-US" sz="2400" dirty="0"/>
          </a:p>
        </p:txBody>
      </p:sp>
      <p:sp>
        <p:nvSpPr>
          <p:cNvPr id="27" name="Text 25"/>
          <p:cNvSpPr/>
          <p:nvPr/>
        </p:nvSpPr>
        <p:spPr>
          <a:xfrm>
            <a:off x="7187184" y="4206240"/>
            <a:ext cx="4242816" cy="530352"/>
          </a:xfrm>
          <a:prstGeom prst="rect">
            <a:avLst/>
          </a:prstGeom>
          <a:noFill/>
          <a:ln/>
        </p:spPr>
        <p:txBody>
          <a:bodyPr wrap="square" lIns="0" tIns="0" rIns="0" bIns="0" rtlCol="0" anchor="ctr"/>
          <a:lstStyle/>
          <a:p>
            <a:pPr indent="0" marL="0">
              <a:buNone/>
            </a:pPr>
            <a:r>
              <a:rPr lang="en-US" sz="1700" b="1" dirty="0">
                <a:solidFill>
                  <a:srgbClr val="1F3864"/>
                </a:solidFill>
                <a:latin typeface="Trebuchet MS" pitchFamily="34" charset="0"/>
                <a:ea typeface="Trebuchet MS" pitchFamily="34" charset="-122"/>
                <a:cs typeface="Trebuchet MS" pitchFamily="34" charset="-120"/>
              </a:rPr>
              <a:t>Performance</a:t>
            </a:r>
            <a:endParaRPr lang="en-US" sz="1700" dirty="0"/>
          </a:p>
        </p:txBody>
      </p:sp>
      <p:sp>
        <p:nvSpPr>
          <p:cNvPr id="28" name="Text 26"/>
          <p:cNvSpPr/>
          <p:nvPr/>
        </p:nvSpPr>
        <p:spPr>
          <a:xfrm>
            <a:off x="6565392" y="4809744"/>
            <a:ext cx="4754880" cy="1051560"/>
          </a:xfrm>
          <a:prstGeom prst="rect">
            <a:avLst/>
          </a:prstGeom>
          <a:noFill/>
          <a:ln/>
        </p:spPr>
        <p:txBody>
          <a:bodyPr wrap="square" lIns="0" tIns="0" rIns="0" bIns="0" rtlCol="0" anchor="ctr"/>
          <a:lstStyle/>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Home &amp; registration page load</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Sign-up &amp; login response times</a:t>
            </a:r>
            <a:endParaRPr lang="en-US" sz="1200" dirty="0"/>
          </a:p>
          <a:p>
            <a:pPr marL="177800" indent="-177800">
              <a:spcAft>
                <a:spcPts val="800"/>
              </a:spcAft>
              <a:buSzPct val="100000"/>
              <a:buChar char="•"/>
            </a:pPr>
            <a:r>
              <a:rPr lang="en-US" sz="1200" dirty="0">
                <a:solidFill>
                  <a:srgbClr val="2A2E3A"/>
                </a:solidFill>
                <a:latin typeface="Calibri" pitchFamily="34" charset="0"/>
                <a:ea typeface="Calibri" pitchFamily="34" charset="-122"/>
                <a:cs typeface="Calibri" pitchFamily="34" charset="-120"/>
              </a:rPr>
              <a:t>Soft budgets for the JPA backend</a:t>
            </a:r>
            <a:endParaRPr lang="en-US" sz="1200" dirty="0"/>
          </a:p>
        </p:txBody>
      </p:sp>
      <p:sp>
        <p:nvSpPr>
          <p:cNvPr id="29" name="Text 27"/>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30" name="Text 28"/>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7A398"/>
          </a:solidFill>
          <a:ln/>
        </p:spPr>
      </p:sp>
      <p:sp>
        <p:nvSpPr>
          <p:cNvPr id="3" name="Text 1"/>
          <p:cNvSpPr/>
          <p:nvPr/>
        </p:nvSpPr>
        <p:spPr>
          <a:xfrm>
            <a:off x="868680" y="731520"/>
            <a:ext cx="5486400" cy="411480"/>
          </a:xfrm>
          <a:prstGeom prst="rect">
            <a:avLst/>
          </a:prstGeom>
          <a:noFill/>
          <a:ln/>
        </p:spPr>
        <p:txBody>
          <a:bodyPr wrap="square" rtlCol="0" anchor="ctr"/>
          <a:lstStyle/>
          <a:p>
            <a:pPr indent="0" marL="0">
              <a:buNone/>
            </a:pPr>
            <a:r>
              <a:rPr lang="en-US" sz="1400" b="1" spc="400" kern="0" dirty="0">
                <a:solidFill>
                  <a:srgbClr val="17A398"/>
                </a:solidFill>
                <a:latin typeface="Trebuchet MS" pitchFamily="34" charset="0"/>
                <a:ea typeface="Trebuchet MS" pitchFamily="34" charset="-122"/>
                <a:cs typeface="Trebuchet MS" pitchFamily="34" charset="-120"/>
              </a:rPr>
              <a:t>LIVE DEMO</a:t>
            </a:r>
            <a:endParaRPr lang="en-US" sz="1400" dirty="0"/>
          </a:p>
        </p:txBody>
      </p:sp>
      <p:sp>
        <p:nvSpPr>
          <p:cNvPr id="4" name="Text 2"/>
          <p:cNvSpPr/>
          <p:nvPr/>
        </p:nvSpPr>
        <p:spPr>
          <a:xfrm>
            <a:off x="841248" y="1097280"/>
            <a:ext cx="10058400" cy="82296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Seeing the suite run</a:t>
            </a:r>
            <a:endParaRPr lang="en-US" sz="3600" dirty="0"/>
          </a:p>
        </p:txBody>
      </p:sp>
      <p:sp>
        <p:nvSpPr>
          <p:cNvPr id="5" name="Shape 3"/>
          <p:cNvSpPr/>
          <p:nvPr/>
        </p:nvSpPr>
        <p:spPr>
          <a:xfrm>
            <a:off x="868680" y="2148840"/>
            <a:ext cx="603504" cy="603504"/>
          </a:xfrm>
          <a:prstGeom prst="roundRect">
            <a:avLst>
              <a:gd name="adj" fmla="val 7576"/>
            </a:avLst>
          </a:prstGeom>
          <a:solidFill>
            <a:srgbClr val="17A398"/>
          </a:solidFill>
          <a:ln/>
        </p:spPr>
      </p:sp>
      <p:sp>
        <p:nvSpPr>
          <p:cNvPr id="6" name="Text 4"/>
          <p:cNvSpPr/>
          <p:nvPr/>
        </p:nvSpPr>
        <p:spPr>
          <a:xfrm>
            <a:off x="868680" y="2148840"/>
            <a:ext cx="603504" cy="603504"/>
          </a:xfrm>
          <a:prstGeom prst="rect">
            <a:avLst/>
          </a:prstGeom>
          <a:noFill/>
          <a:ln/>
        </p:spPr>
        <p:txBody>
          <a:bodyPr wrap="square" lIns="0" tIns="0" rIns="0" bIns="0" rtlCol="0" anchor="ctr"/>
          <a:lstStyle/>
          <a:p>
            <a:pPr algn="ctr" indent="0" marL="0">
              <a:buNone/>
            </a:pPr>
            <a:r>
              <a:rPr lang="en-US" sz="2400" b="1" dirty="0">
                <a:solidFill>
                  <a:srgbClr val="1F3864"/>
                </a:solidFill>
                <a:latin typeface="Trebuchet MS" pitchFamily="34" charset="0"/>
                <a:ea typeface="Trebuchet MS" pitchFamily="34" charset="-122"/>
                <a:cs typeface="Trebuchet MS" pitchFamily="34" charset="-120"/>
              </a:rPr>
              <a:t>1</a:t>
            </a:r>
            <a:endParaRPr lang="en-US" sz="2400" dirty="0"/>
          </a:p>
        </p:txBody>
      </p:sp>
      <p:sp>
        <p:nvSpPr>
          <p:cNvPr id="7" name="Text 5"/>
          <p:cNvSpPr/>
          <p:nvPr/>
        </p:nvSpPr>
        <p:spPr>
          <a:xfrm>
            <a:off x="1691640" y="2112264"/>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Run the suite</a:t>
            </a:r>
            <a:endParaRPr lang="en-US" sz="1700" dirty="0"/>
          </a:p>
        </p:txBody>
      </p:sp>
      <p:sp>
        <p:nvSpPr>
          <p:cNvPr id="8" name="Text 6"/>
          <p:cNvSpPr/>
          <p:nvPr/>
        </p:nvSpPr>
        <p:spPr>
          <a:xfrm>
            <a:off x="1691640" y="2459736"/>
            <a:ext cx="9692640" cy="457200"/>
          </a:xfrm>
          <a:prstGeom prst="rect">
            <a:avLst/>
          </a:prstGeom>
          <a:noFill/>
          <a:ln/>
        </p:spPr>
        <p:txBody>
          <a:bodyPr wrap="square" lIns="0" tIns="0" rIns="0" bIns="0" rtlCol="0" anchor="ctr"/>
          <a:lstStyle/>
          <a:p>
            <a:pPr indent="0" marL="0">
              <a:buNone/>
            </a:pPr>
            <a:r>
              <a:rPr lang="en-US" sz="1250" dirty="0">
                <a:solidFill>
                  <a:srgbClr val="9FB0CE"/>
                </a:solidFill>
                <a:latin typeface="Calibri" pitchFamily="34" charset="0"/>
                <a:ea typeface="Calibri" pitchFamily="34" charset="-122"/>
                <a:cs typeface="Calibri" pitchFamily="34" charset="-120"/>
              </a:rPr>
              <a:t>npm test  -  bddgen compiles the features, then all 33 scenarios run in Chromium</a:t>
            </a:r>
            <a:endParaRPr lang="en-US" sz="1250" dirty="0"/>
          </a:p>
        </p:txBody>
      </p:sp>
      <p:sp>
        <p:nvSpPr>
          <p:cNvPr id="9" name="Shape 7"/>
          <p:cNvSpPr/>
          <p:nvPr/>
        </p:nvSpPr>
        <p:spPr>
          <a:xfrm>
            <a:off x="868680" y="3108960"/>
            <a:ext cx="603504" cy="603504"/>
          </a:xfrm>
          <a:prstGeom prst="roundRect">
            <a:avLst>
              <a:gd name="adj" fmla="val 7576"/>
            </a:avLst>
          </a:prstGeom>
          <a:solidFill>
            <a:srgbClr val="17A398"/>
          </a:solidFill>
          <a:ln/>
        </p:spPr>
      </p:sp>
      <p:sp>
        <p:nvSpPr>
          <p:cNvPr id="10" name="Text 8"/>
          <p:cNvSpPr/>
          <p:nvPr/>
        </p:nvSpPr>
        <p:spPr>
          <a:xfrm>
            <a:off x="868680" y="3108960"/>
            <a:ext cx="603504" cy="603504"/>
          </a:xfrm>
          <a:prstGeom prst="rect">
            <a:avLst/>
          </a:prstGeom>
          <a:noFill/>
          <a:ln/>
        </p:spPr>
        <p:txBody>
          <a:bodyPr wrap="square" lIns="0" tIns="0" rIns="0" bIns="0" rtlCol="0" anchor="ctr"/>
          <a:lstStyle/>
          <a:p>
            <a:pPr algn="ctr" indent="0" marL="0">
              <a:buNone/>
            </a:pPr>
            <a:r>
              <a:rPr lang="en-US" sz="2400" b="1" dirty="0">
                <a:solidFill>
                  <a:srgbClr val="1F3864"/>
                </a:solidFill>
                <a:latin typeface="Trebuchet MS" pitchFamily="34" charset="0"/>
                <a:ea typeface="Trebuchet MS" pitchFamily="34" charset="-122"/>
                <a:cs typeface="Trebuchet MS" pitchFamily="34" charset="-120"/>
              </a:rPr>
              <a:t>2</a:t>
            </a:r>
            <a:endParaRPr lang="en-US" sz="2400" dirty="0"/>
          </a:p>
        </p:txBody>
      </p:sp>
      <p:sp>
        <p:nvSpPr>
          <p:cNvPr id="11" name="Text 9"/>
          <p:cNvSpPr/>
          <p:nvPr/>
        </p:nvSpPr>
        <p:spPr>
          <a:xfrm>
            <a:off x="1691640" y="3072384"/>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Watch a scenario</a:t>
            </a:r>
            <a:endParaRPr lang="en-US" sz="1700" dirty="0"/>
          </a:p>
        </p:txBody>
      </p:sp>
      <p:sp>
        <p:nvSpPr>
          <p:cNvPr id="12" name="Text 10"/>
          <p:cNvSpPr/>
          <p:nvPr/>
        </p:nvSpPr>
        <p:spPr>
          <a:xfrm>
            <a:off x="1691640" y="3419856"/>
            <a:ext cx="9692640" cy="457200"/>
          </a:xfrm>
          <a:prstGeom prst="rect">
            <a:avLst/>
          </a:prstGeom>
          <a:noFill/>
          <a:ln/>
        </p:spPr>
        <p:txBody>
          <a:bodyPr wrap="square" lIns="0" tIns="0" rIns="0" bIns="0" rtlCol="0" anchor="ctr"/>
          <a:lstStyle/>
          <a:p>
            <a:pPr indent="0" marL="0">
              <a:buNone/>
            </a:pPr>
            <a:r>
              <a:rPr lang="en-US" sz="1250" dirty="0">
                <a:solidFill>
                  <a:srgbClr val="9FB0CE"/>
                </a:solidFill>
                <a:latin typeface="Calibri" pitchFamily="34" charset="0"/>
                <a:ea typeface="Calibri" pitchFamily="34" charset="-122"/>
                <a:cs typeface="Calibri" pitchFamily="34" charset="-120"/>
              </a:rPr>
              <a:t>A registration test - the browser fills the form, submits and reads the result</a:t>
            </a:r>
            <a:endParaRPr lang="en-US" sz="1250" dirty="0"/>
          </a:p>
        </p:txBody>
      </p:sp>
      <p:sp>
        <p:nvSpPr>
          <p:cNvPr id="13" name="Shape 11"/>
          <p:cNvSpPr/>
          <p:nvPr/>
        </p:nvSpPr>
        <p:spPr>
          <a:xfrm>
            <a:off x="868680" y="4069080"/>
            <a:ext cx="603504" cy="603504"/>
          </a:xfrm>
          <a:prstGeom prst="roundRect">
            <a:avLst>
              <a:gd name="adj" fmla="val 7576"/>
            </a:avLst>
          </a:prstGeom>
          <a:solidFill>
            <a:srgbClr val="17A398"/>
          </a:solidFill>
          <a:ln/>
        </p:spPr>
      </p:sp>
      <p:sp>
        <p:nvSpPr>
          <p:cNvPr id="14" name="Text 12"/>
          <p:cNvSpPr/>
          <p:nvPr/>
        </p:nvSpPr>
        <p:spPr>
          <a:xfrm>
            <a:off x="868680" y="4069080"/>
            <a:ext cx="603504" cy="603504"/>
          </a:xfrm>
          <a:prstGeom prst="rect">
            <a:avLst/>
          </a:prstGeom>
          <a:noFill/>
          <a:ln/>
        </p:spPr>
        <p:txBody>
          <a:bodyPr wrap="square" lIns="0" tIns="0" rIns="0" bIns="0" rtlCol="0" anchor="ctr"/>
          <a:lstStyle/>
          <a:p>
            <a:pPr algn="ctr" indent="0" marL="0">
              <a:buNone/>
            </a:pPr>
            <a:r>
              <a:rPr lang="en-US" sz="2400" b="1" dirty="0">
                <a:solidFill>
                  <a:srgbClr val="1F3864"/>
                </a:solidFill>
                <a:latin typeface="Trebuchet MS" pitchFamily="34" charset="0"/>
                <a:ea typeface="Trebuchet MS" pitchFamily="34" charset="-122"/>
                <a:cs typeface="Trebuchet MS" pitchFamily="34" charset="-120"/>
              </a:rPr>
              <a:t>3</a:t>
            </a:r>
            <a:endParaRPr lang="en-US" sz="2400" dirty="0"/>
          </a:p>
        </p:txBody>
      </p:sp>
      <p:sp>
        <p:nvSpPr>
          <p:cNvPr id="15" name="Text 13"/>
          <p:cNvSpPr/>
          <p:nvPr/>
        </p:nvSpPr>
        <p:spPr>
          <a:xfrm>
            <a:off x="1691640" y="4032504"/>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Open the report</a:t>
            </a:r>
            <a:endParaRPr lang="en-US" sz="1700" dirty="0"/>
          </a:p>
        </p:txBody>
      </p:sp>
      <p:sp>
        <p:nvSpPr>
          <p:cNvPr id="16" name="Text 14"/>
          <p:cNvSpPr/>
          <p:nvPr/>
        </p:nvSpPr>
        <p:spPr>
          <a:xfrm>
            <a:off x="1691640" y="4379976"/>
            <a:ext cx="9692640" cy="457200"/>
          </a:xfrm>
          <a:prstGeom prst="rect">
            <a:avLst/>
          </a:prstGeom>
          <a:noFill/>
          <a:ln/>
        </p:spPr>
        <p:txBody>
          <a:bodyPr wrap="square" lIns="0" tIns="0" rIns="0" bIns="0" rtlCol="0" anchor="ctr"/>
          <a:lstStyle/>
          <a:p>
            <a:pPr indent="0" marL="0">
              <a:buNone/>
            </a:pPr>
            <a:r>
              <a:rPr lang="en-US" sz="1250" dirty="0">
                <a:solidFill>
                  <a:srgbClr val="9FB0CE"/>
                </a:solidFill>
                <a:latin typeface="Calibri" pitchFamily="34" charset="0"/>
                <a:ea typeface="Calibri" pitchFamily="34" charset="-122"/>
                <a:cs typeface="Calibri" pitchFamily="34" charset="-120"/>
              </a:rPr>
              <a:t>The Monocart HTML report - video, screenshots and trace for every test</a:t>
            </a:r>
            <a:endParaRPr lang="en-US" sz="1250" dirty="0"/>
          </a:p>
        </p:txBody>
      </p:sp>
      <p:sp>
        <p:nvSpPr>
          <p:cNvPr id="17" name="Shape 15"/>
          <p:cNvSpPr/>
          <p:nvPr/>
        </p:nvSpPr>
        <p:spPr>
          <a:xfrm>
            <a:off x="868680" y="5029200"/>
            <a:ext cx="603504" cy="603504"/>
          </a:xfrm>
          <a:prstGeom prst="roundRect">
            <a:avLst>
              <a:gd name="adj" fmla="val 7576"/>
            </a:avLst>
          </a:prstGeom>
          <a:solidFill>
            <a:srgbClr val="17A398"/>
          </a:solidFill>
          <a:ln/>
        </p:spPr>
      </p:sp>
      <p:sp>
        <p:nvSpPr>
          <p:cNvPr id="18" name="Text 16"/>
          <p:cNvSpPr/>
          <p:nvPr/>
        </p:nvSpPr>
        <p:spPr>
          <a:xfrm>
            <a:off x="868680" y="5029200"/>
            <a:ext cx="603504" cy="603504"/>
          </a:xfrm>
          <a:prstGeom prst="rect">
            <a:avLst/>
          </a:prstGeom>
          <a:noFill/>
          <a:ln/>
        </p:spPr>
        <p:txBody>
          <a:bodyPr wrap="square" lIns="0" tIns="0" rIns="0" bIns="0" rtlCol="0" anchor="ctr"/>
          <a:lstStyle/>
          <a:p>
            <a:pPr algn="ctr" indent="0" marL="0">
              <a:buNone/>
            </a:pPr>
            <a:r>
              <a:rPr lang="en-US" sz="2400" b="1" dirty="0">
                <a:solidFill>
                  <a:srgbClr val="1F3864"/>
                </a:solidFill>
                <a:latin typeface="Trebuchet MS" pitchFamily="34" charset="0"/>
                <a:ea typeface="Trebuchet MS" pitchFamily="34" charset="-122"/>
                <a:cs typeface="Trebuchet MS" pitchFamily="34" charset="-120"/>
              </a:rPr>
              <a:t>4</a:t>
            </a:r>
            <a:endParaRPr lang="en-US" sz="2400" dirty="0"/>
          </a:p>
        </p:txBody>
      </p:sp>
      <p:sp>
        <p:nvSpPr>
          <p:cNvPr id="19" name="Text 17"/>
          <p:cNvSpPr/>
          <p:nvPr/>
        </p:nvSpPr>
        <p:spPr>
          <a:xfrm>
            <a:off x="1691640" y="4992624"/>
            <a:ext cx="950976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Review the workbook</a:t>
            </a:r>
            <a:endParaRPr lang="en-US" sz="1700" dirty="0"/>
          </a:p>
        </p:txBody>
      </p:sp>
      <p:sp>
        <p:nvSpPr>
          <p:cNvPr id="20" name="Text 18"/>
          <p:cNvSpPr/>
          <p:nvPr/>
        </p:nvSpPr>
        <p:spPr>
          <a:xfrm>
            <a:off x="1691640" y="5340096"/>
            <a:ext cx="9692640" cy="457200"/>
          </a:xfrm>
          <a:prstGeom prst="rect">
            <a:avLst/>
          </a:prstGeom>
          <a:noFill/>
          <a:ln/>
        </p:spPr>
        <p:txBody>
          <a:bodyPr wrap="square" lIns="0" tIns="0" rIns="0" bIns="0" rtlCol="0" anchor="ctr"/>
          <a:lstStyle/>
          <a:p>
            <a:pPr indent="0" marL="0">
              <a:buNone/>
            </a:pPr>
            <a:r>
              <a:rPr lang="en-US" sz="1250" dirty="0">
                <a:solidFill>
                  <a:srgbClr val="9FB0CE"/>
                </a:solidFill>
                <a:latin typeface="Calibri" pitchFamily="34" charset="0"/>
                <a:ea typeface="Calibri" pitchFamily="34" charset="-122"/>
                <a:cs typeface="Calibri" pitchFamily="34" charset="-120"/>
              </a:rPr>
              <a:t>ParaBank_Test_Cases.xlsx - 33 documented cases mapped to the automation</a:t>
            </a:r>
            <a:endParaRPr lang="en-US" sz="1250" dirty="0"/>
          </a:p>
        </p:txBody>
      </p:sp>
      <p:sp>
        <p:nvSpPr>
          <p:cNvPr id="21" name="Text 19"/>
          <p:cNvSpPr/>
          <p:nvPr/>
        </p:nvSpPr>
        <p:spPr>
          <a:xfrm>
            <a:off x="868680" y="6126480"/>
            <a:ext cx="10515600" cy="365760"/>
          </a:xfrm>
          <a:prstGeom prst="rect">
            <a:avLst/>
          </a:prstGeom>
          <a:noFill/>
          <a:ln/>
        </p:spPr>
        <p:txBody>
          <a:bodyPr wrap="square" rtlCol="0" anchor="ctr"/>
          <a:lstStyle/>
          <a:p>
            <a:pPr indent="0" marL="0">
              <a:buNone/>
            </a:pPr>
            <a:r>
              <a:rPr lang="en-US" sz="1100" i="1" dirty="0">
                <a:solidFill>
                  <a:srgbClr val="17A398"/>
                </a:solidFill>
                <a:latin typeface="Calibri" pitchFamily="34" charset="0"/>
                <a:ea typeface="Calibri" pitchFamily="34" charset="-122"/>
                <a:cs typeface="Calibri" pitchFamily="34" charset="-120"/>
              </a:rPr>
              <a:t>Tip: the recorded run completes in about 2.5 minutes - show it sped up or pre-recorded.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RESULTS</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A clean, fully green run</a:t>
            </a:r>
            <a:endParaRPr lang="en-US" sz="2900" dirty="0"/>
          </a:p>
        </p:txBody>
      </p:sp>
      <p:sp>
        <p:nvSpPr>
          <p:cNvPr id="5" name="Shape 3"/>
          <p:cNvSpPr/>
          <p:nvPr/>
        </p:nvSpPr>
        <p:spPr>
          <a:xfrm>
            <a:off x="548640" y="1737360"/>
            <a:ext cx="2578608" cy="1874520"/>
          </a:xfrm>
          <a:prstGeom prst="roundRect">
            <a:avLst>
              <a:gd name="adj" fmla="val 341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548640" y="1737360"/>
            <a:ext cx="2578608" cy="109728"/>
          </a:xfrm>
          <a:prstGeom prst="rect">
            <a:avLst/>
          </a:prstGeom>
          <a:solidFill>
            <a:srgbClr val="17A398"/>
          </a:solidFill>
          <a:ln/>
        </p:spPr>
      </p:sp>
      <p:sp>
        <p:nvSpPr>
          <p:cNvPr id="7" name="Text 5"/>
          <p:cNvSpPr/>
          <p:nvPr/>
        </p:nvSpPr>
        <p:spPr>
          <a:xfrm>
            <a:off x="548640" y="2011680"/>
            <a:ext cx="2578608" cy="868680"/>
          </a:xfrm>
          <a:prstGeom prst="rect">
            <a:avLst/>
          </a:prstGeom>
          <a:noFill/>
          <a:ln/>
        </p:spPr>
        <p:txBody>
          <a:bodyPr wrap="square" lIns="0" tIns="0" rIns="0" bIns="0" rtlCol="0" anchor="ctr"/>
          <a:lstStyle/>
          <a:p>
            <a:pPr algn="ctr" indent="0" marL="0">
              <a:buNone/>
            </a:pPr>
            <a:r>
              <a:rPr lang="en-US" sz="3800" b="1" dirty="0">
                <a:solidFill>
                  <a:srgbClr val="17A398"/>
                </a:solidFill>
                <a:latin typeface="Trebuchet MS" pitchFamily="34" charset="0"/>
                <a:ea typeface="Trebuchet MS" pitchFamily="34" charset="-122"/>
                <a:cs typeface="Trebuchet MS" pitchFamily="34" charset="-120"/>
              </a:rPr>
              <a:t>33 / 33</a:t>
            </a:r>
            <a:endParaRPr lang="en-US" sz="3800" dirty="0"/>
          </a:p>
        </p:txBody>
      </p:sp>
      <p:sp>
        <p:nvSpPr>
          <p:cNvPr id="8" name="Text 6"/>
          <p:cNvSpPr/>
          <p:nvPr/>
        </p:nvSpPr>
        <p:spPr>
          <a:xfrm>
            <a:off x="548640" y="2907792"/>
            <a:ext cx="2578608" cy="45720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Scenarios passed</a:t>
            </a:r>
            <a:endParaRPr lang="en-US" sz="1250" dirty="0"/>
          </a:p>
        </p:txBody>
      </p:sp>
      <p:sp>
        <p:nvSpPr>
          <p:cNvPr id="9" name="Shape 7"/>
          <p:cNvSpPr/>
          <p:nvPr/>
        </p:nvSpPr>
        <p:spPr>
          <a:xfrm>
            <a:off x="3328416" y="1737360"/>
            <a:ext cx="2578608" cy="1874520"/>
          </a:xfrm>
          <a:prstGeom prst="roundRect">
            <a:avLst>
              <a:gd name="adj" fmla="val 341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0" name="Shape 8"/>
          <p:cNvSpPr/>
          <p:nvPr/>
        </p:nvSpPr>
        <p:spPr>
          <a:xfrm>
            <a:off x="3328416" y="1737360"/>
            <a:ext cx="2578608" cy="109728"/>
          </a:xfrm>
          <a:prstGeom prst="rect">
            <a:avLst/>
          </a:prstGeom>
          <a:solidFill>
            <a:srgbClr val="1F3864"/>
          </a:solidFill>
          <a:ln/>
        </p:spPr>
      </p:sp>
      <p:sp>
        <p:nvSpPr>
          <p:cNvPr id="11" name="Text 9"/>
          <p:cNvSpPr/>
          <p:nvPr/>
        </p:nvSpPr>
        <p:spPr>
          <a:xfrm>
            <a:off x="3328416" y="2011680"/>
            <a:ext cx="2578608" cy="868680"/>
          </a:xfrm>
          <a:prstGeom prst="rect">
            <a:avLst/>
          </a:prstGeom>
          <a:noFill/>
          <a:ln/>
        </p:spPr>
        <p:txBody>
          <a:bodyPr wrap="square" lIns="0" tIns="0" rIns="0" bIns="0" rtlCol="0" anchor="ctr"/>
          <a:lstStyle/>
          <a:p>
            <a:pPr algn="ctr" indent="0" marL="0">
              <a:buNone/>
            </a:pPr>
            <a:r>
              <a:rPr lang="en-US" sz="3800" b="1" dirty="0">
                <a:solidFill>
                  <a:srgbClr val="1F3864"/>
                </a:solidFill>
                <a:latin typeface="Trebuchet MS" pitchFamily="34" charset="0"/>
                <a:ea typeface="Trebuchet MS" pitchFamily="34" charset="-122"/>
                <a:cs typeface="Trebuchet MS" pitchFamily="34" charset="-120"/>
              </a:rPr>
              <a:t>0</a:t>
            </a:r>
            <a:endParaRPr lang="en-US" sz="3800" dirty="0"/>
          </a:p>
        </p:txBody>
      </p:sp>
      <p:sp>
        <p:nvSpPr>
          <p:cNvPr id="12" name="Text 10"/>
          <p:cNvSpPr/>
          <p:nvPr/>
        </p:nvSpPr>
        <p:spPr>
          <a:xfrm>
            <a:off x="3328416" y="2907792"/>
            <a:ext cx="2578608" cy="45720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Failures</a:t>
            </a:r>
            <a:endParaRPr lang="en-US" sz="1250" dirty="0"/>
          </a:p>
        </p:txBody>
      </p:sp>
      <p:sp>
        <p:nvSpPr>
          <p:cNvPr id="13" name="Shape 11"/>
          <p:cNvSpPr/>
          <p:nvPr/>
        </p:nvSpPr>
        <p:spPr>
          <a:xfrm>
            <a:off x="6108192" y="1737360"/>
            <a:ext cx="2578608" cy="1874520"/>
          </a:xfrm>
          <a:prstGeom prst="roundRect">
            <a:avLst>
              <a:gd name="adj" fmla="val 341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4" name="Shape 12"/>
          <p:cNvSpPr/>
          <p:nvPr/>
        </p:nvSpPr>
        <p:spPr>
          <a:xfrm>
            <a:off x="6108192" y="1737360"/>
            <a:ext cx="2578608" cy="109728"/>
          </a:xfrm>
          <a:prstGeom prst="rect">
            <a:avLst/>
          </a:prstGeom>
          <a:solidFill>
            <a:srgbClr val="2F5496"/>
          </a:solidFill>
          <a:ln/>
        </p:spPr>
      </p:sp>
      <p:sp>
        <p:nvSpPr>
          <p:cNvPr id="15" name="Text 13"/>
          <p:cNvSpPr/>
          <p:nvPr/>
        </p:nvSpPr>
        <p:spPr>
          <a:xfrm>
            <a:off x="6108192" y="2011680"/>
            <a:ext cx="2578608" cy="868680"/>
          </a:xfrm>
          <a:prstGeom prst="rect">
            <a:avLst/>
          </a:prstGeom>
          <a:noFill/>
          <a:ln/>
        </p:spPr>
        <p:txBody>
          <a:bodyPr wrap="square" lIns="0" tIns="0" rIns="0" bIns="0" rtlCol="0" anchor="ctr"/>
          <a:lstStyle/>
          <a:p>
            <a:pPr algn="ctr" indent="0" marL="0">
              <a:buNone/>
            </a:pPr>
            <a:r>
              <a:rPr lang="en-US" sz="3800" b="1" dirty="0">
                <a:solidFill>
                  <a:srgbClr val="2F5496"/>
                </a:solidFill>
                <a:latin typeface="Trebuchet MS" pitchFamily="34" charset="0"/>
                <a:ea typeface="Trebuchet MS" pitchFamily="34" charset="-122"/>
                <a:cs typeface="Trebuchet MS" pitchFamily="34" charset="-120"/>
              </a:rPr>
              <a:t>~141 s</a:t>
            </a:r>
            <a:endParaRPr lang="en-US" sz="3800" dirty="0"/>
          </a:p>
        </p:txBody>
      </p:sp>
      <p:sp>
        <p:nvSpPr>
          <p:cNvPr id="16" name="Text 14"/>
          <p:cNvSpPr/>
          <p:nvPr/>
        </p:nvSpPr>
        <p:spPr>
          <a:xfrm>
            <a:off x="6108192" y="2907792"/>
            <a:ext cx="2578608" cy="45720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Full-suite runtime</a:t>
            </a:r>
            <a:endParaRPr lang="en-US" sz="1250" dirty="0"/>
          </a:p>
        </p:txBody>
      </p:sp>
      <p:sp>
        <p:nvSpPr>
          <p:cNvPr id="17" name="Shape 15"/>
          <p:cNvSpPr/>
          <p:nvPr/>
        </p:nvSpPr>
        <p:spPr>
          <a:xfrm>
            <a:off x="8887968" y="1737360"/>
            <a:ext cx="2578608" cy="1874520"/>
          </a:xfrm>
          <a:prstGeom prst="roundRect">
            <a:avLst>
              <a:gd name="adj" fmla="val 341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8" name="Shape 16"/>
          <p:cNvSpPr/>
          <p:nvPr/>
        </p:nvSpPr>
        <p:spPr>
          <a:xfrm>
            <a:off x="8887968" y="1737360"/>
            <a:ext cx="2578608" cy="109728"/>
          </a:xfrm>
          <a:prstGeom prst="rect">
            <a:avLst/>
          </a:prstGeom>
          <a:solidFill>
            <a:srgbClr val="E8A33D"/>
          </a:solidFill>
          <a:ln/>
        </p:spPr>
      </p:sp>
      <p:sp>
        <p:nvSpPr>
          <p:cNvPr id="19" name="Text 17"/>
          <p:cNvSpPr/>
          <p:nvPr/>
        </p:nvSpPr>
        <p:spPr>
          <a:xfrm>
            <a:off x="8887968" y="2011680"/>
            <a:ext cx="2578608" cy="868680"/>
          </a:xfrm>
          <a:prstGeom prst="rect">
            <a:avLst/>
          </a:prstGeom>
          <a:noFill/>
          <a:ln/>
        </p:spPr>
        <p:txBody>
          <a:bodyPr wrap="square" lIns="0" tIns="0" rIns="0" bIns="0" rtlCol="0" anchor="ctr"/>
          <a:lstStyle/>
          <a:p>
            <a:pPr algn="ctr" indent="0" marL="0">
              <a:buNone/>
            </a:pPr>
            <a:r>
              <a:rPr lang="en-US" sz="3800" b="1" dirty="0">
                <a:solidFill>
                  <a:srgbClr val="E8A33D"/>
                </a:solidFill>
                <a:latin typeface="Trebuchet MS" pitchFamily="34" charset="0"/>
                <a:ea typeface="Trebuchet MS" pitchFamily="34" charset="-122"/>
                <a:cs typeface="Trebuchet MS" pitchFamily="34" charset="-120"/>
              </a:rPr>
              <a:t>100%</a:t>
            </a:r>
            <a:endParaRPr lang="en-US" sz="3800" dirty="0"/>
          </a:p>
        </p:txBody>
      </p:sp>
      <p:sp>
        <p:nvSpPr>
          <p:cNvPr id="20" name="Text 18"/>
          <p:cNvSpPr/>
          <p:nvPr/>
        </p:nvSpPr>
        <p:spPr>
          <a:xfrm>
            <a:off x="8887968" y="2907792"/>
            <a:ext cx="2578608" cy="45720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Automated</a:t>
            </a:r>
            <a:endParaRPr lang="en-US" sz="1250" dirty="0"/>
          </a:p>
        </p:txBody>
      </p:sp>
      <p:sp>
        <p:nvSpPr>
          <p:cNvPr id="21" name="Shape 19"/>
          <p:cNvSpPr/>
          <p:nvPr/>
        </p:nvSpPr>
        <p:spPr>
          <a:xfrm>
            <a:off x="548640" y="3840480"/>
            <a:ext cx="11091672" cy="2286000"/>
          </a:xfrm>
          <a:prstGeom prst="roundRect">
            <a:avLst>
              <a:gd name="adj" fmla="val 2800"/>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2" name="Shape 20"/>
          <p:cNvSpPr/>
          <p:nvPr/>
        </p:nvSpPr>
        <p:spPr>
          <a:xfrm>
            <a:off x="548640" y="3840480"/>
            <a:ext cx="109728" cy="2286000"/>
          </a:xfrm>
          <a:prstGeom prst="rect">
            <a:avLst/>
          </a:prstGeom>
          <a:solidFill>
            <a:srgbClr val="17A398"/>
          </a:solidFill>
          <a:ln/>
        </p:spPr>
      </p:sp>
      <p:sp>
        <p:nvSpPr>
          <p:cNvPr id="23" name="Text 21"/>
          <p:cNvSpPr/>
          <p:nvPr/>
        </p:nvSpPr>
        <p:spPr>
          <a:xfrm>
            <a:off x="914400" y="4041648"/>
            <a:ext cx="5486400" cy="274320"/>
          </a:xfrm>
          <a:prstGeom prst="rect">
            <a:avLst/>
          </a:prstGeom>
          <a:noFill/>
          <a:ln/>
        </p:spPr>
        <p:txBody>
          <a:bodyPr wrap="square" rtlCol="0" anchor="ctr"/>
          <a:lstStyle/>
          <a:p>
            <a:pPr indent="0" marL="0">
              <a:buNone/>
            </a:pPr>
            <a:r>
              <a:rPr lang="en-US" sz="1200" b="1" spc="200" kern="0" dirty="0">
                <a:solidFill>
                  <a:srgbClr val="17A398"/>
                </a:solidFill>
                <a:latin typeface="Trebuchet MS" pitchFamily="34" charset="0"/>
                <a:ea typeface="Trebuchet MS" pitchFamily="34" charset="-122"/>
                <a:cs typeface="Trebuchet MS" pitchFamily="34" charset="-120"/>
              </a:rPr>
              <a:t>EXECUTION EVIDENCE</a:t>
            </a:r>
            <a:endParaRPr lang="en-US" sz="1200" dirty="0"/>
          </a:p>
        </p:txBody>
      </p:sp>
      <p:sp>
        <p:nvSpPr>
          <p:cNvPr id="24" name="Text 22"/>
          <p:cNvSpPr/>
          <p:nvPr/>
        </p:nvSpPr>
        <p:spPr>
          <a:xfrm>
            <a:off x="914400" y="4334256"/>
            <a:ext cx="10515600" cy="365760"/>
          </a:xfrm>
          <a:prstGeom prst="rect">
            <a:avLst/>
          </a:prstGeom>
          <a:noFill/>
          <a:ln/>
        </p:spPr>
        <p:txBody>
          <a:bodyPr wrap="square" lIns="0" tIns="0" rIns="0" bIns="0" rtlCol="0" anchor="ctr"/>
          <a:lstStyle/>
          <a:p>
            <a:pPr indent="0" marL="0">
              <a:buNone/>
            </a:pPr>
            <a:r>
              <a:rPr lang="en-US" sz="1350" b="1" dirty="0">
                <a:solidFill>
                  <a:srgbClr val="1F3864"/>
                </a:solidFill>
                <a:latin typeface="Calibri" pitchFamily="34" charset="0"/>
                <a:ea typeface="Calibri" pitchFamily="34" charset="-122"/>
                <a:cs typeface="Calibri" pitchFamily="34" charset="-120"/>
              </a:rPr>
              <a:t>Run on 24 May 2026.  </a:t>
            </a:r>
            <a:pPr indent="0" marL="0">
              <a:buNone/>
            </a:pPr>
            <a:r>
              <a:rPr lang="en-US" sz="1350" dirty="0">
                <a:solidFill>
                  <a:srgbClr val="2A2E3A"/>
                </a:solidFill>
                <a:latin typeface="Calibri" pitchFamily="34" charset="0"/>
                <a:ea typeface="Calibri" pitchFamily="34" charset="-122"/>
                <a:cs typeface="Calibri" pitchFamily="34" charset="-120"/>
              </a:rPr>
              <a:t>Every scenario produces durable proof automatically:</a:t>
            </a:r>
            <a:endParaRPr lang="en-US" sz="1350" dirty="0"/>
          </a:p>
        </p:txBody>
      </p:sp>
      <p:sp>
        <p:nvSpPr>
          <p:cNvPr id="25" name="Shape 23"/>
          <p:cNvSpPr/>
          <p:nvPr/>
        </p:nvSpPr>
        <p:spPr>
          <a:xfrm>
            <a:off x="960120" y="4855464"/>
            <a:ext cx="137160" cy="137160"/>
          </a:xfrm>
          <a:prstGeom prst="ellipse">
            <a:avLst/>
          </a:prstGeom>
          <a:solidFill>
            <a:srgbClr val="E8A33D"/>
          </a:solidFill>
          <a:ln/>
        </p:spPr>
      </p:sp>
      <p:sp>
        <p:nvSpPr>
          <p:cNvPr id="26" name="Text 24"/>
          <p:cNvSpPr/>
          <p:nvPr/>
        </p:nvSpPr>
        <p:spPr>
          <a:xfrm>
            <a:off x="1188720" y="4782312"/>
            <a:ext cx="1005840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Monocart HTML report  </a:t>
            </a:r>
            <a:pPr indent="0" marL="0">
              <a:buNone/>
            </a:pPr>
            <a:r>
              <a:rPr lang="en-US" sz="1200" dirty="0">
                <a:solidFill>
                  <a:srgbClr val="6B7280"/>
                </a:solidFill>
                <a:latin typeface="Calibri" pitchFamily="34" charset="0"/>
                <a:ea typeface="Calibri" pitchFamily="34" charset="-122"/>
                <a:cs typeface="Calibri" pitchFamily="34" charset="-120"/>
              </a:rPr>
              <a:t>- video, screenshots &amp; network trace per test</a:t>
            </a:r>
            <a:endParaRPr lang="en-US" sz="1200" dirty="0"/>
          </a:p>
        </p:txBody>
      </p:sp>
      <p:sp>
        <p:nvSpPr>
          <p:cNvPr id="27" name="Shape 25"/>
          <p:cNvSpPr/>
          <p:nvPr/>
        </p:nvSpPr>
        <p:spPr>
          <a:xfrm>
            <a:off x="960120" y="5248656"/>
            <a:ext cx="137160" cy="137160"/>
          </a:xfrm>
          <a:prstGeom prst="ellipse">
            <a:avLst/>
          </a:prstGeom>
          <a:solidFill>
            <a:srgbClr val="E8A33D"/>
          </a:solidFill>
          <a:ln/>
        </p:spPr>
      </p:sp>
      <p:sp>
        <p:nvSpPr>
          <p:cNvPr id="28" name="Text 26"/>
          <p:cNvSpPr/>
          <p:nvPr/>
        </p:nvSpPr>
        <p:spPr>
          <a:xfrm>
            <a:off x="1188720" y="5175504"/>
            <a:ext cx="1005840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Plain-English summary  </a:t>
            </a:r>
            <a:pPr indent="0" marL="0">
              <a:buNone/>
            </a:pPr>
            <a:r>
              <a:rPr lang="en-US" sz="1200" dirty="0">
                <a:solidFill>
                  <a:srgbClr val="6B7280"/>
                </a:solidFill>
                <a:latin typeface="Calibri" pitchFamily="34" charset="0"/>
                <a:ea typeface="Calibri" pitchFamily="34" charset="-122"/>
                <a:cs typeface="Calibri" pitchFamily="34" charset="-120"/>
              </a:rPr>
              <a:t>- an executive REPORT-SUMMARY for non-technical readers</a:t>
            </a:r>
            <a:endParaRPr lang="en-US" sz="1200" dirty="0"/>
          </a:p>
        </p:txBody>
      </p:sp>
      <p:sp>
        <p:nvSpPr>
          <p:cNvPr id="29" name="Shape 27"/>
          <p:cNvSpPr/>
          <p:nvPr/>
        </p:nvSpPr>
        <p:spPr>
          <a:xfrm>
            <a:off x="960120" y="5641848"/>
            <a:ext cx="137160" cy="137160"/>
          </a:xfrm>
          <a:prstGeom prst="ellipse">
            <a:avLst/>
          </a:prstGeom>
          <a:solidFill>
            <a:srgbClr val="E8A33D"/>
          </a:solidFill>
          <a:ln/>
        </p:spPr>
      </p:sp>
      <p:sp>
        <p:nvSpPr>
          <p:cNvPr id="30" name="Text 28"/>
          <p:cNvSpPr/>
          <p:nvPr/>
        </p:nvSpPr>
        <p:spPr>
          <a:xfrm>
            <a:off x="1188720" y="5568696"/>
            <a:ext cx="10058400" cy="329184"/>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Execution logs  </a:t>
            </a:r>
            <a:pPr indent="0" marL="0">
              <a:buNone/>
            </a:pPr>
            <a:r>
              <a:rPr lang="en-US" sz="1200" dirty="0">
                <a:solidFill>
                  <a:srgbClr val="6B7280"/>
                </a:solidFill>
                <a:latin typeface="Calibri" pitchFamily="34" charset="0"/>
                <a:ea typeface="Calibri" pitchFamily="34" charset="-122"/>
                <a:cs typeface="Calibri" pitchFamily="34" charset="-120"/>
              </a:rPr>
              <a:t>- post-login balance, performance timings &amp; security notes</a:t>
            </a:r>
            <a:endParaRPr lang="en-US" sz="1200" dirty="0"/>
          </a:p>
        </p:txBody>
      </p:sp>
      <p:sp>
        <p:nvSpPr>
          <p:cNvPr id="31" name="Text 29"/>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32" name="Text 30"/>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SECURITY FINDING</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The suite caught a real defect</a:t>
            </a:r>
            <a:endParaRPr lang="en-US" sz="2900" dirty="0"/>
          </a:p>
        </p:txBody>
      </p:sp>
      <p:sp>
        <p:nvSpPr>
          <p:cNvPr id="5" name="Shape 3"/>
          <p:cNvSpPr/>
          <p:nvPr/>
        </p:nvSpPr>
        <p:spPr>
          <a:xfrm>
            <a:off x="548640" y="1691640"/>
            <a:ext cx="11091672" cy="1143000"/>
          </a:xfrm>
          <a:prstGeom prst="roundRect">
            <a:avLst>
              <a:gd name="adj" fmla="val 5600"/>
            </a:avLst>
          </a:prstGeom>
          <a:solidFill>
            <a:srgbClr val="FCEEE9"/>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548640" y="1691640"/>
            <a:ext cx="109728" cy="1143000"/>
          </a:xfrm>
          <a:prstGeom prst="rect">
            <a:avLst/>
          </a:prstGeom>
          <a:solidFill>
            <a:srgbClr val="B12A2A"/>
          </a:solidFill>
          <a:ln/>
        </p:spPr>
      </p:sp>
      <p:sp>
        <p:nvSpPr>
          <p:cNvPr id="7" name="Text 5"/>
          <p:cNvSpPr/>
          <p:nvPr/>
        </p:nvSpPr>
        <p:spPr>
          <a:xfrm>
            <a:off x="868680" y="1691640"/>
            <a:ext cx="1371600" cy="1143000"/>
          </a:xfrm>
          <a:prstGeom prst="rect">
            <a:avLst/>
          </a:prstGeom>
          <a:noFill/>
          <a:ln/>
        </p:spPr>
        <p:txBody>
          <a:bodyPr wrap="square" lIns="0" tIns="0" rIns="0" bIns="0" rtlCol="0" anchor="ctr"/>
          <a:lstStyle/>
          <a:p>
            <a:pPr indent="0" marL="0">
              <a:buNone/>
            </a:pPr>
            <a:r>
              <a:rPr lang="en-US" sz="2400" b="1" dirty="0">
                <a:solidFill>
                  <a:srgbClr val="B12A2A"/>
                </a:solidFill>
                <a:latin typeface="Trebuchet MS" pitchFamily="34" charset="0"/>
                <a:ea typeface="Trebuchet MS" pitchFamily="34" charset="-122"/>
                <a:cs typeface="Trebuchet MS" pitchFamily="34" charset="-120"/>
              </a:rPr>
              <a:t>TC-019</a:t>
            </a:r>
            <a:endParaRPr lang="en-US" sz="2400" dirty="0"/>
          </a:p>
        </p:txBody>
      </p:sp>
      <p:sp>
        <p:nvSpPr>
          <p:cNvPr id="8" name="Text 6"/>
          <p:cNvSpPr/>
          <p:nvPr/>
        </p:nvSpPr>
        <p:spPr>
          <a:xfrm>
            <a:off x="2286000" y="1691640"/>
            <a:ext cx="9144000" cy="1143000"/>
          </a:xfrm>
          <a:prstGeom prst="rect">
            <a:avLst/>
          </a:prstGeom>
          <a:noFill/>
          <a:ln/>
        </p:spPr>
        <p:txBody>
          <a:bodyPr wrap="square" lIns="0" tIns="0" rIns="0" bIns="0" rtlCol="0" anchor="ctr"/>
          <a:lstStyle/>
          <a:p>
            <a:pPr indent="0" marL="0">
              <a:spcAft>
                <a:spcPts val="500"/>
              </a:spcAft>
              <a:buNone/>
            </a:pPr>
            <a:r>
              <a:rPr lang="en-US" sz="1500" b="1" dirty="0">
                <a:solidFill>
                  <a:srgbClr val="1F3864"/>
                </a:solidFill>
                <a:latin typeface="Calibri" pitchFamily="34" charset="0"/>
                <a:ea typeface="Calibri" pitchFamily="34" charset="-122"/>
                <a:cs typeface="Calibri" pitchFamily="34" charset="-120"/>
              </a:rPr>
              <a:t>Stored XSS / HTML injection in the registration first-name field.</a:t>
            </a:r>
            <a:endParaRPr lang="en-US" sz="1500" dirty="0"/>
          </a:p>
          <a:p>
            <a:pPr indent="0" marL="0">
              <a:buNone/>
            </a:pPr>
            <a:r>
              <a:rPr lang="en-US" sz="1250" dirty="0">
                <a:solidFill>
                  <a:srgbClr val="2A2E3A"/>
                </a:solidFill>
                <a:latin typeface="Calibri" pitchFamily="34" charset="0"/>
                <a:ea typeface="Calibri" pitchFamily="34" charset="-122"/>
                <a:cs typeface="Calibri" pitchFamily="34" charset="-120"/>
              </a:rPr>
              <a:t>ParaBank renders the first name without escaping - injected markup becomes live page content.</a:t>
            </a:r>
            <a:endParaRPr lang="en-US" sz="1500" dirty="0"/>
          </a:p>
        </p:txBody>
      </p:sp>
      <p:sp>
        <p:nvSpPr>
          <p:cNvPr id="9" name="Shape 7"/>
          <p:cNvSpPr/>
          <p:nvPr/>
        </p:nvSpPr>
        <p:spPr>
          <a:xfrm>
            <a:off x="548640" y="3063240"/>
            <a:ext cx="5394960" cy="2743200"/>
          </a:xfrm>
          <a:prstGeom prst="roundRect">
            <a:avLst>
              <a:gd name="adj" fmla="val 2333"/>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0" name="Text 8"/>
          <p:cNvSpPr/>
          <p:nvPr/>
        </p:nvSpPr>
        <p:spPr>
          <a:xfrm>
            <a:off x="822960" y="3291840"/>
            <a:ext cx="4846320" cy="274320"/>
          </a:xfrm>
          <a:prstGeom prst="rect">
            <a:avLst/>
          </a:prstGeom>
          <a:noFill/>
          <a:ln/>
        </p:spPr>
        <p:txBody>
          <a:bodyPr wrap="square" rtlCol="0" anchor="ctr"/>
          <a:lstStyle/>
          <a:p>
            <a:pPr indent="0" marL="0">
              <a:buNone/>
            </a:pPr>
            <a:r>
              <a:rPr lang="en-US" sz="1150" b="1" spc="150" kern="0" dirty="0">
                <a:solidFill>
                  <a:srgbClr val="17A398"/>
                </a:solidFill>
                <a:latin typeface="Trebuchet MS" pitchFamily="34" charset="0"/>
                <a:ea typeface="Trebuchet MS" pitchFamily="34" charset="-122"/>
                <a:cs typeface="Trebuchet MS" pitchFamily="34" charset="-120"/>
              </a:rPr>
              <a:t>HOW THE TEST HANDLES IT</a:t>
            </a:r>
            <a:endParaRPr lang="en-US" sz="1150" dirty="0"/>
          </a:p>
        </p:txBody>
      </p:sp>
      <p:sp>
        <p:nvSpPr>
          <p:cNvPr id="11" name="Text 9"/>
          <p:cNvSpPr/>
          <p:nvPr/>
        </p:nvSpPr>
        <p:spPr>
          <a:xfrm>
            <a:off x="822960" y="3611880"/>
            <a:ext cx="4892040" cy="2103120"/>
          </a:xfrm>
          <a:prstGeom prst="rect">
            <a:avLst/>
          </a:prstGeom>
          <a:noFill/>
          <a:ln/>
        </p:spPr>
        <p:txBody>
          <a:bodyPr wrap="square" lIns="0" tIns="0" rIns="0" bIns="0" rtlCol="0" anchor="ctr"/>
          <a:lstStyle/>
          <a:p>
            <a:pPr indent="0" marL="0">
              <a:spcAft>
                <a:spcPts val="600"/>
              </a:spcAft>
              <a:buNone/>
            </a:pPr>
            <a:r>
              <a:rPr lang="en-US" sz="1250" b="1" dirty="0">
                <a:solidFill>
                  <a:srgbClr val="1F3864"/>
                </a:solidFill>
                <a:latin typeface="Calibri" pitchFamily="34" charset="0"/>
                <a:ea typeface="Calibri" pitchFamily="34" charset="-122"/>
                <a:cs typeface="Calibri" pitchFamily="34" charset="-120"/>
              </a:rPr>
              <a:t>The test asserts the secure expectation</a:t>
            </a:r>
            <a:endParaRPr lang="en-US" sz="1250" dirty="0"/>
          </a:p>
          <a:p>
            <a:pPr indent="0" marL="0">
              <a:spcAft>
                <a:spcPts val="1000"/>
              </a:spcAft>
              <a:buNone/>
            </a:pPr>
            <a:r>
              <a:rPr lang="en-US" sz="1250" dirty="0">
                <a:solidFill>
                  <a:srgbClr val="2A2E3A"/>
                </a:solidFill>
                <a:latin typeface="Calibri" pitchFamily="34" charset="0"/>
                <a:ea typeface="Calibri" pitchFamily="34" charset="-122"/>
                <a:cs typeface="Calibri" pitchFamily="34" charset="-120"/>
              </a:rPr>
              <a:t>- injected markup must be neutralised. Because ParaBank is vulnerable, that check fails.</a:t>
            </a:r>
            <a:endParaRPr lang="en-US" sz="1250" dirty="0"/>
          </a:p>
          <a:p>
            <a:pPr indent="0" marL="0">
              <a:spcAft>
                <a:spcPts val="600"/>
              </a:spcAft>
              <a:buNone/>
            </a:pPr>
            <a:r>
              <a:rPr lang="en-US" sz="1250" b="1" dirty="0">
                <a:solidFill>
                  <a:srgbClr val="17A398"/>
                </a:solidFill>
                <a:latin typeface="Calibri" pitchFamily="34" charset="0"/>
                <a:ea typeface="Calibri" pitchFamily="34" charset="-122"/>
                <a:cs typeface="Calibri" pitchFamily="34" charset="-120"/>
              </a:rPr>
              <a:t>Tagged @fail</a:t>
            </a:r>
            <a:endParaRPr lang="en-US" sz="1250" dirty="0"/>
          </a:p>
          <a:p>
            <a:pPr indent="0" marL="0">
              <a:buNone/>
            </a:pPr>
            <a:r>
              <a:rPr lang="en-US" sz="1250" dirty="0">
                <a:solidFill>
                  <a:srgbClr val="2A2E3A"/>
                </a:solidFill>
                <a:latin typeface="Calibri" pitchFamily="34" charset="0"/>
                <a:ea typeface="Calibri" pitchFamily="34" charset="-122"/>
                <a:cs typeface="Calibri" pitchFamily="34" charset="-120"/>
              </a:rPr>
              <a:t>- it is recorded as an expected failure, so the defect is tracked without breaking the suite.</a:t>
            </a:r>
            <a:endParaRPr lang="en-US" sz="1250" dirty="0"/>
          </a:p>
        </p:txBody>
      </p:sp>
      <p:sp>
        <p:nvSpPr>
          <p:cNvPr id="12" name="Shape 10"/>
          <p:cNvSpPr/>
          <p:nvPr/>
        </p:nvSpPr>
        <p:spPr>
          <a:xfrm>
            <a:off x="6126480" y="3063240"/>
            <a:ext cx="5513832" cy="2743200"/>
          </a:xfrm>
          <a:prstGeom prst="roundRect">
            <a:avLst>
              <a:gd name="adj" fmla="val 2333"/>
            </a:avLst>
          </a:prstGeom>
          <a:solidFill>
            <a:srgbClr val="1F3864"/>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3" name="Text 11"/>
          <p:cNvSpPr/>
          <p:nvPr/>
        </p:nvSpPr>
        <p:spPr>
          <a:xfrm>
            <a:off x="6400800" y="3291840"/>
            <a:ext cx="4846320" cy="274320"/>
          </a:xfrm>
          <a:prstGeom prst="rect">
            <a:avLst/>
          </a:prstGeom>
          <a:noFill/>
          <a:ln/>
        </p:spPr>
        <p:txBody>
          <a:bodyPr wrap="square" rtlCol="0" anchor="ctr"/>
          <a:lstStyle/>
          <a:p>
            <a:pPr indent="0" marL="0">
              <a:buNone/>
            </a:pPr>
            <a:r>
              <a:rPr lang="en-US" sz="1150" b="1" spc="150" kern="0" dirty="0">
                <a:solidFill>
                  <a:srgbClr val="17A398"/>
                </a:solidFill>
                <a:latin typeface="Trebuchet MS" pitchFamily="34" charset="0"/>
                <a:ea typeface="Trebuchet MS" pitchFamily="34" charset="-122"/>
                <a:cs typeface="Trebuchet MS" pitchFamily="34" charset="-120"/>
              </a:rPr>
              <a:t>WHY THIS MATTERS</a:t>
            </a:r>
            <a:endParaRPr lang="en-US" sz="1150" dirty="0"/>
          </a:p>
        </p:txBody>
      </p:sp>
      <p:sp>
        <p:nvSpPr>
          <p:cNvPr id="14" name="Text 12"/>
          <p:cNvSpPr/>
          <p:nvPr/>
        </p:nvSpPr>
        <p:spPr>
          <a:xfrm>
            <a:off x="6400800" y="3611880"/>
            <a:ext cx="4983480" cy="2103120"/>
          </a:xfrm>
          <a:prstGeom prst="rect">
            <a:avLst/>
          </a:prstGeom>
          <a:noFill/>
          <a:ln/>
        </p:spPr>
        <p:txBody>
          <a:bodyPr wrap="square" lIns="0" tIns="0" rIns="0" bIns="0" rtlCol="0" anchor="ctr"/>
          <a:lstStyle/>
          <a:p>
            <a:pPr indent="0" marL="0">
              <a:spcAft>
                <a:spcPts val="1000"/>
              </a:spcAft>
              <a:buNone/>
            </a:pPr>
            <a:r>
              <a:rPr lang="en-US" sz="1400" b="1" dirty="0">
                <a:solidFill>
                  <a:srgbClr val="FFFFFF"/>
                </a:solidFill>
                <a:latin typeface="Calibri" pitchFamily="34" charset="0"/>
                <a:ea typeface="Calibri" pitchFamily="34" charset="-122"/>
                <a:cs typeface="Calibri" pitchFamily="34" charset="-120"/>
              </a:rPr>
              <a:t>A security test that finds a genuine vulnerability is doing its job.</a:t>
            </a:r>
            <a:endParaRPr lang="en-US" sz="1400" dirty="0"/>
          </a:p>
          <a:p>
            <a:pPr indent="0" marL="0">
              <a:buNone/>
            </a:pPr>
            <a:r>
              <a:rPr lang="en-US" sz="1250" dirty="0">
                <a:solidFill>
                  <a:srgbClr val="C7D2E8"/>
                </a:solidFill>
                <a:latin typeface="Calibri" pitchFamily="34" charset="0"/>
                <a:ea typeface="Calibri" pitchFamily="34" charset="-122"/>
                <a:cs typeface="Calibri" pitchFamily="34" charset="-120"/>
              </a:rPr>
              <a:t>The finding is documented in the test case workbook and the test plan as a known defect - honest, traceable, and clearly separated from a false alarm.</a:t>
            </a:r>
            <a:endParaRPr lang="en-US" sz="1400" dirty="0"/>
          </a:p>
        </p:txBody>
      </p:sp>
      <p:sp>
        <p:nvSpPr>
          <p:cNvPr id="15" name="Text 13"/>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16" name="Text 14"/>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548640" y="521208"/>
            <a:ext cx="155448" cy="155448"/>
          </a:xfrm>
          <a:prstGeom prst="rect">
            <a:avLst/>
          </a:prstGeom>
          <a:solidFill>
            <a:srgbClr val="17A398"/>
          </a:solidFill>
          <a:ln/>
        </p:spPr>
      </p:sp>
      <p:sp>
        <p:nvSpPr>
          <p:cNvPr id="3" name="Text 1"/>
          <p:cNvSpPr/>
          <p:nvPr/>
        </p:nvSpPr>
        <p:spPr>
          <a:xfrm>
            <a:off x="786384" y="420624"/>
            <a:ext cx="10058400" cy="310896"/>
          </a:xfrm>
          <a:prstGeom prst="rect">
            <a:avLst/>
          </a:prstGeom>
          <a:noFill/>
          <a:ln/>
        </p:spPr>
        <p:txBody>
          <a:bodyPr wrap="square" lIns="0" tIns="0" rIns="0" bIns="0" rtlCol="0" anchor="ctr"/>
          <a:lstStyle/>
          <a:p>
            <a:pPr indent="0" marL="0">
              <a:buNone/>
            </a:pPr>
            <a:r>
              <a:rPr lang="en-US" sz="1100" b="1" spc="300" kern="0" dirty="0">
                <a:solidFill>
                  <a:srgbClr val="17A398"/>
                </a:solidFill>
                <a:latin typeface="Trebuchet MS" pitchFamily="34" charset="0"/>
                <a:ea typeface="Trebuchet MS" pitchFamily="34" charset="-122"/>
                <a:cs typeface="Trebuchet MS" pitchFamily="34" charset="-120"/>
              </a:rPr>
              <a:t>DELIVERABLES</a:t>
            </a:r>
            <a:endParaRPr lang="en-US" sz="1100" dirty="0"/>
          </a:p>
        </p:txBody>
      </p:sp>
      <p:sp>
        <p:nvSpPr>
          <p:cNvPr id="4" name="Text 2"/>
          <p:cNvSpPr/>
          <p:nvPr/>
        </p:nvSpPr>
        <p:spPr>
          <a:xfrm>
            <a:off x="530352" y="676656"/>
            <a:ext cx="11064240" cy="658368"/>
          </a:xfrm>
          <a:prstGeom prst="rect">
            <a:avLst/>
          </a:prstGeom>
          <a:noFill/>
          <a:ln/>
        </p:spPr>
        <p:txBody>
          <a:bodyPr wrap="square" lIns="0" tIns="0" rIns="0" bIns="0" rtlCol="0" anchor="ctr"/>
          <a:lstStyle/>
          <a:p>
            <a:pPr indent="0" marL="0">
              <a:buNone/>
            </a:pPr>
            <a:r>
              <a:rPr lang="en-US" sz="2900" b="1" dirty="0">
                <a:solidFill>
                  <a:srgbClr val="1F3864"/>
                </a:solidFill>
                <a:latin typeface="Trebuchet MS" pitchFamily="34" charset="0"/>
                <a:ea typeface="Trebuchet MS" pitchFamily="34" charset="-122"/>
                <a:cs typeface="Trebuchet MS" pitchFamily="34" charset="-120"/>
              </a:rPr>
              <a:t>Everything that ships</a:t>
            </a:r>
            <a:endParaRPr lang="en-US" sz="2900" dirty="0"/>
          </a:p>
        </p:txBody>
      </p:sp>
      <p:sp>
        <p:nvSpPr>
          <p:cNvPr id="5" name="Shape 3"/>
          <p:cNvSpPr/>
          <p:nvPr/>
        </p:nvSpPr>
        <p:spPr>
          <a:xfrm>
            <a:off x="548640" y="178308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6" name="Shape 4"/>
          <p:cNvSpPr/>
          <p:nvPr/>
        </p:nvSpPr>
        <p:spPr>
          <a:xfrm>
            <a:off x="777240" y="2002536"/>
            <a:ext cx="457200" cy="457200"/>
          </a:xfrm>
          <a:prstGeom prst="roundRect">
            <a:avLst>
              <a:gd name="adj" fmla="val 50000"/>
            </a:avLst>
          </a:prstGeom>
          <a:solidFill>
            <a:srgbClr val="17A398"/>
          </a:solidFill>
          <a:ln/>
        </p:spPr>
      </p:sp>
      <p:sp>
        <p:nvSpPr>
          <p:cNvPr id="7" name="Text 5"/>
          <p:cNvSpPr/>
          <p:nvPr/>
        </p:nvSpPr>
        <p:spPr>
          <a:xfrm>
            <a:off x="777240" y="20025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1</a:t>
            </a:r>
            <a:endParaRPr lang="en-US" sz="1700" dirty="0"/>
          </a:p>
        </p:txBody>
      </p:sp>
      <p:sp>
        <p:nvSpPr>
          <p:cNvPr id="8" name="Text 6"/>
          <p:cNvSpPr/>
          <p:nvPr/>
        </p:nvSpPr>
        <p:spPr>
          <a:xfrm>
            <a:off x="1371600" y="198424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Automation suite</a:t>
            </a:r>
            <a:endParaRPr lang="en-US" sz="1400" dirty="0"/>
          </a:p>
        </p:txBody>
      </p:sp>
      <p:sp>
        <p:nvSpPr>
          <p:cNvPr id="9" name="Text 7"/>
          <p:cNvSpPr/>
          <p:nvPr/>
        </p:nvSpPr>
        <p:spPr>
          <a:xfrm>
            <a:off x="795528" y="245973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6 feature files, 5 page objects, 33 scenarios</a:t>
            </a:r>
            <a:endParaRPr lang="en-US" sz="1100" dirty="0"/>
          </a:p>
        </p:txBody>
      </p:sp>
      <p:sp>
        <p:nvSpPr>
          <p:cNvPr id="10" name="Shape 8"/>
          <p:cNvSpPr/>
          <p:nvPr/>
        </p:nvSpPr>
        <p:spPr>
          <a:xfrm>
            <a:off x="4270248" y="178308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1" name="Shape 9"/>
          <p:cNvSpPr/>
          <p:nvPr/>
        </p:nvSpPr>
        <p:spPr>
          <a:xfrm>
            <a:off x="4498848" y="2002536"/>
            <a:ext cx="457200" cy="457200"/>
          </a:xfrm>
          <a:prstGeom prst="roundRect">
            <a:avLst>
              <a:gd name="adj" fmla="val 50000"/>
            </a:avLst>
          </a:prstGeom>
          <a:solidFill>
            <a:srgbClr val="17A398"/>
          </a:solidFill>
          <a:ln/>
        </p:spPr>
      </p:sp>
      <p:sp>
        <p:nvSpPr>
          <p:cNvPr id="12" name="Text 10"/>
          <p:cNvSpPr/>
          <p:nvPr/>
        </p:nvSpPr>
        <p:spPr>
          <a:xfrm>
            <a:off x="4498848" y="20025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2</a:t>
            </a:r>
            <a:endParaRPr lang="en-US" sz="1700" dirty="0"/>
          </a:p>
        </p:txBody>
      </p:sp>
      <p:sp>
        <p:nvSpPr>
          <p:cNvPr id="13" name="Text 11"/>
          <p:cNvSpPr/>
          <p:nvPr/>
        </p:nvSpPr>
        <p:spPr>
          <a:xfrm>
            <a:off x="5093208" y="198424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Test case workbook</a:t>
            </a:r>
            <a:endParaRPr lang="en-US" sz="1400" dirty="0"/>
          </a:p>
        </p:txBody>
      </p:sp>
      <p:sp>
        <p:nvSpPr>
          <p:cNvPr id="14" name="Text 12"/>
          <p:cNvSpPr/>
          <p:nvPr/>
        </p:nvSpPr>
        <p:spPr>
          <a:xfrm>
            <a:off x="4517136" y="245973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ParaBank_Test_Cases.xlsx - 33 cases, 5 sheets</a:t>
            </a:r>
            <a:endParaRPr lang="en-US" sz="1100" dirty="0"/>
          </a:p>
        </p:txBody>
      </p:sp>
      <p:sp>
        <p:nvSpPr>
          <p:cNvPr id="15" name="Shape 13"/>
          <p:cNvSpPr/>
          <p:nvPr/>
        </p:nvSpPr>
        <p:spPr>
          <a:xfrm>
            <a:off x="7991856" y="178308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16" name="Shape 14"/>
          <p:cNvSpPr/>
          <p:nvPr/>
        </p:nvSpPr>
        <p:spPr>
          <a:xfrm>
            <a:off x="8220456" y="2002536"/>
            <a:ext cx="457200" cy="457200"/>
          </a:xfrm>
          <a:prstGeom prst="roundRect">
            <a:avLst>
              <a:gd name="adj" fmla="val 50000"/>
            </a:avLst>
          </a:prstGeom>
          <a:solidFill>
            <a:srgbClr val="17A398"/>
          </a:solidFill>
          <a:ln/>
        </p:spPr>
      </p:sp>
      <p:sp>
        <p:nvSpPr>
          <p:cNvPr id="17" name="Text 15"/>
          <p:cNvSpPr/>
          <p:nvPr/>
        </p:nvSpPr>
        <p:spPr>
          <a:xfrm>
            <a:off x="8220456" y="200253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3</a:t>
            </a:r>
            <a:endParaRPr lang="en-US" sz="1700" dirty="0"/>
          </a:p>
        </p:txBody>
      </p:sp>
      <p:sp>
        <p:nvSpPr>
          <p:cNvPr id="18" name="Text 16"/>
          <p:cNvSpPr/>
          <p:nvPr/>
        </p:nvSpPr>
        <p:spPr>
          <a:xfrm>
            <a:off x="8814816" y="198424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Test plan</a:t>
            </a:r>
            <a:endParaRPr lang="en-US" sz="1400" dirty="0"/>
          </a:p>
        </p:txBody>
      </p:sp>
      <p:sp>
        <p:nvSpPr>
          <p:cNvPr id="19" name="Text 17"/>
          <p:cNvSpPr/>
          <p:nvPr/>
        </p:nvSpPr>
        <p:spPr>
          <a:xfrm>
            <a:off x="8238744" y="245973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Scope, approach, environment &amp; risks</a:t>
            </a:r>
            <a:endParaRPr lang="en-US" sz="1100" dirty="0"/>
          </a:p>
        </p:txBody>
      </p:sp>
      <p:sp>
        <p:nvSpPr>
          <p:cNvPr id="20" name="Shape 18"/>
          <p:cNvSpPr/>
          <p:nvPr/>
        </p:nvSpPr>
        <p:spPr>
          <a:xfrm>
            <a:off x="548640" y="320040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1" name="Shape 19"/>
          <p:cNvSpPr/>
          <p:nvPr/>
        </p:nvSpPr>
        <p:spPr>
          <a:xfrm>
            <a:off x="777240" y="3419856"/>
            <a:ext cx="457200" cy="457200"/>
          </a:xfrm>
          <a:prstGeom prst="roundRect">
            <a:avLst>
              <a:gd name="adj" fmla="val 50000"/>
            </a:avLst>
          </a:prstGeom>
          <a:solidFill>
            <a:srgbClr val="17A398"/>
          </a:solidFill>
          <a:ln/>
        </p:spPr>
      </p:sp>
      <p:sp>
        <p:nvSpPr>
          <p:cNvPr id="22" name="Text 20"/>
          <p:cNvSpPr/>
          <p:nvPr/>
        </p:nvSpPr>
        <p:spPr>
          <a:xfrm>
            <a:off x="777240" y="34198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4</a:t>
            </a:r>
            <a:endParaRPr lang="en-US" sz="1700" dirty="0"/>
          </a:p>
        </p:txBody>
      </p:sp>
      <p:sp>
        <p:nvSpPr>
          <p:cNvPr id="23" name="Text 21"/>
          <p:cNvSpPr/>
          <p:nvPr/>
        </p:nvSpPr>
        <p:spPr>
          <a:xfrm>
            <a:off x="1371600" y="340156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GitHub repository</a:t>
            </a:r>
            <a:endParaRPr lang="en-US" sz="1400" dirty="0"/>
          </a:p>
        </p:txBody>
      </p:sp>
      <p:sp>
        <p:nvSpPr>
          <p:cNvPr id="24" name="Text 22"/>
          <p:cNvSpPr/>
          <p:nvPr/>
        </p:nvSpPr>
        <p:spPr>
          <a:xfrm>
            <a:off x="795528" y="387705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Incremental commit history, clear messages</a:t>
            </a:r>
            <a:endParaRPr lang="en-US" sz="1100" dirty="0"/>
          </a:p>
        </p:txBody>
      </p:sp>
      <p:sp>
        <p:nvSpPr>
          <p:cNvPr id="25" name="Shape 23"/>
          <p:cNvSpPr/>
          <p:nvPr/>
        </p:nvSpPr>
        <p:spPr>
          <a:xfrm>
            <a:off x="4270248" y="320040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26" name="Shape 24"/>
          <p:cNvSpPr/>
          <p:nvPr/>
        </p:nvSpPr>
        <p:spPr>
          <a:xfrm>
            <a:off x="4498848" y="3419856"/>
            <a:ext cx="457200" cy="457200"/>
          </a:xfrm>
          <a:prstGeom prst="roundRect">
            <a:avLst>
              <a:gd name="adj" fmla="val 50000"/>
            </a:avLst>
          </a:prstGeom>
          <a:solidFill>
            <a:srgbClr val="17A398"/>
          </a:solidFill>
          <a:ln/>
        </p:spPr>
      </p:sp>
      <p:sp>
        <p:nvSpPr>
          <p:cNvPr id="27" name="Text 25"/>
          <p:cNvSpPr/>
          <p:nvPr/>
        </p:nvSpPr>
        <p:spPr>
          <a:xfrm>
            <a:off x="4498848" y="34198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5</a:t>
            </a:r>
            <a:endParaRPr lang="en-US" sz="1700" dirty="0"/>
          </a:p>
        </p:txBody>
      </p:sp>
      <p:sp>
        <p:nvSpPr>
          <p:cNvPr id="28" name="Text 26"/>
          <p:cNvSpPr/>
          <p:nvPr/>
        </p:nvSpPr>
        <p:spPr>
          <a:xfrm>
            <a:off x="5093208" y="340156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CI pipeline</a:t>
            </a:r>
            <a:endParaRPr lang="en-US" sz="1400" dirty="0"/>
          </a:p>
        </p:txBody>
      </p:sp>
      <p:sp>
        <p:nvSpPr>
          <p:cNvPr id="29" name="Text 27"/>
          <p:cNvSpPr/>
          <p:nvPr/>
        </p:nvSpPr>
        <p:spPr>
          <a:xfrm>
            <a:off x="4517136" y="387705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GitHub Actions runs the suite on every push</a:t>
            </a:r>
            <a:endParaRPr lang="en-US" sz="1100" dirty="0"/>
          </a:p>
        </p:txBody>
      </p:sp>
      <p:sp>
        <p:nvSpPr>
          <p:cNvPr id="30" name="Shape 28"/>
          <p:cNvSpPr/>
          <p:nvPr/>
        </p:nvSpPr>
        <p:spPr>
          <a:xfrm>
            <a:off x="7991856" y="3200400"/>
            <a:ext cx="3520440" cy="1234440"/>
          </a:xfrm>
          <a:prstGeom prst="roundRect">
            <a:avLst>
              <a:gd name="adj" fmla="val 5185"/>
            </a:avLst>
          </a:prstGeom>
          <a:solidFill>
            <a:srgbClr val="FFFFFF"/>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1" name="Shape 29"/>
          <p:cNvSpPr/>
          <p:nvPr/>
        </p:nvSpPr>
        <p:spPr>
          <a:xfrm>
            <a:off x="8220456" y="3419856"/>
            <a:ext cx="457200" cy="457200"/>
          </a:xfrm>
          <a:prstGeom prst="roundRect">
            <a:avLst>
              <a:gd name="adj" fmla="val 50000"/>
            </a:avLst>
          </a:prstGeom>
          <a:solidFill>
            <a:srgbClr val="17A398"/>
          </a:solidFill>
          <a:ln/>
        </p:spPr>
      </p:sp>
      <p:sp>
        <p:nvSpPr>
          <p:cNvPr id="32" name="Text 30"/>
          <p:cNvSpPr/>
          <p:nvPr/>
        </p:nvSpPr>
        <p:spPr>
          <a:xfrm>
            <a:off x="8220456" y="34198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rebuchet MS" pitchFamily="34" charset="0"/>
                <a:ea typeface="Trebuchet MS" pitchFamily="34" charset="-122"/>
                <a:cs typeface="Trebuchet MS" pitchFamily="34" charset="-120"/>
              </a:rPr>
              <a:t>6</a:t>
            </a:r>
            <a:endParaRPr lang="en-US" sz="1700" dirty="0"/>
          </a:p>
        </p:txBody>
      </p:sp>
      <p:sp>
        <p:nvSpPr>
          <p:cNvPr id="33" name="Text 31"/>
          <p:cNvSpPr/>
          <p:nvPr/>
        </p:nvSpPr>
        <p:spPr>
          <a:xfrm>
            <a:off x="8814816" y="3401568"/>
            <a:ext cx="2514600" cy="502920"/>
          </a:xfrm>
          <a:prstGeom prst="rect">
            <a:avLst/>
          </a:prstGeom>
          <a:noFill/>
          <a:ln/>
        </p:spPr>
        <p:txBody>
          <a:bodyPr wrap="square" lIns="0" tIns="0" rIns="0" bIns="0" rtlCol="0" anchor="ctr"/>
          <a:lstStyle/>
          <a:p>
            <a:pPr indent="0" marL="0">
              <a:buNone/>
            </a:pPr>
            <a:r>
              <a:rPr lang="en-US" sz="1400" b="1" dirty="0">
                <a:solidFill>
                  <a:srgbClr val="1F3864"/>
                </a:solidFill>
                <a:latin typeface="Trebuchet MS" pitchFamily="34" charset="0"/>
                <a:ea typeface="Trebuchet MS" pitchFamily="34" charset="-122"/>
                <a:cs typeface="Trebuchet MS" pitchFamily="34" charset="-120"/>
              </a:rPr>
              <a:t>Rich reporting</a:t>
            </a:r>
            <a:endParaRPr lang="en-US" sz="1400" dirty="0"/>
          </a:p>
        </p:txBody>
      </p:sp>
      <p:sp>
        <p:nvSpPr>
          <p:cNvPr id="34" name="Text 32"/>
          <p:cNvSpPr/>
          <p:nvPr/>
        </p:nvSpPr>
        <p:spPr>
          <a:xfrm>
            <a:off x="8238744" y="3877056"/>
            <a:ext cx="3063240" cy="457200"/>
          </a:xfrm>
          <a:prstGeom prst="rect">
            <a:avLst/>
          </a:prstGeom>
          <a:noFill/>
          <a:ln/>
        </p:spPr>
        <p:txBody>
          <a:bodyPr wrap="square" lIns="0" tIns="0" rIns="0" bIns="0"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Monocart report + plain-English summary</a:t>
            </a:r>
            <a:endParaRPr lang="en-US" sz="1100" dirty="0"/>
          </a:p>
        </p:txBody>
      </p:sp>
      <p:sp>
        <p:nvSpPr>
          <p:cNvPr id="35" name="Shape 33"/>
          <p:cNvSpPr/>
          <p:nvPr/>
        </p:nvSpPr>
        <p:spPr>
          <a:xfrm>
            <a:off x="548640" y="4709160"/>
            <a:ext cx="11091672" cy="1280160"/>
          </a:xfrm>
          <a:prstGeom prst="roundRect">
            <a:avLst>
              <a:gd name="adj" fmla="val 5000"/>
            </a:avLst>
          </a:prstGeom>
          <a:solidFill>
            <a:srgbClr val="1F3864"/>
          </a:solidFill>
          <a:ln w="12700">
            <a:solidFill>
              <a:srgbClr val="D9E0EE"/>
            </a:solidFill>
            <a:prstDash val="solid"/>
          </a:ln>
          <a:effectLst>
            <a:outerShdw sx="100000" sy="100000" kx="0" ky="0" algn="bl" rotWithShape="0" blurRad="101600" dist="38100" dir="8100000">
              <a:srgbClr val="1F3864">
                <a:alpha val="16000"/>
              </a:srgbClr>
            </a:outerShdw>
          </a:effectLst>
        </p:spPr>
      </p:sp>
      <p:sp>
        <p:nvSpPr>
          <p:cNvPr id="36" name="Text 34"/>
          <p:cNvSpPr/>
          <p:nvPr/>
        </p:nvSpPr>
        <p:spPr>
          <a:xfrm>
            <a:off x="868680" y="4901184"/>
            <a:ext cx="2743200" cy="274320"/>
          </a:xfrm>
          <a:prstGeom prst="rect">
            <a:avLst/>
          </a:prstGeom>
          <a:noFill/>
          <a:ln/>
        </p:spPr>
        <p:txBody>
          <a:bodyPr wrap="square" rtlCol="0" anchor="ctr"/>
          <a:lstStyle/>
          <a:p>
            <a:pPr indent="0" marL="0">
              <a:buNone/>
            </a:pPr>
            <a:r>
              <a:rPr lang="en-US" sz="1100" b="1" spc="200" kern="0" dirty="0">
                <a:solidFill>
                  <a:srgbClr val="17A398"/>
                </a:solidFill>
                <a:latin typeface="Trebuchet MS" pitchFamily="34" charset="0"/>
                <a:ea typeface="Trebuchet MS" pitchFamily="34" charset="-122"/>
                <a:cs typeface="Trebuchet MS" pitchFamily="34" charset="-120"/>
              </a:rPr>
              <a:t>CRAFTSMANSHIP</a:t>
            </a:r>
            <a:endParaRPr lang="en-US" sz="1100" dirty="0"/>
          </a:p>
        </p:txBody>
      </p:sp>
      <p:sp>
        <p:nvSpPr>
          <p:cNvPr id="37" name="Text 35"/>
          <p:cNvSpPr/>
          <p:nvPr/>
        </p:nvSpPr>
        <p:spPr>
          <a:xfrm>
            <a:off x="868680" y="5184648"/>
            <a:ext cx="10515600" cy="640080"/>
          </a:xfrm>
          <a:prstGeom prst="rect">
            <a:avLst/>
          </a:prstGeom>
          <a:noFill/>
          <a:ln/>
        </p:spPr>
        <p:txBody>
          <a:bodyPr wrap="square" lIns="0" tIns="0" rIns="0" bIns="0" rtlCol="0" anchor="ctr"/>
          <a:lstStyle/>
          <a:p>
            <a:pPr indent="0" marL="0">
              <a:buNone/>
            </a:pPr>
            <a:r>
              <a:rPr lang="en-US" sz="1300" dirty="0">
                <a:solidFill>
                  <a:srgbClr val="C7D2E8"/>
                </a:solidFill>
                <a:latin typeface="Calibri" pitchFamily="34" charset="0"/>
                <a:ea typeface="Calibri" pitchFamily="34" charset="-122"/>
                <a:cs typeface="Calibri" pitchFamily="34" charset="-120"/>
              </a:rPr>
              <a:t>Typed code, </a:t>
            </a:r>
            <a:pPr indent="0" marL="0">
              <a:buNone/>
            </a:pPr>
            <a:r>
              <a:rPr lang="en-US" sz="1300" b="1" dirty="0">
                <a:solidFill>
                  <a:srgbClr val="FFFFFF"/>
                </a:solidFill>
                <a:latin typeface="Calibri" pitchFamily="34" charset="0"/>
                <a:ea typeface="Calibri" pitchFamily="34" charset="-122"/>
                <a:cs typeface="Calibri" pitchFamily="34" charset="-120"/>
              </a:rPr>
              <a:t>small reviewable commits, </a:t>
            </a:r>
            <a:pPr indent="0" marL="0">
              <a:buNone/>
            </a:pPr>
            <a:r>
              <a:rPr lang="en-US" sz="1300" dirty="0">
                <a:solidFill>
                  <a:srgbClr val="C7D2E8"/>
                </a:solidFill>
                <a:latin typeface="Calibri" pitchFamily="34" charset="0"/>
                <a:ea typeface="Calibri" pitchFamily="34" charset="-122"/>
                <a:cs typeface="Calibri" pitchFamily="34" charset="-120"/>
              </a:rPr>
              <a:t>reusable steps, a data factory for repeatable runs, CI on every push, and </a:t>
            </a:r>
            <a:pPr indent="0" marL="0">
              <a:buNone/>
            </a:pPr>
            <a:r>
              <a:rPr lang="en-US" sz="1300" b="1" dirty="0">
                <a:solidFill>
                  <a:srgbClr val="FFFFFF"/>
                </a:solidFill>
                <a:latin typeface="Calibri" pitchFamily="34" charset="0"/>
                <a:ea typeface="Calibri" pitchFamily="34" charset="-122"/>
                <a:cs typeface="Calibri" pitchFamily="34" charset="-120"/>
              </a:rPr>
              <a:t>documentation that even a non-technical reader can follow.</a:t>
            </a:r>
            <a:endParaRPr lang="en-US" sz="1300" dirty="0"/>
          </a:p>
        </p:txBody>
      </p:sp>
      <p:sp>
        <p:nvSpPr>
          <p:cNvPr id="38" name="Text 36"/>
          <p:cNvSpPr/>
          <p:nvPr/>
        </p:nvSpPr>
        <p:spPr>
          <a:xfrm>
            <a:off x="548640" y="6437376"/>
            <a:ext cx="7315200" cy="274320"/>
          </a:xfrm>
          <a:prstGeom prst="rect">
            <a:avLst/>
          </a:prstGeom>
          <a:noFill/>
          <a:ln/>
        </p:spPr>
        <p:txBody>
          <a:bodyPr wrap="square" lIns="0" tIns="0" rIns="0" bIns="0" rtlCol="0" anchor="ctr"/>
          <a:lstStyle/>
          <a:p>
            <a:pPr indent="0" marL="0">
              <a:buNone/>
            </a:pPr>
            <a:r>
              <a:rPr lang="en-US" sz="850" dirty="0">
                <a:solidFill>
                  <a:srgbClr val="6B7280"/>
                </a:solidFill>
                <a:latin typeface="Calibri" pitchFamily="34" charset="0"/>
                <a:ea typeface="Calibri" pitchFamily="34" charset="-122"/>
                <a:cs typeface="Calibri" pitchFamily="34" charset="-120"/>
              </a:rPr>
              <a:t>ParaBank Sign-Up &amp; Login Automation  -  QA Assessment</a:t>
            </a:r>
            <a:endParaRPr lang="en-US" sz="850" dirty="0"/>
          </a:p>
        </p:txBody>
      </p:sp>
      <p:sp>
        <p:nvSpPr>
          <p:cNvPr id="39" name="Text 37"/>
          <p:cNvSpPr/>
          <p:nvPr/>
        </p:nvSpPr>
        <p:spPr>
          <a:xfrm>
            <a:off x="11292840" y="6437376"/>
            <a:ext cx="365760" cy="274320"/>
          </a:xfrm>
          <a:prstGeom prst="rect">
            <a:avLst/>
          </a:prstGeom>
          <a:noFill/>
          <a:ln/>
        </p:spPr>
        <p:txBody>
          <a:bodyPr wrap="square" lIns="0" tIns="0" rIns="0" bIns="0" rtlCol="0" anchor="ctr"/>
          <a:lstStyle/>
          <a:p>
            <a:pPr algn="r" indent="0" marL="0">
              <a:buNone/>
            </a:pPr>
            <a:r>
              <a:rPr lang="en-US" sz="900" b="1" dirty="0">
                <a:solidFill>
                  <a:srgbClr val="17A398"/>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17A398"/>
          </a:solidFill>
          <a:ln/>
        </p:spPr>
      </p:sp>
      <p:sp>
        <p:nvSpPr>
          <p:cNvPr id="3" name="Shape 1"/>
          <p:cNvSpPr/>
          <p:nvPr/>
        </p:nvSpPr>
        <p:spPr>
          <a:xfrm>
            <a:off x="0" y="6711696"/>
            <a:ext cx="12188952" cy="146304"/>
          </a:xfrm>
          <a:prstGeom prst="rect">
            <a:avLst/>
          </a:prstGeom>
          <a:solidFill>
            <a:srgbClr val="E8A33D"/>
          </a:solidFill>
          <a:ln/>
        </p:spPr>
      </p:sp>
      <p:sp>
        <p:nvSpPr>
          <p:cNvPr id="4" name="Text 2"/>
          <p:cNvSpPr/>
          <p:nvPr/>
        </p:nvSpPr>
        <p:spPr>
          <a:xfrm>
            <a:off x="914400" y="1554480"/>
            <a:ext cx="10058400" cy="457200"/>
          </a:xfrm>
          <a:prstGeom prst="rect">
            <a:avLst/>
          </a:prstGeom>
          <a:noFill/>
          <a:ln/>
        </p:spPr>
        <p:txBody>
          <a:bodyPr wrap="square" rtlCol="0" anchor="ctr"/>
          <a:lstStyle/>
          <a:p>
            <a:pPr indent="0" marL="0">
              <a:buNone/>
            </a:pPr>
            <a:r>
              <a:rPr lang="en-US" sz="1500" b="1" spc="500" kern="0" dirty="0">
                <a:solidFill>
                  <a:srgbClr val="17A398"/>
                </a:solidFill>
                <a:latin typeface="Trebuchet MS" pitchFamily="34" charset="0"/>
                <a:ea typeface="Trebuchet MS" pitchFamily="34" charset="-122"/>
                <a:cs typeface="Trebuchet MS" pitchFamily="34" charset="-120"/>
              </a:rPr>
              <a:t>THANK YOU</a:t>
            </a:r>
            <a:endParaRPr lang="en-US" sz="1500" dirty="0"/>
          </a:p>
        </p:txBody>
      </p:sp>
      <p:sp>
        <p:nvSpPr>
          <p:cNvPr id="5" name="Text 3"/>
          <p:cNvSpPr/>
          <p:nvPr/>
        </p:nvSpPr>
        <p:spPr>
          <a:xfrm>
            <a:off x="868680" y="1965960"/>
            <a:ext cx="10424160" cy="1645920"/>
          </a:xfrm>
          <a:prstGeom prst="rect">
            <a:avLst/>
          </a:prstGeom>
          <a:noFill/>
          <a:ln/>
        </p:spPr>
        <p:txBody>
          <a:bodyPr wrap="square" rtlCol="0" anchor="ctr"/>
          <a:lstStyle/>
          <a:p>
            <a:pPr indent="0" marL="0">
              <a:buNone/>
            </a:pPr>
            <a:r>
              <a:rPr lang="en-US" sz="4200" b="1" dirty="0">
                <a:solidFill>
                  <a:srgbClr val="FFFFFF"/>
                </a:solidFill>
                <a:latin typeface="Trebuchet MS" pitchFamily="34" charset="0"/>
                <a:ea typeface="Trebuchet MS" pitchFamily="34" charset="-122"/>
                <a:cs typeface="Trebuchet MS" pitchFamily="34" charset="-120"/>
              </a:rPr>
              <a:t>A craftsmanship-first</a:t>
            </a:r>
            <a:endParaRPr lang="en-US" sz="4200" dirty="0"/>
          </a:p>
          <a:p>
            <a:pPr indent="0" marL="0">
              <a:buNone/>
            </a:pPr>
            <a:r>
              <a:rPr lang="en-US" sz="4200" b="1" dirty="0">
                <a:solidFill>
                  <a:srgbClr val="FFFFFF"/>
                </a:solidFill>
                <a:latin typeface="Trebuchet MS" pitchFamily="34" charset="0"/>
                <a:ea typeface="Trebuchet MS" pitchFamily="34" charset="-122"/>
                <a:cs typeface="Trebuchet MS" pitchFamily="34" charset="-120"/>
              </a:rPr>
              <a:t>automation suite</a:t>
            </a:r>
            <a:endParaRPr lang="en-US" sz="4200" dirty="0"/>
          </a:p>
        </p:txBody>
      </p:sp>
      <p:sp>
        <p:nvSpPr>
          <p:cNvPr id="6" name="Shape 4"/>
          <p:cNvSpPr/>
          <p:nvPr/>
        </p:nvSpPr>
        <p:spPr>
          <a:xfrm>
            <a:off x="914400" y="3703320"/>
            <a:ext cx="2377440" cy="32004"/>
          </a:xfrm>
          <a:prstGeom prst="rect">
            <a:avLst/>
          </a:prstGeom>
          <a:solidFill>
            <a:srgbClr val="E8A33D"/>
          </a:solidFill>
          <a:ln/>
        </p:spPr>
      </p:sp>
      <p:sp>
        <p:nvSpPr>
          <p:cNvPr id="7" name="Shape 5"/>
          <p:cNvSpPr/>
          <p:nvPr/>
        </p:nvSpPr>
        <p:spPr>
          <a:xfrm>
            <a:off x="932688" y="3977640"/>
            <a:ext cx="155448" cy="155448"/>
          </a:xfrm>
          <a:prstGeom prst="ellipse">
            <a:avLst/>
          </a:prstGeom>
          <a:solidFill>
            <a:srgbClr val="17A398"/>
          </a:solidFill>
          <a:ln/>
        </p:spPr>
      </p:sp>
      <p:sp>
        <p:nvSpPr>
          <p:cNvPr id="8" name="Text 6"/>
          <p:cNvSpPr/>
          <p:nvPr/>
        </p:nvSpPr>
        <p:spPr>
          <a:xfrm>
            <a:off x="1207008" y="3895344"/>
            <a:ext cx="100584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33 deep-testing scenarios  </a:t>
            </a:r>
            <a:pPr indent="0" marL="0">
              <a:buNone/>
            </a:pPr>
            <a:r>
              <a:rPr lang="en-US" sz="1350" dirty="0">
                <a:solidFill>
                  <a:srgbClr val="9FB0CE"/>
                </a:solidFill>
                <a:latin typeface="Calibri" pitchFamily="34" charset="0"/>
                <a:ea typeface="Calibri" pitchFamily="34" charset="-122"/>
                <a:cs typeface="Calibri" pitchFamily="34" charset="-120"/>
              </a:rPr>
              <a:t>- functional, boundary, security, access &amp; performance</a:t>
            </a:r>
            <a:endParaRPr lang="en-US" sz="1350" dirty="0"/>
          </a:p>
        </p:txBody>
      </p:sp>
      <p:sp>
        <p:nvSpPr>
          <p:cNvPr id="9" name="Shape 7"/>
          <p:cNvSpPr/>
          <p:nvPr/>
        </p:nvSpPr>
        <p:spPr>
          <a:xfrm>
            <a:off x="932688" y="4526280"/>
            <a:ext cx="155448" cy="155448"/>
          </a:xfrm>
          <a:prstGeom prst="ellipse">
            <a:avLst/>
          </a:prstGeom>
          <a:solidFill>
            <a:srgbClr val="17A398"/>
          </a:solidFill>
          <a:ln/>
        </p:spPr>
      </p:sp>
      <p:sp>
        <p:nvSpPr>
          <p:cNvPr id="10" name="Text 8"/>
          <p:cNvSpPr/>
          <p:nvPr/>
        </p:nvSpPr>
        <p:spPr>
          <a:xfrm>
            <a:off x="1207008" y="4443984"/>
            <a:ext cx="100584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BDD + Page Object Model  </a:t>
            </a:r>
            <a:pPr indent="0" marL="0">
              <a:buNone/>
            </a:pPr>
            <a:r>
              <a:rPr lang="en-US" sz="1350" dirty="0">
                <a:solidFill>
                  <a:srgbClr val="9FB0CE"/>
                </a:solidFill>
                <a:latin typeface="Calibri" pitchFamily="34" charset="0"/>
                <a:ea typeface="Calibri" pitchFamily="34" charset="-122"/>
                <a:cs typeface="Calibri" pitchFamily="34" charset="-120"/>
              </a:rPr>
              <a:t>- readable, maintainable, repeatable</a:t>
            </a:r>
            <a:endParaRPr lang="en-US" sz="1350" dirty="0"/>
          </a:p>
        </p:txBody>
      </p:sp>
      <p:sp>
        <p:nvSpPr>
          <p:cNvPr id="11" name="Shape 9"/>
          <p:cNvSpPr/>
          <p:nvPr/>
        </p:nvSpPr>
        <p:spPr>
          <a:xfrm>
            <a:off x="932688" y="5074920"/>
            <a:ext cx="155448" cy="155448"/>
          </a:xfrm>
          <a:prstGeom prst="ellipse">
            <a:avLst/>
          </a:prstGeom>
          <a:solidFill>
            <a:srgbClr val="17A398"/>
          </a:solidFill>
          <a:ln/>
        </p:spPr>
      </p:sp>
      <p:sp>
        <p:nvSpPr>
          <p:cNvPr id="12" name="Text 10"/>
          <p:cNvSpPr/>
          <p:nvPr/>
        </p:nvSpPr>
        <p:spPr>
          <a:xfrm>
            <a:off x="1207008" y="4992624"/>
            <a:ext cx="10058400" cy="36576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100% green run  </a:t>
            </a:r>
            <a:pPr indent="0" marL="0">
              <a:buNone/>
            </a:pPr>
            <a:r>
              <a:rPr lang="en-US" sz="1350" dirty="0">
                <a:solidFill>
                  <a:srgbClr val="9FB0CE"/>
                </a:solidFill>
                <a:latin typeface="Calibri" pitchFamily="34" charset="0"/>
                <a:ea typeface="Calibri" pitchFamily="34" charset="-122"/>
                <a:cs typeface="Calibri" pitchFamily="34" charset="-120"/>
              </a:rPr>
              <a:t>- with proof of execution and a tracked security finding</a:t>
            </a:r>
            <a:endParaRPr lang="en-US" sz="1350" dirty="0"/>
          </a:p>
        </p:txBody>
      </p:sp>
      <p:sp>
        <p:nvSpPr>
          <p:cNvPr id="13" name="Text 11"/>
          <p:cNvSpPr/>
          <p:nvPr/>
        </p:nvSpPr>
        <p:spPr>
          <a:xfrm>
            <a:off x="914400" y="5806440"/>
            <a:ext cx="10515600" cy="365760"/>
          </a:xfrm>
          <a:prstGeom prst="rect">
            <a:avLst/>
          </a:prstGeom>
          <a:noFill/>
          <a:ln/>
        </p:spPr>
        <p:txBody>
          <a:bodyPr wrap="square"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Ashik Mohamed</a:t>
            </a:r>
            <a:pPr indent="0" marL="0">
              <a:buNone/>
            </a:pPr>
            <a:r>
              <a:rPr lang="en-US" sz="1200" dirty="0">
                <a:solidFill>
                  <a:srgbClr val="9FB0CE"/>
                </a:solidFill>
                <a:latin typeface="Trebuchet MS" pitchFamily="34" charset="0"/>
                <a:ea typeface="Trebuchet MS" pitchFamily="34" charset="-122"/>
                <a:cs typeface="Trebuchet MS" pitchFamily="34" charset="-120"/>
              </a:rPr>
              <a:t>     Software Craftsperson assessment  -  Incubyte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ParaBank Automation Assessment</dc:title>
  <dc:subject>PptxGenJS Presentation</dc:subject>
  <dc:creator>Ashik Mohamed</dc:creator>
  <cp:lastModifiedBy>Ashik Mohamed</cp:lastModifiedBy>
  <cp:revision>1</cp:revision>
  <dcterms:created xsi:type="dcterms:W3CDTF">2026-05-24T13:56:05Z</dcterms:created>
  <dcterms:modified xsi:type="dcterms:W3CDTF">2026-05-24T13:56:05Z</dcterms:modified>
</cp:coreProperties>
</file>