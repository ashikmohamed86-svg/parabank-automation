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 am Ashik. This is my submission for the Incubyte Software Craftsperson assessment - an automated test suite for the ParaBank sign-up and login flow, built with Playwright, TypeScript, BDD and the Page Object Model. It grew into 33 deep-testing scenarios that all pass. Let me walk you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task: automate signing up, signing in, and logging the post-login balance. Deliverables were test cases in Excel, automation code on GitHub using BDD and POM, multiple commits, and proof of execution. I treated it as a craftsmanship exercise and expanded the scope into deep testing across five test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the application. ParaBank is Parasoft’s public online-banking demo - a real registration form, login, and account pages on a Java backend. The core flow the assignment asked for is three steps: register a new account, sign in with it, and read the balance shown afterwards. That flow is the backbone of the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pillars. Playwright with TypeScript for reliable, typed automation. BDD - each scenario is plain Gherkin, readable by anyone. POM - the Page Object Model keeps selectors inside page classes so steps stay clean. The glue is playwright-bdd, which runs the Gherkin files on Playwright, plus fixtures that hand page objects to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is layered. Feature files describe scenarios in Gherkin. Step definitions turn each line into actions. Page objects hold the locators. At the end is the live app. This separation makes the suite readable, maintainable - a UI change is a one-place fix - repeatable thanks to a data factory, and reusable, since steps are shared across all six feature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BDD looks like in the suite. This is a real feature file. The scenario is written in plain Gherkin - Given, When, Then. It reads like a specification anyone can understand, yet Playwright executes these exact lines as an automated test. That readability is the whole point of BDD.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Page Object Model. Each page of ParaBank is a class that holds its locators and actions - here, the HomePage with a login method. Step definitions call these methods, never raw selectors. So if the UI changes, the fix is one line in one place. There are five page objects, all extending a shared BasePage.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Coverage. 33 automated test cases across six feature files. Six are core functional tests. Then the deep testing: eight boundary tests, nine security tests, five access-control tests, and five performance tests. Every case is automated - nothing is manual-only. The next three slides go through the deep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testing, part one - boundary and input validation. On registration: password mismatch, partial forms, minimum and maximum length values, and special characters. On login: empty username, empty password, and both empty. Boundary value analysis targets the edges of valid input, because that is where defects most often hide.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 security, the largest group at nine tests. Input masking: every password field hides its characters. Injection defence: SQL injection in the login form and HTML injection on sign-up - the attack must not succeed. Transport and session: HTTPS, and the session cookie flagged HttpOnly. And auth hardening: login errors do not reveal whether a username exists, and repeated failed logins are consistently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 access control and performance. Access control proves protected pages - Accounts Overview, Transfer Funds, Update Contact Info - cannot be reached without logging in, or after logging out, and that a valid session persists across navigation. Performance measures five page-load and action timings, logged against generous soft budgets suited to the slow JPA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demo - switch to the screen recording. Show npm test running with scenarios passing; one registration scenario in the browser; the Monocart HTML report with video and screenshots; and the Excel workbook of test cases. Keep this segment to about two and a half minutes - speed up the run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results. The full suite ran on the 24th of May - 33 of 33 scenarios passed, zero failures, in about 141 seconds, 100 percent automated. One command runs everything, in Chromium, serially for a stable shared environment, with unique data on every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Reporting. Every run documents itself. The Monocart HTML report is interactive - browse every scenario. There is a video for every test, step screenshots and a full trace, a KPI dashboard, a plain-English summary for non-technical reviewers, and logs for the balance, performance and security checks. Open the report after any run and you see exactly what happened - that is the proof of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highlight. The security suite found a real vulnerability - stored XSS in the registration first-name field; ParaBank renders it unescaped. The test asserts the secure behaviour, so against the vulnerable site it fails - and I tagged it @fail, an expected failure, so the defect is tracked and the suite stays green. A security test that catches a real vulnerability is doing its job, and the finding is documented in the workbook and the test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ships: the automation suite, the Excel test-case workbook with five sheets, a Word test plan, the GitHub repository with an incremental commit history, a CI pipeline, and rich reporting. Throughout I focused on craftsmanship - typed code, small reviewable commits, reusable steps, repeatable data, CI, and documentation a non-technical reader can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- 33 deep-testing scenarios across functional, boundary, security, access-control and performance; built with BDD and the Page Object Model so it is readable and maintainable; a fully green run with proof of execution; and a real security finding the suite caught and tracked. Thank you - I am happy to walk through any part of the code or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7A398"/>
          </a:solidFill>
          <a:ln/>
        </p:spPr>
      </p:sp>
      <p:sp>
        <p:nvSpPr>
          <p:cNvPr id="3" name="Shape 1"/>
          <p:cNvSpPr/>
          <p:nvPr/>
        </p:nvSpPr>
        <p:spPr>
          <a:xfrm>
            <a:off x="256032" y="0"/>
            <a:ext cx="64008" cy="6858000"/>
          </a:xfrm>
          <a:prstGeom prst="rect">
            <a:avLst/>
          </a:prstGeom>
          <a:solidFill>
            <a:srgbClr val="E8A33D"/>
          </a:solidFill>
          <a:ln/>
        </p:spPr>
      </p:sp>
      <p:sp>
        <p:nvSpPr>
          <p:cNvPr id="4" name="Text 2"/>
          <p:cNvSpPr/>
          <p:nvPr/>
        </p:nvSpPr>
        <p:spPr>
          <a:xfrm>
            <a:off x="1005840" y="1325880"/>
            <a:ext cx="10058400" cy="365760"/>
          </a:xfrm>
          <a:prstGeom prst="rect">
            <a:avLst/>
          </a:prstGeom>
          <a:noFill/>
          <a:ln/>
        </p:spPr>
        <p:txBody>
          <a:bodyPr wrap="square" rtlCol="0" anchor="ctr"/>
          <a:lstStyle/>
          <a:p>
            <a:pPr indent="0" marL="0">
              <a:buNone/>
            </a:pPr>
            <a:r>
              <a:rPr lang="en-US" sz="1400" b="1" spc="400" kern="0" dirty="0">
                <a:solidFill>
                  <a:srgbClr val="17A398"/>
                </a:solidFill>
                <a:latin typeface="Trebuchet MS" pitchFamily="34" charset="0"/>
                <a:ea typeface="Trebuchet MS" pitchFamily="34" charset="-122"/>
                <a:cs typeface="Trebuchet MS" pitchFamily="34" charset="-120"/>
              </a:rPr>
              <a:t>QA AUTOMATION ASSESSMENT</a:t>
            </a:r>
            <a:endParaRPr lang="en-US" sz="1400" dirty="0"/>
          </a:p>
        </p:txBody>
      </p:sp>
      <p:sp>
        <p:nvSpPr>
          <p:cNvPr id="5" name="Text 3"/>
          <p:cNvSpPr/>
          <p:nvPr/>
        </p:nvSpPr>
        <p:spPr>
          <a:xfrm>
            <a:off x="960120" y="1810512"/>
            <a:ext cx="10424160" cy="914400"/>
          </a:xfrm>
          <a:prstGeom prst="rect">
            <a:avLst/>
          </a:prstGeom>
          <a:noFill/>
          <a:ln/>
        </p:spPr>
        <p:txBody>
          <a:bodyPr wrap="square" rtlCol="0" anchor="ctr"/>
          <a:lstStyle/>
          <a:p>
            <a:pPr indent="0" marL="0">
              <a:buNone/>
            </a:pPr>
            <a:r>
              <a:rPr lang="en-US" sz="4800" b="1" dirty="0">
                <a:solidFill>
                  <a:srgbClr val="FFFFFF"/>
                </a:solidFill>
                <a:latin typeface="Trebuchet MS" pitchFamily="34" charset="0"/>
                <a:ea typeface="Trebuchet MS" pitchFamily="34" charset="-122"/>
                <a:cs typeface="Trebuchet MS" pitchFamily="34" charset="-120"/>
              </a:rPr>
              <a:t>ParaBank Sign-Up &amp; Login</a:t>
            </a:r>
            <a:endParaRPr lang="en-US" sz="4800" dirty="0"/>
          </a:p>
        </p:txBody>
      </p:sp>
      <p:sp>
        <p:nvSpPr>
          <p:cNvPr id="6" name="Text 4"/>
          <p:cNvSpPr/>
          <p:nvPr/>
        </p:nvSpPr>
        <p:spPr>
          <a:xfrm>
            <a:off x="960120" y="2596896"/>
            <a:ext cx="10424160" cy="868680"/>
          </a:xfrm>
          <a:prstGeom prst="rect">
            <a:avLst/>
          </a:prstGeom>
          <a:noFill/>
          <a:ln/>
        </p:spPr>
        <p:txBody>
          <a:bodyPr wrap="square" rtlCol="0" anchor="ctr"/>
          <a:lstStyle/>
          <a:p>
            <a:pPr indent="0" marL="0">
              <a:buNone/>
            </a:pPr>
            <a:r>
              <a:rPr lang="en-US" sz="4800" b="1" dirty="0">
                <a:solidFill>
                  <a:srgbClr val="CADCFC"/>
                </a:solidFill>
                <a:latin typeface="Trebuchet MS" pitchFamily="34" charset="0"/>
                <a:ea typeface="Trebuchet MS" pitchFamily="34" charset="-122"/>
                <a:cs typeface="Trebuchet MS" pitchFamily="34" charset="-120"/>
              </a:rPr>
              <a:t>Automation Test Suite</a:t>
            </a:r>
            <a:endParaRPr lang="en-US" sz="4800" dirty="0"/>
          </a:p>
        </p:txBody>
      </p:sp>
      <p:sp>
        <p:nvSpPr>
          <p:cNvPr id="7" name="Text 5"/>
          <p:cNvSpPr/>
          <p:nvPr/>
        </p:nvSpPr>
        <p:spPr>
          <a:xfrm>
            <a:off x="987552" y="3493008"/>
            <a:ext cx="10058400" cy="411480"/>
          </a:xfrm>
          <a:prstGeom prst="rect">
            <a:avLst/>
          </a:prstGeom>
          <a:noFill/>
          <a:ln/>
        </p:spPr>
        <p:txBody>
          <a:bodyPr wrap="square" rtlCol="0" anchor="ctr"/>
          <a:lstStyle/>
          <a:p>
            <a:pPr indent="0" marL="0">
              <a:buNone/>
            </a:pPr>
            <a:r>
              <a:rPr lang="en-US" sz="1700" i="1" dirty="0">
                <a:solidFill>
                  <a:srgbClr val="C7D2E8"/>
                </a:solidFill>
                <a:latin typeface="Calibri" pitchFamily="34" charset="0"/>
                <a:ea typeface="Calibri" pitchFamily="34" charset="-122"/>
                <a:cs typeface="Calibri" pitchFamily="34" charset="-120"/>
              </a:rPr>
              <a:t>Deep functional, boundary, security, access-control &amp; performance testing</a:t>
            </a:r>
            <a:endParaRPr lang="en-US" sz="1700" dirty="0"/>
          </a:p>
        </p:txBody>
      </p:sp>
      <p:sp>
        <p:nvSpPr>
          <p:cNvPr id="8" name="Shape 6"/>
          <p:cNvSpPr/>
          <p:nvPr/>
        </p:nvSpPr>
        <p:spPr>
          <a:xfrm>
            <a:off x="1005840" y="4114800"/>
            <a:ext cx="2743200" cy="32004"/>
          </a:xfrm>
          <a:prstGeom prst="rect">
            <a:avLst/>
          </a:prstGeom>
          <a:solidFill>
            <a:srgbClr val="E8A33D"/>
          </a:solidFill>
          <a:ln/>
        </p:spPr>
      </p:sp>
      <p:sp>
        <p:nvSpPr>
          <p:cNvPr id="9" name="Text 7"/>
          <p:cNvSpPr/>
          <p:nvPr/>
        </p:nvSpPr>
        <p:spPr>
          <a:xfrm>
            <a:off x="987552" y="4279392"/>
            <a:ext cx="10058400" cy="365760"/>
          </a:xfrm>
          <a:prstGeom prst="rect">
            <a:avLst/>
          </a:prstGeom>
          <a:noFill/>
          <a:ln/>
        </p:spPr>
        <p:txBody>
          <a:bodyPr wrap="square" rtlCol="0" anchor="ctr"/>
          <a:lstStyle/>
          <a:p>
            <a:pPr indent="0" marL="0">
              <a:buNone/>
            </a:pPr>
            <a:r>
              <a:rPr lang="en-US" sz="1600" b="1" dirty="0">
                <a:solidFill>
                  <a:srgbClr val="FFFFFF"/>
                </a:solidFill>
                <a:latin typeface="Trebuchet MS" pitchFamily="34" charset="0"/>
                <a:ea typeface="Trebuchet MS" pitchFamily="34" charset="-122"/>
                <a:cs typeface="Trebuchet MS" pitchFamily="34" charset="-120"/>
              </a:rPr>
              <a:t>Ashik Mohamed</a:t>
            </a:r>
            <a:pPr indent="0" marL="0">
              <a:buNone/>
            </a:pPr>
            <a:r>
              <a:rPr lang="en-US" sz="1400" dirty="0">
                <a:solidFill>
                  <a:srgbClr val="9FB0CE"/>
                </a:solidFill>
                <a:latin typeface="Trebuchet MS" pitchFamily="34" charset="0"/>
                <a:ea typeface="Trebuchet MS" pitchFamily="34" charset="-122"/>
                <a:cs typeface="Trebuchet MS" pitchFamily="34" charset="-120"/>
              </a:rPr>
              <a:t xml:space="preserve">    |    Software Craftsperson role  -  Incubyte</a:t>
            </a:r>
            <a:endParaRPr lang="en-US" sz="1600" dirty="0"/>
          </a:p>
        </p:txBody>
      </p:sp>
      <p:sp>
        <p:nvSpPr>
          <p:cNvPr id="10" name="Text 8"/>
          <p:cNvSpPr/>
          <p:nvPr/>
        </p:nvSpPr>
        <p:spPr>
          <a:xfrm>
            <a:off x="987552" y="4956048"/>
            <a:ext cx="10058400" cy="365760"/>
          </a:xfrm>
          <a:prstGeom prst="rect">
            <a:avLst/>
          </a:prstGeom>
          <a:noFill/>
          <a:ln/>
        </p:spPr>
        <p:txBody>
          <a:bodyPr wrap="square" rtlCol="0" anchor="ctr"/>
          <a:lstStyle/>
          <a:p>
            <a:pPr indent="0" marL="0">
              <a:buNone/>
            </a:pPr>
            <a:r>
              <a:rPr lang="en-US" sz="1300" dirty="0">
                <a:solidFill>
                  <a:srgbClr val="9FB0CE"/>
                </a:solidFill>
                <a:latin typeface="Calibri" pitchFamily="34" charset="0"/>
                <a:ea typeface="Calibri" pitchFamily="34" charset="-122"/>
                <a:cs typeface="Calibri" pitchFamily="34" charset="-120"/>
              </a:rPr>
              <a:t xml:space="preserve">Built with  </a:t>
            </a:r>
            <a:pPr indent="0" marL="0">
              <a:buNone/>
            </a:pPr>
            <a:r>
              <a:rPr lang="en-US" sz="1300" b="1" dirty="0">
                <a:solidFill>
                  <a:srgbClr val="FFFFFF"/>
                </a:solidFill>
                <a:latin typeface="Calibri" pitchFamily="34" charset="0"/>
                <a:ea typeface="Calibri" pitchFamily="34" charset="-122"/>
                <a:cs typeface="Calibri" pitchFamily="34" charset="-120"/>
              </a:rPr>
              <a:t>Playwright + TypeScript</a:t>
            </a:r>
            <a:pPr indent="0" marL="0">
              <a:buNone/>
            </a:pPr>
            <a:r>
              <a:rPr lang="en-US" sz="1300" dirty="0">
                <a:solidFill>
                  <a:srgbClr val="9FB0CE"/>
                </a:solidFill>
                <a:latin typeface="Calibri" pitchFamily="34" charset="0"/>
                <a:ea typeface="Calibri" pitchFamily="34" charset="-122"/>
                <a:cs typeface="Calibri" pitchFamily="34" charset="-120"/>
              </a:rPr>
              <a:t xml:space="preserve">    -    BDD (Gherkin) + Page Object Model</a:t>
            </a:r>
            <a:endParaRPr lang="en-US" sz="1300" dirty="0"/>
          </a:p>
        </p:txBody>
      </p:sp>
      <p:sp>
        <p:nvSpPr>
          <p:cNvPr id="11" name="Text 9"/>
          <p:cNvSpPr/>
          <p:nvPr/>
        </p:nvSpPr>
        <p:spPr>
          <a:xfrm>
            <a:off x="987552" y="5321808"/>
            <a:ext cx="10058400" cy="320040"/>
          </a:xfrm>
          <a:prstGeom prst="rect">
            <a:avLst/>
          </a:prstGeom>
          <a:noFill/>
          <a:ln/>
        </p:spPr>
        <p:txBody>
          <a:bodyPr wrap="square" rtlCol="0" anchor="ctr"/>
          <a:lstStyle/>
          <a:p>
            <a:pPr indent="0" marL="0">
              <a:buNone/>
            </a:pPr>
            <a:r>
              <a:rPr lang="en-US" sz="1200" b="1" dirty="0">
                <a:solidFill>
                  <a:srgbClr val="17A398"/>
                </a:solidFill>
                <a:latin typeface="Calibri" pitchFamily="34" charset="0"/>
                <a:ea typeface="Calibri" pitchFamily="34" charset="-122"/>
                <a:cs typeface="Calibri" pitchFamily="34" charset="-120"/>
              </a:rPr>
              <a:t>33 automated scenarios   ·   100% green run   ·   17-slide walkthrough</a:t>
            </a:r>
            <a:endParaRPr lang="en-US" sz="1200" dirty="0"/>
          </a:p>
        </p:txBody>
      </p:sp>
    </p:spTree>
  </p:cSld>
  <p:clrMapOvr>
    <a:masterClrMapping/>
  </p:clrMapOvr>
  <p:transition advTm="22000">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THE ASSIGNMENT</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What was asked</a:t>
            </a:r>
            <a:endParaRPr lang="en-US" sz="2700" dirty="0"/>
          </a:p>
        </p:txBody>
      </p:sp>
      <p:sp>
        <p:nvSpPr>
          <p:cNvPr id="5" name="Shape 3"/>
          <p:cNvSpPr/>
          <p:nvPr/>
        </p:nvSpPr>
        <p:spPr>
          <a:xfrm>
            <a:off x="548640" y="1463040"/>
            <a:ext cx="5074920" cy="4572000"/>
          </a:xfrm>
          <a:prstGeom prst="roundRect">
            <a:avLst>
              <a:gd name="adj" fmla="val 140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548640" y="1463040"/>
            <a:ext cx="5074920" cy="457200"/>
          </a:xfrm>
          <a:prstGeom prst="rect">
            <a:avLst/>
          </a:prstGeom>
          <a:solidFill>
            <a:srgbClr val="1F3864"/>
          </a:solidFill>
          <a:ln/>
        </p:spPr>
      </p:sp>
      <p:sp>
        <p:nvSpPr>
          <p:cNvPr id="7" name="Text 5"/>
          <p:cNvSpPr/>
          <p:nvPr/>
        </p:nvSpPr>
        <p:spPr>
          <a:xfrm>
            <a:off x="777240" y="1463040"/>
            <a:ext cx="4572000" cy="457200"/>
          </a:xfrm>
          <a:prstGeom prst="rect">
            <a:avLst/>
          </a:prstGeom>
          <a:noFill/>
          <a:ln/>
        </p:spPr>
        <p:txBody>
          <a:bodyPr wrap="square" lIns="0" tIns="0" rIns="0" bIns="0" rtlCol="0" anchor="ctr"/>
          <a:lstStyle/>
          <a:p>
            <a:pPr indent="0" marL="0">
              <a:buNone/>
            </a:pPr>
            <a:r>
              <a:rPr lang="en-US" sz="1200" b="1" spc="200" kern="0" dirty="0">
                <a:solidFill>
                  <a:srgbClr val="FFFFFF"/>
                </a:solidFill>
                <a:latin typeface="Trebuchet MS" pitchFamily="34" charset="0"/>
                <a:ea typeface="Trebuchet MS" pitchFamily="34" charset="-122"/>
                <a:cs typeface="Trebuchet MS" pitchFamily="34" charset="-120"/>
              </a:rPr>
              <a:t>OBJECTIVE</a:t>
            </a:r>
            <a:endParaRPr lang="en-US" sz="1200" dirty="0"/>
          </a:p>
        </p:txBody>
      </p:sp>
      <p:sp>
        <p:nvSpPr>
          <p:cNvPr id="8" name="Text 6"/>
          <p:cNvSpPr/>
          <p:nvPr/>
        </p:nvSpPr>
        <p:spPr>
          <a:xfrm>
            <a:off x="777240" y="2148840"/>
            <a:ext cx="4617720" cy="1371600"/>
          </a:xfrm>
          <a:prstGeom prst="rect">
            <a:avLst/>
          </a:prstGeom>
          <a:noFill/>
          <a:ln/>
        </p:spPr>
        <p:txBody>
          <a:bodyPr wrap="square" rtlCol="0" anchor="t"/>
          <a:lstStyle/>
          <a:p>
            <a:pPr indent="0" marL="0">
              <a:spcAft>
                <a:spcPts val="800"/>
              </a:spcAft>
              <a:buNone/>
            </a:pPr>
            <a:r>
              <a:rPr lang="en-US" sz="1700" b="1" dirty="0">
                <a:solidFill>
                  <a:srgbClr val="1F3864"/>
                </a:solidFill>
                <a:latin typeface="Calibri" pitchFamily="34" charset="0"/>
                <a:ea typeface="Calibri" pitchFamily="34" charset="-122"/>
                <a:cs typeface="Calibri" pitchFamily="34" charset="-120"/>
              </a:rPr>
              <a:t>Test the sign-up flow.</a:t>
            </a:r>
            <a:endParaRPr lang="en-US" sz="1700" dirty="0"/>
          </a:p>
          <a:p>
            <a:pPr indent="0" marL="0">
              <a:buNone/>
            </a:pPr>
            <a:r>
              <a:rPr lang="en-US" sz="1400" dirty="0">
                <a:solidFill>
                  <a:srgbClr val="2A2E3A"/>
                </a:solidFill>
                <a:latin typeface="Calibri" pitchFamily="34" charset="0"/>
                <a:ea typeface="Calibri" pitchFamily="34" charset="-122"/>
                <a:cs typeface="Calibri" pitchFamily="34" charset="-120"/>
              </a:rPr>
              <a:t>Automate creating an account on ParaBank, sign in with that account, and log the amount displayed on the page after login.</a:t>
            </a:r>
            <a:endParaRPr lang="en-US" sz="1700" dirty="0"/>
          </a:p>
        </p:txBody>
      </p:sp>
      <p:sp>
        <p:nvSpPr>
          <p:cNvPr id="9" name="Text 7"/>
          <p:cNvSpPr/>
          <p:nvPr/>
        </p:nvSpPr>
        <p:spPr>
          <a:xfrm>
            <a:off x="777240" y="3611880"/>
            <a:ext cx="4572000" cy="274320"/>
          </a:xfrm>
          <a:prstGeom prst="rect">
            <a:avLst/>
          </a:prstGeom>
          <a:noFill/>
          <a:ln/>
        </p:spPr>
        <p:txBody>
          <a:bodyPr wrap="square" rtlCol="0" anchor="ctr"/>
          <a:lstStyle/>
          <a:p>
            <a:pPr indent="0" marL="0">
              <a:buNone/>
            </a:pPr>
            <a:r>
              <a:rPr lang="en-US" sz="1050" b="1" spc="150" kern="0" dirty="0">
                <a:solidFill>
                  <a:srgbClr val="17A398"/>
                </a:solidFill>
                <a:latin typeface="Trebuchet MS" pitchFamily="34" charset="0"/>
                <a:ea typeface="Trebuchet MS" pitchFamily="34" charset="-122"/>
                <a:cs typeface="Trebuchet MS" pitchFamily="34" charset="-120"/>
              </a:rPr>
              <a:t>SCOPE EXPANDED TO DEEP TESTING</a:t>
            </a:r>
            <a:endParaRPr lang="en-US" sz="1050" dirty="0"/>
          </a:p>
        </p:txBody>
      </p:sp>
      <p:sp>
        <p:nvSpPr>
          <p:cNvPr id="10" name="Shape 8"/>
          <p:cNvSpPr/>
          <p:nvPr/>
        </p:nvSpPr>
        <p:spPr>
          <a:xfrm>
            <a:off x="786384" y="3968496"/>
            <a:ext cx="146304" cy="146304"/>
          </a:xfrm>
          <a:prstGeom prst="ellipse">
            <a:avLst/>
          </a:prstGeom>
          <a:solidFill>
            <a:srgbClr val="17A398"/>
          </a:solidFill>
          <a:ln/>
        </p:spPr>
      </p:sp>
      <p:sp>
        <p:nvSpPr>
          <p:cNvPr id="11" name="Text 9"/>
          <p:cNvSpPr/>
          <p:nvPr/>
        </p:nvSpPr>
        <p:spPr>
          <a:xfrm>
            <a:off x="1024128" y="3886200"/>
            <a:ext cx="4480560" cy="329184"/>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 xml:space="preserve">Functional  </a:t>
            </a:r>
            <a:pPr indent="0" marL="0">
              <a:buNone/>
            </a:pPr>
            <a:r>
              <a:rPr lang="en-US" sz="1150" dirty="0">
                <a:solidFill>
                  <a:srgbClr val="6B7280"/>
                </a:solidFill>
                <a:latin typeface="Calibri" pitchFamily="34" charset="0"/>
                <a:ea typeface="Calibri" pitchFamily="34" charset="-122"/>
                <a:cs typeface="Calibri" pitchFamily="34" charset="-120"/>
              </a:rPr>
              <a:t>- registration, login &amp; balance</a:t>
            </a:r>
            <a:endParaRPr lang="en-US" sz="1150" dirty="0"/>
          </a:p>
        </p:txBody>
      </p:sp>
      <p:sp>
        <p:nvSpPr>
          <p:cNvPr id="12" name="Shape 10"/>
          <p:cNvSpPr/>
          <p:nvPr/>
        </p:nvSpPr>
        <p:spPr>
          <a:xfrm>
            <a:off x="786384" y="4389120"/>
            <a:ext cx="146304" cy="146304"/>
          </a:xfrm>
          <a:prstGeom prst="ellipse">
            <a:avLst/>
          </a:prstGeom>
          <a:solidFill>
            <a:srgbClr val="17A398"/>
          </a:solidFill>
          <a:ln/>
        </p:spPr>
      </p:sp>
      <p:sp>
        <p:nvSpPr>
          <p:cNvPr id="13" name="Text 11"/>
          <p:cNvSpPr/>
          <p:nvPr/>
        </p:nvSpPr>
        <p:spPr>
          <a:xfrm>
            <a:off x="1024128" y="4306824"/>
            <a:ext cx="4480560" cy="329184"/>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 xml:space="preserve">Boundary  </a:t>
            </a:r>
            <a:pPr indent="0" marL="0">
              <a:buNone/>
            </a:pPr>
            <a:r>
              <a:rPr lang="en-US" sz="1150" dirty="0">
                <a:solidFill>
                  <a:srgbClr val="6B7280"/>
                </a:solidFill>
                <a:latin typeface="Calibri" pitchFamily="34" charset="0"/>
                <a:ea typeface="Calibri" pitchFamily="34" charset="-122"/>
                <a:cs typeface="Calibri" pitchFamily="34" charset="-120"/>
              </a:rPr>
              <a:t>- input limits &amp; validation</a:t>
            </a:r>
            <a:endParaRPr lang="en-US" sz="1150" dirty="0"/>
          </a:p>
        </p:txBody>
      </p:sp>
      <p:sp>
        <p:nvSpPr>
          <p:cNvPr id="14" name="Shape 12"/>
          <p:cNvSpPr/>
          <p:nvPr/>
        </p:nvSpPr>
        <p:spPr>
          <a:xfrm>
            <a:off x="786384" y="4809744"/>
            <a:ext cx="146304" cy="146304"/>
          </a:xfrm>
          <a:prstGeom prst="ellipse">
            <a:avLst/>
          </a:prstGeom>
          <a:solidFill>
            <a:srgbClr val="17A398"/>
          </a:solidFill>
          <a:ln/>
        </p:spPr>
      </p:sp>
      <p:sp>
        <p:nvSpPr>
          <p:cNvPr id="15" name="Text 13"/>
          <p:cNvSpPr/>
          <p:nvPr/>
        </p:nvSpPr>
        <p:spPr>
          <a:xfrm>
            <a:off x="1024128" y="4727448"/>
            <a:ext cx="4480560" cy="329184"/>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 xml:space="preserve">Security  </a:t>
            </a:r>
            <a:pPr indent="0" marL="0">
              <a:buNone/>
            </a:pPr>
            <a:r>
              <a:rPr lang="en-US" sz="1150" dirty="0">
                <a:solidFill>
                  <a:srgbClr val="6B7280"/>
                </a:solidFill>
                <a:latin typeface="Calibri" pitchFamily="34" charset="0"/>
                <a:ea typeface="Calibri" pitchFamily="34" charset="-122"/>
                <a:cs typeface="Calibri" pitchFamily="34" charset="-120"/>
              </a:rPr>
              <a:t>- injection, masking, sessions</a:t>
            </a:r>
            <a:endParaRPr lang="en-US" sz="1150" dirty="0"/>
          </a:p>
        </p:txBody>
      </p:sp>
      <p:sp>
        <p:nvSpPr>
          <p:cNvPr id="16" name="Shape 14"/>
          <p:cNvSpPr/>
          <p:nvPr/>
        </p:nvSpPr>
        <p:spPr>
          <a:xfrm>
            <a:off x="786384" y="5230368"/>
            <a:ext cx="146304" cy="146304"/>
          </a:xfrm>
          <a:prstGeom prst="ellipse">
            <a:avLst/>
          </a:prstGeom>
          <a:solidFill>
            <a:srgbClr val="17A398"/>
          </a:solidFill>
          <a:ln/>
        </p:spPr>
      </p:sp>
      <p:sp>
        <p:nvSpPr>
          <p:cNvPr id="17" name="Text 15"/>
          <p:cNvSpPr/>
          <p:nvPr/>
        </p:nvSpPr>
        <p:spPr>
          <a:xfrm>
            <a:off x="1024128" y="5148072"/>
            <a:ext cx="4480560" cy="329184"/>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 xml:space="preserve">Access control  </a:t>
            </a:r>
            <a:pPr indent="0" marL="0">
              <a:buNone/>
            </a:pPr>
            <a:r>
              <a:rPr lang="en-US" sz="1150" dirty="0">
                <a:solidFill>
                  <a:srgbClr val="6B7280"/>
                </a:solidFill>
                <a:latin typeface="Calibri" pitchFamily="34" charset="0"/>
                <a:ea typeface="Calibri" pitchFamily="34" charset="-122"/>
                <a:cs typeface="Calibri" pitchFamily="34" charset="-120"/>
              </a:rPr>
              <a:t>- protected-page checks</a:t>
            </a:r>
            <a:endParaRPr lang="en-US" sz="1150" dirty="0"/>
          </a:p>
        </p:txBody>
      </p:sp>
      <p:sp>
        <p:nvSpPr>
          <p:cNvPr id="18" name="Shape 16"/>
          <p:cNvSpPr/>
          <p:nvPr/>
        </p:nvSpPr>
        <p:spPr>
          <a:xfrm>
            <a:off x="786384" y="5650992"/>
            <a:ext cx="146304" cy="146304"/>
          </a:xfrm>
          <a:prstGeom prst="ellipse">
            <a:avLst/>
          </a:prstGeom>
          <a:solidFill>
            <a:srgbClr val="17A398"/>
          </a:solidFill>
          <a:ln/>
        </p:spPr>
      </p:sp>
      <p:sp>
        <p:nvSpPr>
          <p:cNvPr id="19" name="Text 17"/>
          <p:cNvSpPr/>
          <p:nvPr/>
        </p:nvSpPr>
        <p:spPr>
          <a:xfrm>
            <a:off x="1024128" y="5568696"/>
            <a:ext cx="4480560" cy="329184"/>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 xml:space="preserve">Performance  </a:t>
            </a:r>
            <a:pPr indent="0" marL="0">
              <a:buNone/>
            </a:pPr>
            <a:r>
              <a:rPr lang="en-US" sz="1150" dirty="0">
                <a:solidFill>
                  <a:srgbClr val="6B7280"/>
                </a:solidFill>
                <a:latin typeface="Calibri" pitchFamily="34" charset="0"/>
                <a:ea typeface="Calibri" pitchFamily="34" charset="-122"/>
                <a:cs typeface="Calibri" pitchFamily="34" charset="-120"/>
              </a:rPr>
              <a:t>- response-time budgets</a:t>
            </a:r>
            <a:endParaRPr lang="en-US" sz="1150" dirty="0"/>
          </a:p>
        </p:txBody>
      </p:sp>
      <p:sp>
        <p:nvSpPr>
          <p:cNvPr id="20" name="Shape 18"/>
          <p:cNvSpPr/>
          <p:nvPr/>
        </p:nvSpPr>
        <p:spPr>
          <a:xfrm>
            <a:off x="5852160" y="1463040"/>
            <a:ext cx="5788152" cy="4572000"/>
          </a:xfrm>
          <a:prstGeom prst="roundRect">
            <a:avLst>
              <a:gd name="adj" fmla="val 140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1" name="Shape 19"/>
          <p:cNvSpPr/>
          <p:nvPr/>
        </p:nvSpPr>
        <p:spPr>
          <a:xfrm>
            <a:off x="5852160" y="1463040"/>
            <a:ext cx="5788152" cy="457200"/>
          </a:xfrm>
          <a:prstGeom prst="rect">
            <a:avLst/>
          </a:prstGeom>
          <a:solidFill>
            <a:srgbClr val="17A398"/>
          </a:solidFill>
          <a:ln/>
        </p:spPr>
      </p:sp>
      <p:sp>
        <p:nvSpPr>
          <p:cNvPr id="22" name="Text 20"/>
          <p:cNvSpPr/>
          <p:nvPr/>
        </p:nvSpPr>
        <p:spPr>
          <a:xfrm>
            <a:off x="6080760" y="1463040"/>
            <a:ext cx="5486400" cy="457200"/>
          </a:xfrm>
          <a:prstGeom prst="rect">
            <a:avLst/>
          </a:prstGeom>
          <a:noFill/>
          <a:ln/>
        </p:spPr>
        <p:txBody>
          <a:bodyPr wrap="square" lIns="0" tIns="0" rIns="0" bIns="0" rtlCol="0" anchor="ctr"/>
          <a:lstStyle/>
          <a:p>
            <a:pPr indent="0" marL="0">
              <a:buNone/>
            </a:pPr>
            <a:r>
              <a:rPr lang="en-US" sz="1200" b="1" spc="200" kern="0" dirty="0">
                <a:solidFill>
                  <a:srgbClr val="FFFFFF"/>
                </a:solidFill>
                <a:latin typeface="Trebuchet MS" pitchFamily="34" charset="0"/>
                <a:ea typeface="Trebuchet MS" pitchFamily="34" charset="-122"/>
                <a:cs typeface="Trebuchet MS" pitchFamily="34" charset="-120"/>
              </a:rPr>
              <a:t>DELIVERABLES</a:t>
            </a:r>
            <a:endParaRPr lang="en-US" sz="1200" dirty="0"/>
          </a:p>
        </p:txBody>
      </p:sp>
      <p:sp>
        <p:nvSpPr>
          <p:cNvPr id="23" name="Shape 21"/>
          <p:cNvSpPr/>
          <p:nvPr/>
        </p:nvSpPr>
        <p:spPr>
          <a:xfrm>
            <a:off x="6080760" y="2194560"/>
            <a:ext cx="566928" cy="566928"/>
          </a:xfrm>
          <a:prstGeom prst="roundRect">
            <a:avLst>
              <a:gd name="adj" fmla="val 8065"/>
            </a:avLst>
          </a:prstGeom>
          <a:solidFill>
            <a:srgbClr val="1F3864"/>
          </a:solidFill>
          <a:ln/>
        </p:spPr>
      </p:sp>
      <p:sp>
        <p:nvSpPr>
          <p:cNvPr id="24" name="Text 22"/>
          <p:cNvSpPr/>
          <p:nvPr/>
        </p:nvSpPr>
        <p:spPr>
          <a:xfrm>
            <a:off x="6080760" y="21945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1</a:t>
            </a:r>
            <a:endParaRPr lang="en-US" sz="2000" dirty="0"/>
          </a:p>
        </p:txBody>
      </p:sp>
      <p:sp>
        <p:nvSpPr>
          <p:cNvPr id="25" name="Text 23"/>
          <p:cNvSpPr/>
          <p:nvPr/>
        </p:nvSpPr>
        <p:spPr>
          <a:xfrm>
            <a:off x="6812280" y="2176272"/>
            <a:ext cx="4663440" cy="310896"/>
          </a:xfrm>
          <a:prstGeom prst="rect">
            <a:avLst/>
          </a:prstGeom>
          <a:noFill/>
          <a:ln/>
        </p:spPr>
        <p:txBody>
          <a:bodyPr wrap="square" lIns="0" tIns="0" rIns="0" bIns="0" rtlCol="0" anchor="ctr"/>
          <a:lstStyle/>
          <a:p>
            <a:pPr indent="0" marL="0">
              <a:buNone/>
            </a:pPr>
            <a:r>
              <a:rPr lang="en-US" sz="1450" b="1" dirty="0">
                <a:solidFill>
                  <a:srgbClr val="1F3864"/>
                </a:solidFill>
                <a:latin typeface="Trebuchet MS" pitchFamily="34" charset="0"/>
                <a:ea typeface="Trebuchet MS" pitchFamily="34" charset="-122"/>
                <a:cs typeface="Trebuchet MS" pitchFamily="34" charset="-120"/>
              </a:rPr>
              <a:t>Test cases</a:t>
            </a:r>
            <a:endParaRPr lang="en-US" sz="1450" dirty="0"/>
          </a:p>
        </p:txBody>
      </p:sp>
      <p:sp>
        <p:nvSpPr>
          <p:cNvPr id="26" name="Text 24"/>
          <p:cNvSpPr/>
          <p:nvPr/>
        </p:nvSpPr>
        <p:spPr>
          <a:xfrm>
            <a:off x="6812280" y="2468880"/>
            <a:ext cx="4709160" cy="45720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Documented in a structured Excel workbook</a:t>
            </a:r>
            <a:endParaRPr lang="en-US" sz="1150" dirty="0"/>
          </a:p>
        </p:txBody>
      </p:sp>
      <p:sp>
        <p:nvSpPr>
          <p:cNvPr id="27" name="Shape 25"/>
          <p:cNvSpPr/>
          <p:nvPr/>
        </p:nvSpPr>
        <p:spPr>
          <a:xfrm>
            <a:off x="6080760" y="3127248"/>
            <a:ext cx="566928" cy="566928"/>
          </a:xfrm>
          <a:prstGeom prst="roundRect">
            <a:avLst>
              <a:gd name="adj" fmla="val 8065"/>
            </a:avLst>
          </a:prstGeom>
          <a:solidFill>
            <a:srgbClr val="1F3864"/>
          </a:solidFill>
          <a:ln/>
        </p:spPr>
      </p:sp>
      <p:sp>
        <p:nvSpPr>
          <p:cNvPr id="28" name="Text 26"/>
          <p:cNvSpPr/>
          <p:nvPr/>
        </p:nvSpPr>
        <p:spPr>
          <a:xfrm>
            <a:off x="6080760" y="31272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2</a:t>
            </a:r>
            <a:endParaRPr lang="en-US" sz="2000" dirty="0"/>
          </a:p>
        </p:txBody>
      </p:sp>
      <p:sp>
        <p:nvSpPr>
          <p:cNvPr id="29" name="Text 27"/>
          <p:cNvSpPr/>
          <p:nvPr/>
        </p:nvSpPr>
        <p:spPr>
          <a:xfrm>
            <a:off x="6812280" y="3108960"/>
            <a:ext cx="4663440" cy="310896"/>
          </a:xfrm>
          <a:prstGeom prst="rect">
            <a:avLst/>
          </a:prstGeom>
          <a:noFill/>
          <a:ln/>
        </p:spPr>
        <p:txBody>
          <a:bodyPr wrap="square" lIns="0" tIns="0" rIns="0" bIns="0" rtlCol="0" anchor="ctr"/>
          <a:lstStyle/>
          <a:p>
            <a:pPr indent="0" marL="0">
              <a:buNone/>
            </a:pPr>
            <a:r>
              <a:rPr lang="en-US" sz="1450" b="1" dirty="0">
                <a:solidFill>
                  <a:srgbClr val="1F3864"/>
                </a:solidFill>
                <a:latin typeface="Trebuchet MS" pitchFamily="34" charset="0"/>
                <a:ea typeface="Trebuchet MS" pitchFamily="34" charset="-122"/>
                <a:cs typeface="Trebuchet MS" pitchFamily="34" charset="-120"/>
              </a:rPr>
              <a:t>Automation code</a:t>
            </a:r>
            <a:endParaRPr lang="en-US" sz="1450" dirty="0"/>
          </a:p>
        </p:txBody>
      </p:sp>
      <p:sp>
        <p:nvSpPr>
          <p:cNvPr id="30" name="Text 28"/>
          <p:cNvSpPr/>
          <p:nvPr/>
        </p:nvSpPr>
        <p:spPr>
          <a:xfrm>
            <a:off x="6812280" y="3401568"/>
            <a:ext cx="4709160" cy="45720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GitHub repo - BDD to structure tests, BDD + POM for the scripts</a:t>
            </a:r>
            <a:endParaRPr lang="en-US" sz="1150" dirty="0"/>
          </a:p>
        </p:txBody>
      </p:sp>
      <p:sp>
        <p:nvSpPr>
          <p:cNvPr id="31" name="Shape 29"/>
          <p:cNvSpPr/>
          <p:nvPr/>
        </p:nvSpPr>
        <p:spPr>
          <a:xfrm>
            <a:off x="6080760" y="4059936"/>
            <a:ext cx="566928" cy="566928"/>
          </a:xfrm>
          <a:prstGeom prst="roundRect">
            <a:avLst>
              <a:gd name="adj" fmla="val 8065"/>
            </a:avLst>
          </a:prstGeom>
          <a:solidFill>
            <a:srgbClr val="1F3864"/>
          </a:solidFill>
          <a:ln/>
        </p:spPr>
      </p:sp>
      <p:sp>
        <p:nvSpPr>
          <p:cNvPr id="32" name="Text 30"/>
          <p:cNvSpPr/>
          <p:nvPr/>
        </p:nvSpPr>
        <p:spPr>
          <a:xfrm>
            <a:off x="6080760" y="40599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3</a:t>
            </a:r>
            <a:endParaRPr lang="en-US" sz="2000" dirty="0"/>
          </a:p>
        </p:txBody>
      </p:sp>
      <p:sp>
        <p:nvSpPr>
          <p:cNvPr id="33" name="Text 31"/>
          <p:cNvSpPr/>
          <p:nvPr/>
        </p:nvSpPr>
        <p:spPr>
          <a:xfrm>
            <a:off x="6812280" y="4041648"/>
            <a:ext cx="4663440" cy="310896"/>
          </a:xfrm>
          <a:prstGeom prst="rect">
            <a:avLst/>
          </a:prstGeom>
          <a:noFill/>
          <a:ln/>
        </p:spPr>
        <p:txBody>
          <a:bodyPr wrap="square" lIns="0" tIns="0" rIns="0" bIns="0" rtlCol="0" anchor="ctr"/>
          <a:lstStyle/>
          <a:p>
            <a:pPr indent="0" marL="0">
              <a:buNone/>
            </a:pPr>
            <a:r>
              <a:rPr lang="en-US" sz="1450" b="1" dirty="0">
                <a:solidFill>
                  <a:srgbClr val="1F3864"/>
                </a:solidFill>
                <a:latin typeface="Trebuchet MS" pitchFamily="34" charset="0"/>
                <a:ea typeface="Trebuchet MS" pitchFamily="34" charset="-122"/>
                <a:cs typeface="Trebuchet MS" pitchFamily="34" charset="-120"/>
              </a:rPr>
              <a:t>Multiple commits</a:t>
            </a:r>
            <a:endParaRPr lang="en-US" sz="1450" dirty="0"/>
          </a:p>
        </p:txBody>
      </p:sp>
      <p:sp>
        <p:nvSpPr>
          <p:cNvPr id="34" name="Text 32"/>
          <p:cNvSpPr/>
          <p:nvPr/>
        </p:nvSpPr>
        <p:spPr>
          <a:xfrm>
            <a:off x="6812280" y="4334256"/>
            <a:ext cx="4709160" cy="45720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An incremental, reviewable commit history</a:t>
            </a:r>
            <a:endParaRPr lang="en-US" sz="1150" dirty="0"/>
          </a:p>
        </p:txBody>
      </p:sp>
      <p:sp>
        <p:nvSpPr>
          <p:cNvPr id="35" name="Shape 33"/>
          <p:cNvSpPr/>
          <p:nvPr/>
        </p:nvSpPr>
        <p:spPr>
          <a:xfrm>
            <a:off x="6080760" y="4992624"/>
            <a:ext cx="566928" cy="566928"/>
          </a:xfrm>
          <a:prstGeom prst="roundRect">
            <a:avLst>
              <a:gd name="adj" fmla="val 8065"/>
            </a:avLst>
          </a:prstGeom>
          <a:solidFill>
            <a:srgbClr val="1F3864"/>
          </a:solidFill>
          <a:ln/>
        </p:spPr>
      </p:sp>
      <p:sp>
        <p:nvSpPr>
          <p:cNvPr id="36" name="Text 34"/>
          <p:cNvSpPr/>
          <p:nvPr/>
        </p:nvSpPr>
        <p:spPr>
          <a:xfrm>
            <a:off x="6080760" y="499262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4</a:t>
            </a:r>
            <a:endParaRPr lang="en-US" sz="2000" dirty="0"/>
          </a:p>
        </p:txBody>
      </p:sp>
      <p:sp>
        <p:nvSpPr>
          <p:cNvPr id="37" name="Text 35"/>
          <p:cNvSpPr/>
          <p:nvPr/>
        </p:nvSpPr>
        <p:spPr>
          <a:xfrm>
            <a:off x="6812280" y="4974336"/>
            <a:ext cx="4663440" cy="310896"/>
          </a:xfrm>
          <a:prstGeom prst="rect">
            <a:avLst/>
          </a:prstGeom>
          <a:noFill/>
          <a:ln/>
        </p:spPr>
        <p:txBody>
          <a:bodyPr wrap="square" lIns="0" tIns="0" rIns="0" bIns="0" rtlCol="0" anchor="ctr"/>
          <a:lstStyle/>
          <a:p>
            <a:pPr indent="0" marL="0">
              <a:buNone/>
            </a:pPr>
            <a:r>
              <a:rPr lang="en-US" sz="1450" b="1" dirty="0">
                <a:solidFill>
                  <a:srgbClr val="1F3864"/>
                </a:solidFill>
                <a:latin typeface="Trebuchet MS" pitchFamily="34" charset="0"/>
                <a:ea typeface="Trebuchet MS" pitchFamily="34" charset="-122"/>
                <a:cs typeface="Trebuchet MS" pitchFamily="34" charset="-120"/>
              </a:rPr>
              <a:t>Proof of execution</a:t>
            </a:r>
            <a:endParaRPr lang="en-US" sz="1450" dirty="0"/>
          </a:p>
        </p:txBody>
      </p:sp>
      <p:sp>
        <p:nvSpPr>
          <p:cNvPr id="38" name="Text 36"/>
          <p:cNvSpPr/>
          <p:nvPr/>
        </p:nvSpPr>
        <p:spPr>
          <a:xfrm>
            <a:off x="6812280" y="5266944"/>
            <a:ext cx="4709160" cy="45720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Screenshots / recording of a passing run</a:t>
            </a:r>
            <a:endParaRPr lang="en-US" sz="1150" dirty="0"/>
          </a:p>
        </p:txBody>
      </p:sp>
      <p:sp>
        <p:nvSpPr>
          <p:cNvPr id="39" name="Text 37"/>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40" name="Text 38"/>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02  /  17</a:t>
            </a:r>
            <a:endParaRPr lang="en-US" sz="900" dirty="0"/>
          </a:p>
        </p:txBody>
      </p:sp>
    </p:spTree>
  </p:cSld>
  <p:clrMapOvr>
    <a:masterClrMapping/>
  </p:clrMapOvr>
  <p:transition advTm="38000">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THE APPLICATION</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ParaBank and the flow under test</a:t>
            </a:r>
            <a:endParaRPr lang="en-US" sz="2700" dirty="0"/>
          </a:p>
        </p:txBody>
      </p:sp>
      <p:sp>
        <p:nvSpPr>
          <p:cNvPr id="5" name="Shape 3"/>
          <p:cNvSpPr/>
          <p:nvPr/>
        </p:nvSpPr>
        <p:spPr>
          <a:xfrm>
            <a:off x="548640" y="1554480"/>
            <a:ext cx="3246120" cy="4480560"/>
          </a:xfrm>
          <a:prstGeom prst="roundRect">
            <a:avLst>
              <a:gd name="adj" fmla="val 1972"/>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Text 4"/>
          <p:cNvSpPr/>
          <p:nvPr/>
        </p:nvSpPr>
        <p:spPr>
          <a:xfrm>
            <a:off x="822960" y="1783080"/>
            <a:ext cx="2743200" cy="274320"/>
          </a:xfrm>
          <a:prstGeom prst="rect">
            <a:avLst/>
          </a:prstGeom>
          <a:noFill/>
          <a:ln/>
        </p:spPr>
        <p:txBody>
          <a:bodyPr wrap="square" rtlCol="0" anchor="ctr"/>
          <a:lstStyle/>
          <a:p>
            <a:pPr indent="0" marL="0">
              <a:buNone/>
            </a:pPr>
            <a:r>
              <a:rPr lang="en-US" sz="1100" b="1" spc="150" kern="0" dirty="0">
                <a:solidFill>
                  <a:srgbClr val="17A398"/>
                </a:solidFill>
                <a:latin typeface="Trebuchet MS" pitchFamily="34" charset="0"/>
                <a:ea typeface="Trebuchet MS" pitchFamily="34" charset="-122"/>
                <a:cs typeface="Trebuchet MS" pitchFamily="34" charset="-120"/>
              </a:rPr>
              <a:t>ABOUT PARABANK</a:t>
            </a:r>
            <a:endParaRPr lang="en-US" sz="1100" dirty="0"/>
          </a:p>
        </p:txBody>
      </p:sp>
      <p:sp>
        <p:nvSpPr>
          <p:cNvPr id="7" name="Text 5"/>
          <p:cNvSpPr/>
          <p:nvPr/>
        </p:nvSpPr>
        <p:spPr>
          <a:xfrm>
            <a:off x="822960" y="2103120"/>
            <a:ext cx="2697480" cy="3657600"/>
          </a:xfrm>
          <a:prstGeom prst="rect">
            <a:avLst/>
          </a:prstGeom>
          <a:noFill/>
          <a:ln/>
        </p:spPr>
        <p:txBody>
          <a:bodyPr wrap="square" lIns="0" tIns="0" rIns="0" bIns="0" rtlCol="0" anchor="t"/>
          <a:lstStyle/>
          <a:p>
            <a:pPr indent="0" marL="0">
              <a:spcAft>
                <a:spcPts val="1000"/>
              </a:spcAft>
              <a:buNone/>
            </a:pPr>
            <a:r>
              <a:rPr lang="en-US" sz="1500" b="1" dirty="0">
                <a:solidFill>
                  <a:srgbClr val="FFFFFF"/>
                </a:solidFill>
                <a:latin typeface="Calibri" pitchFamily="34" charset="0"/>
                <a:ea typeface="Calibri" pitchFamily="34" charset="-122"/>
                <a:cs typeface="Calibri" pitchFamily="34" charset="-120"/>
              </a:rPr>
              <a:t>Parasoft’s public online-banking demo.</a:t>
            </a:r>
            <a:endParaRPr lang="en-US" sz="1500" dirty="0"/>
          </a:p>
          <a:p>
            <a:pPr indent="0" marL="0">
              <a:spcAft>
                <a:spcPts val="1000"/>
              </a:spcAft>
              <a:buNone/>
            </a:pPr>
            <a:r>
              <a:rPr lang="en-US" sz="1250" dirty="0">
                <a:solidFill>
                  <a:srgbClr val="C7D2E8"/>
                </a:solidFill>
                <a:latin typeface="Calibri" pitchFamily="34" charset="0"/>
                <a:ea typeface="Calibri" pitchFamily="34" charset="-122"/>
                <a:cs typeface="Calibri" pitchFamily="34" charset="-120"/>
              </a:rPr>
              <a:t>A real registration form, a login, and post-login account pages - backed by a Java / JPA web application.</a:t>
            </a:r>
            <a:endParaRPr lang="en-US" sz="1500" dirty="0"/>
          </a:p>
          <a:p>
            <a:pPr indent="0" marL="0">
              <a:buNone/>
            </a:pPr>
            <a:r>
              <a:rPr lang="en-US" sz="1250" dirty="0">
                <a:solidFill>
                  <a:srgbClr val="C7D2E8"/>
                </a:solidFill>
                <a:latin typeface="Calibri" pitchFamily="34" charset="0"/>
                <a:ea typeface="Calibri" pitchFamily="34" charset="-122"/>
                <a:cs typeface="Calibri" pitchFamily="34" charset="-120"/>
              </a:rPr>
              <a:t>A shared, live environment - so the suite uses fresh, unique data on every run.</a:t>
            </a:r>
            <a:endParaRPr lang="en-US" sz="1500" dirty="0"/>
          </a:p>
        </p:txBody>
      </p:sp>
      <p:sp>
        <p:nvSpPr>
          <p:cNvPr id="8" name="Text 6"/>
          <p:cNvSpPr/>
          <p:nvPr/>
        </p:nvSpPr>
        <p:spPr>
          <a:xfrm>
            <a:off x="4114800" y="1783080"/>
            <a:ext cx="7315200" cy="274320"/>
          </a:xfrm>
          <a:prstGeom prst="rect">
            <a:avLst/>
          </a:prstGeom>
          <a:noFill/>
          <a:ln/>
        </p:spPr>
        <p:txBody>
          <a:bodyPr wrap="square" rtlCol="0" anchor="ctr"/>
          <a:lstStyle/>
          <a:p>
            <a:pPr indent="0" marL="0">
              <a:buNone/>
            </a:pPr>
            <a:r>
              <a:rPr lang="en-US" sz="1100" b="1" spc="150" kern="0" dirty="0">
                <a:solidFill>
                  <a:srgbClr val="17A398"/>
                </a:solidFill>
                <a:latin typeface="Trebuchet MS" pitchFamily="34" charset="0"/>
                <a:ea typeface="Trebuchet MS" pitchFamily="34" charset="-122"/>
                <a:cs typeface="Trebuchet MS" pitchFamily="34" charset="-120"/>
              </a:rPr>
              <a:t>THE CORE FLOW AUTOMATED</a:t>
            </a:r>
            <a:endParaRPr lang="en-US" sz="1100" dirty="0"/>
          </a:p>
        </p:txBody>
      </p:sp>
      <p:sp>
        <p:nvSpPr>
          <p:cNvPr id="9" name="Shape 7"/>
          <p:cNvSpPr/>
          <p:nvPr/>
        </p:nvSpPr>
        <p:spPr>
          <a:xfrm>
            <a:off x="4114800" y="2194560"/>
            <a:ext cx="7516368" cy="1097280"/>
          </a:xfrm>
          <a:prstGeom prst="roundRect">
            <a:avLst>
              <a:gd name="adj" fmla="val 583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0" name="Shape 8"/>
          <p:cNvSpPr/>
          <p:nvPr/>
        </p:nvSpPr>
        <p:spPr>
          <a:xfrm>
            <a:off x="4315968" y="2395728"/>
            <a:ext cx="694944" cy="694944"/>
          </a:xfrm>
          <a:prstGeom prst="roundRect">
            <a:avLst>
              <a:gd name="adj" fmla="val 50000"/>
            </a:avLst>
          </a:prstGeom>
          <a:solidFill>
            <a:srgbClr val="17A398"/>
          </a:solidFill>
          <a:ln/>
        </p:spPr>
      </p:sp>
      <p:sp>
        <p:nvSpPr>
          <p:cNvPr id="11" name="Text 9"/>
          <p:cNvSpPr/>
          <p:nvPr/>
        </p:nvSpPr>
        <p:spPr>
          <a:xfrm>
            <a:off x="4315968" y="2395728"/>
            <a:ext cx="694944" cy="694944"/>
          </a:xfrm>
          <a:prstGeom prst="rect">
            <a:avLst/>
          </a:prstGeom>
          <a:noFill/>
          <a:ln/>
        </p:spPr>
        <p:txBody>
          <a:bodyPr wrap="square" lIns="0" tIns="0" rIns="0" bIns="0" rtlCol="0" anchor="ctr"/>
          <a:lstStyle/>
          <a:p>
            <a:pPr algn="ctr" indent="0" marL="0">
              <a:buNone/>
            </a:pPr>
            <a:r>
              <a:rPr lang="en-US" sz="2800" b="1" dirty="0">
                <a:solidFill>
                  <a:srgbClr val="FFFFFF"/>
                </a:solidFill>
                <a:latin typeface="Trebuchet MS" pitchFamily="34" charset="0"/>
                <a:ea typeface="Trebuchet MS" pitchFamily="34" charset="-122"/>
                <a:cs typeface="Trebuchet MS" pitchFamily="34" charset="-120"/>
              </a:rPr>
              <a:t>1</a:t>
            </a:r>
            <a:endParaRPr lang="en-US" sz="2800" dirty="0"/>
          </a:p>
        </p:txBody>
      </p:sp>
      <p:sp>
        <p:nvSpPr>
          <p:cNvPr id="12" name="Text 10"/>
          <p:cNvSpPr/>
          <p:nvPr/>
        </p:nvSpPr>
        <p:spPr>
          <a:xfrm>
            <a:off x="5212080" y="2340864"/>
            <a:ext cx="6217920" cy="365760"/>
          </a:xfrm>
          <a:prstGeom prst="rect">
            <a:avLst/>
          </a:prstGeom>
          <a:noFill/>
          <a:ln/>
        </p:spPr>
        <p:txBody>
          <a:bodyPr wrap="square" lIns="0" tIns="0" rIns="0" bIns="0" rtlCol="0" anchor="ctr"/>
          <a:lstStyle/>
          <a:p>
            <a:pPr indent="0" marL="0">
              <a:buNone/>
            </a:pPr>
            <a:r>
              <a:rPr lang="en-US" sz="1700" b="1" dirty="0">
                <a:solidFill>
                  <a:srgbClr val="1F3864"/>
                </a:solidFill>
                <a:latin typeface="Trebuchet MS" pitchFamily="34" charset="0"/>
                <a:ea typeface="Trebuchet MS" pitchFamily="34" charset="-122"/>
                <a:cs typeface="Trebuchet MS" pitchFamily="34" charset="-120"/>
              </a:rPr>
              <a:t>Register</a:t>
            </a:r>
            <a:endParaRPr lang="en-US" sz="1700" dirty="0"/>
          </a:p>
        </p:txBody>
      </p:sp>
      <p:sp>
        <p:nvSpPr>
          <p:cNvPr id="13" name="Text 11"/>
          <p:cNvSpPr/>
          <p:nvPr/>
        </p:nvSpPr>
        <p:spPr>
          <a:xfrm>
            <a:off x="5212080" y="2706624"/>
            <a:ext cx="6217920" cy="4572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Create a new customer account with valid details</a:t>
            </a:r>
            <a:endParaRPr lang="en-US" sz="1250" dirty="0"/>
          </a:p>
        </p:txBody>
      </p:sp>
      <p:sp>
        <p:nvSpPr>
          <p:cNvPr id="14" name="Text 12"/>
          <p:cNvSpPr/>
          <p:nvPr/>
        </p:nvSpPr>
        <p:spPr>
          <a:xfrm>
            <a:off x="4526280" y="3145536"/>
            <a:ext cx="274320" cy="310896"/>
          </a:xfrm>
          <a:prstGeom prst="rect">
            <a:avLst/>
          </a:prstGeom>
          <a:noFill/>
          <a:ln/>
        </p:spPr>
        <p:txBody>
          <a:bodyPr wrap="square" lIns="0" tIns="0" rIns="0" bIns="0" rtlCol="0" anchor="ctr"/>
          <a:lstStyle/>
          <a:p>
            <a:pPr algn="ctr" indent="0" marL="0">
              <a:buNone/>
            </a:pPr>
            <a:r>
              <a:rPr lang="en-US" sz="1300" dirty="0">
                <a:solidFill>
                  <a:srgbClr val="E8A33D"/>
                </a:solidFill>
                <a:latin typeface="Trebuchet MS" pitchFamily="34" charset="0"/>
                <a:ea typeface="Trebuchet MS" pitchFamily="34" charset="-122"/>
                <a:cs typeface="Trebuchet MS" pitchFamily="34" charset="-120"/>
              </a:rPr>
              <a:t>▼</a:t>
            </a:r>
            <a:endParaRPr lang="en-US" sz="1300" dirty="0"/>
          </a:p>
        </p:txBody>
      </p:sp>
      <p:sp>
        <p:nvSpPr>
          <p:cNvPr id="15" name="Shape 13"/>
          <p:cNvSpPr/>
          <p:nvPr/>
        </p:nvSpPr>
        <p:spPr>
          <a:xfrm>
            <a:off x="4114800" y="3493008"/>
            <a:ext cx="7516368" cy="1097280"/>
          </a:xfrm>
          <a:prstGeom prst="roundRect">
            <a:avLst>
              <a:gd name="adj" fmla="val 583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6" name="Shape 14"/>
          <p:cNvSpPr/>
          <p:nvPr/>
        </p:nvSpPr>
        <p:spPr>
          <a:xfrm>
            <a:off x="4315968" y="3694176"/>
            <a:ext cx="694944" cy="694944"/>
          </a:xfrm>
          <a:prstGeom prst="roundRect">
            <a:avLst>
              <a:gd name="adj" fmla="val 50000"/>
            </a:avLst>
          </a:prstGeom>
          <a:solidFill>
            <a:srgbClr val="2F5496"/>
          </a:solidFill>
          <a:ln/>
        </p:spPr>
      </p:sp>
      <p:sp>
        <p:nvSpPr>
          <p:cNvPr id="17" name="Text 15"/>
          <p:cNvSpPr/>
          <p:nvPr/>
        </p:nvSpPr>
        <p:spPr>
          <a:xfrm>
            <a:off x="4315968" y="3694176"/>
            <a:ext cx="694944" cy="694944"/>
          </a:xfrm>
          <a:prstGeom prst="rect">
            <a:avLst/>
          </a:prstGeom>
          <a:noFill/>
          <a:ln/>
        </p:spPr>
        <p:txBody>
          <a:bodyPr wrap="square" lIns="0" tIns="0" rIns="0" bIns="0" rtlCol="0" anchor="ctr"/>
          <a:lstStyle/>
          <a:p>
            <a:pPr algn="ctr" indent="0" marL="0">
              <a:buNone/>
            </a:pPr>
            <a:r>
              <a:rPr lang="en-US" sz="2800" b="1" dirty="0">
                <a:solidFill>
                  <a:srgbClr val="FFFFFF"/>
                </a:solidFill>
                <a:latin typeface="Trebuchet MS" pitchFamily="34" charset="0"/>
                <a:ea typeface="Trebuchet MS" pitchFamily="34" charset="-122"/>
                <a:cs typeface="Trebuchet MS" pitchFamily="34" charset="-120"/>
              </a:rPr>
              <a:t>2</a:t>
            </a:r>
            <a:endParaRPr lang="en-US" sz="2800" dirty="0"/>
          </a:p>
        </p:txBody>
      </p:sp>
      <p:sp>
        <p:nvSpPr>
          <p:cNvPr id="18" name="Text 16"/>
          <p:cNvSpPr/>
          <p:nvPr/>
        </p:nvSpPr>
        <p:spPr>
          <a:xfrm>
            <a:off x="5212080" y="3639312"/>
            <a:ext cx="6217920" cy="365760"/>
          </a:xfrm>
          <a:prstGeom prst="rect">
            <a:avLst/>
          </a:prstGeom>
          <a:noFill/>
          <a:ln/>
        </p:spPr>
        <p:txBody>
          <a:bodyPr wrap="square" lIns="0" tIns="0" rIns="0" bIns="0" rtlCol="0" anchor="ctr"/>
          <a:lstStyle/>
          <a:p>
            <a:pPr indent="0" marL="0">
              <a:buNone/>
            </a:pPr>
            <a:r>
              <a:rPr lang="en-US" sz="1700" b="1" dirty="0">
                <a:solidFill>
                  <a:srgbClr val="1F3864"/>
                </a:solidFill>
                <a:latin typeface="Trebuchet MS" pitchFamily="34" charset="0"/>
                <a:ea typeface="Trebuchet MS" pitchFamily="34" charset="-122"/>
                <a:cs typeface="Trebuchet MS" pitchFamily="34" charset="-120"/>
              </a:rPr>
              <a:t>Sign in</a:t>
            </a:r>
            <a:endParaRPr lang="en-US" sz="1700" dirty="0"/>
          </a:p>
        </p:txBody>
      </p:sp>
      <p:sp>
        <p:nvSpPr>
          <p:cNvPr id="19" name="Text 17"/>
          <p:cNvSpPr/>
          <p:nvPr/>
        </p:nvSpPr>
        <p:spPr>
          <a:xfrm>
            <a:off x="5212080" y="4005072"/>
            <a:ext cx="6217920" cy="4572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Log in on the home page with those credentials</a:t>
            </a:r>
            <a:endParaRPr lang="en-US" sz="1250" dirty="0"/>
          </a:p>
        </p:txBody>
      </p:sp>
      <p:sp>
        <p:nvSpPr>
          <p:cNvPr id="20" name="Text 18"/>
          <p:cNvSpPr/>
          <p:nvPr/>
        </p:nvSpPr>
        <p:spPr>
          <a:xfrm>
            <a:off x="4526280" y="4443984"/>
            <a:ext cx="274320" cy="310896"/>
          </a:xfrm>
          <a:prstGeom prst="rect">
            <a:avLst/>
          </a:prstGeom>
          <a:noFill/>
          <a:ln/>
        </p:spPr>
        <p:txBody>
          <a:bodyPr wrap="square" lIns="0" tIns="0" rIns="0" bIns="0" rtlCol="0" anchor="ctr"/>
          <a:lstStyle/>
          <a:p>
            <a:pPr algn="ctr" indent="0" marL="0">
              <a:buNone/>
            </a:pPr>
            <a:r>
              <a:rPr lang="en-US" sz="1300" dirty="0">
                <a:solidFill>
                  <a:srgbClr val="E8A33D"/>
                </a:solidFill>
                <a:latin typeface="Trebuchet MS" pitchFamily="34" charset="0"/>
                <a:ea typeface="Trebuchet MS" pitchFamily="34" charset="-122"/>
                <a:cs typeface="Trebuchet MS" pitchFamily="34" charset="-120"/>
              </a:rPr>
              <a:t>▼</a:t>
            </a:r>
            <a:endParaRPr lang="en-US" sz="1300" dirty="0"/>
          </a:p>
        </p:txBody>
      </p:sp>
      <p:sp>
        <p:nvSpPr>
          <p:cNvPr id="21" name="Shape 19"/>
          <p:cNvSpPr/>
          <p:nvPr/>
        </p:nvSpPr>
        <p:spPr>
          <a:xfrm>
            <a:off x="4114800" y="4791456"/>
            <a:ext cx="7516368" cy="1097280"/>
          </a:xfrm>
          <a:prstGeom prst="roundRect">
            <a:avLst>
              <a:gd name="adj" fmla="val 583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2" name="Shape 20"/>
          <p:cNvSpPr/>
          <p:nvPr/>
        </p:nvSpPr>
        <p:spPr>
          <a:xfrm>
            <a:off x="4315968" y="4992624"/>
            <a:ext cx="694944" cy="694944"/>
          </a:xfrm>
          <a:prstGeom prst="roundRect">
            <a:avLst>
              <a:gd name="adj" fmla="val 50000"/>
            </a:avLst>
          </a:prstGeom>
          <a:solidFill>
            <a:srgbClr val="E8A33D"/>
          </a:solidFill>
          <a:ln/>
        </p:spPr>
      </p:sp>
      <p:sp>
        <p:nvSpPr>
          <p:cNvPr id="23" name="Text 21"/>
          <p:cNvSpPr/>
          <p:nvPr/>
        </p:nvSpPr>
        <p:spPr>
          <a:xfrm>
            <a:off x="4315968" y="4992624"/>
            <a:ext cx="694944" cy="694944"/>
          </a:xfrm>
          <a:prstGeom prst="rect">
            <a:avLst/>
          </a:prstGeom>
          <a:noFill/>
          <a:ln/>
        </p:spPr>
        <p:txBody>
          <a:bodyPr wrap="square" lIns="0" tIns="0" rIns="0" bIns="0" rtlCol="0" anchor="ctr"/>
          <a:lstStyle/>
          <a:p>
            <a:pPr algn="ctr" indent="0" marL="0">
              <a:buNone/>
            </a:pPr>
            <a:r>
              <a:rPr lang="en-US" sz="2800" b="1" dirty="0">
                <a:solidFill>
                  <a:srgbClr val="FFFFFF"/>
                </a:solidFill>
                <a:latin typeface="Trebuchet MS" pitchFamily="34" charset="0"/>
                <a:ea typeface="Trebuchet MS" pitchFamily="34" charset="-122"/>
                <a:cs typeface="Trebuchet MS" pitchFamily="34" charset="-120"/>
              </a:rPr>
              <a:t>3</a:t>
            </a:r>
            <a:endParaRPr lang="en-US" sz="2800" dirty="0"/>
          </a:p>
        </p:txBody>
      </p:sp>
      <p:sp>
        <p:nvSpPr>
          <p:cNvPr id="24" name="Text 22"/>
          <p:cNvSpPr/>
          <p:nvPr/>
        </p:nvSpPr>
        <p:spPr>
          <a:xfrm>
            <a:off x="5212080" y="4937760"/>
            <a:ext cx="6217920" cy="365760"/>
          </a:xfrm>
          <a:prstGeom prst="rect">
            <a:avLst/>
          </a:prstGeom>
          <a:noFill/>
          <a:ln/>
        </p:spPr>
        <p:txBody>
          <a:bodyPr wrap="square" lIns="0" tIns="0" rIns="0" bIns="0" rtlCol="0" anchor="ctr"/>
          <a:lstStyle/>
          <a:p>
            <a:pPr indent="0" marL="0">
              <a:buNone/>
            </a:pPr>
            <a:r>
              <a:rPr lang="en-US" sz="1700" b="1" dirty="0">
                <a:solidFill>
                  <a:srgbClr val="1F3864"/>
                </a:solidFill>
                <a:latin typeface="Trebuchet MS" pitchFamily="34" charset="0"/>
                <a:ea typeface="Trebuchet MS" pitchFamily="34" charset="-122"/>
                <a:cs typeface="Trebuchet MS" pitchFamily="34" charset="-120"/>
              </a:rPr>
              <a:t>Read balance</a:t>
            </a:r>
            <a:endParaRPr lang="en-US" sz="1700" dirty="0"/>
          </a:p>
        </p:txBody>
      </p:sp>
      <p:sp>
        <p:nvSpPr>
          <p:cNvPr id="25" name="Text 23"/>
          <p:cNvSpPr/>
          <p:nvPr/>
        </p:nvSpPr>
        <p:spPr>
          <a:xfrm>
            <a:off x="5212080" y="5303520"/>
            <a:ext cx="6217920" cy="4572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Capture &amp; log the amount on Accounts Overview</a:t>
            </a:r>
            <a:endParaRPr lang="en-US" sz="125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27" name="Text 25"/>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03  /  17</a:t>
            </a:r>
            <a:endParaRPr lang="en-US" sz="900" dirty="0"/>
          </a:p>
        </p:txBody>
      </p:sp>
    </p:spTree>
  </p:cSld>
  <p:clrMapOvr>
    <a:masterClrMapping/>
  </p:clrMapOvr>
  <p:transition advTm="35000">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APPROACH</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How the suite is built</a:t>
            </a:r>
            <a:endParaRPr lang="en-US" sz="2700" dirty="0"/>
          </a:p>
        </p:txBody>
      </p:sp>
      <p:sp>
        <p:nvSpPr>
          <p:cNvPr id="5" name="Shape 3"/>
          <p:cNvSpPr/>
          <p:nvPr/>
        </p:nvSpPr>
        <p:spPr>
          <a:xfrm>
            <a:off x="548640" y="1645920"/>
            <a:ext cx="3520440" cy="2788920"/>
          </a:xfrm>
          <a:prstGeom prst="roundRect">
            <a:avLst>
              <a:gd name="adj" fmla="val 229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548640" y="1645920"/>
            <a:ext cx="3520440" cy="109728"/>
          </a:xfrm>
          <a:prstGeom prst="rect">
            <a:avLst/>
          </a:prstGeom>
          <a:solidFill>
            <a:srgbClr val="1F3864"/>
          </a:solidFill>
          <a:ln/>
        </p:spPr>
      </p:sp>
      <p:sp>
        <p:nvSpPr>
          <p:cNvPr id="7" name="Text 5"/>
          <p:cNvSpPr/>
          <p:nvPr/>
        </p:nvSpPr>
        <p:spPr>
          <a:xfrm>
            <a:off x="822960" y="1938528"/>
            <a:ext cx="2971800" cy="548640"/>
          </a:xfrm>
          <a:prstGeom prst="rect">
            <a:avLst/>
          </a:prstGeom>
          <a:noFill/>
          <a:ln/>
        </p:spPr>
        <p:txBody>
          <a:bodyPr wrap="square" lIns="0" tIns="0" rIns="0" bIns="0" rtlCol="0" anchor="ctr"/>
          <a:lstStyle/>
          <a:p>
            <a:pPr indent="0" marL="0">
              <a:buNone/>
            </a:pPr>
            <a:r>
              <a:rPr lang="en-US" sz="2600" b="1" dirty="0">
                <a:solidFill>
                  <a:srgbClr val="1F3864"/>
                </a:solidFill>
                <a:latin typeface="Trebuchet MS" pitchFamily="34" charset="0"/>
                <a:ea typeface="Trebuchet MS" pitchFamily="34" charset="-122"/>
                <a:cs typeface="Trebuchet MS" pitchFamily="34" charset="-120"/>
              </a:rPr>
              <a:t>Playwright</a:t>
            </a:r>
            <a:endParaRPr lang="en-US" sz="2600" dirty="0"/>
          </a:p>
        </p:txBody>
      </p:sp>
      <p:sp>
        <p:nvSpPr>
          <p:cNvPr id="8" name="Text 6"/>
          <p:cNvSpPr/>
          <p:nvPr/>
        </p:nvSpPr>
        <p:spPr>
          <a:xfrm>
            <a:off x="822960" y="2505456"/>
            <a:ext cx="2971800" cy="320040"/>
          </a:xfrm>
          <a:prstGeom prst="rect">
            <a:avLst/>
          </a:prstGeom>
          <a:noFill/>
          <a:ln/>
        </p:spPr>
        <p:txBody>
          <a:bodyPr wrap="square" lIns="0" tIns="0" rIns="0" bIns="0" rtlCol="0" anchor="ctr"/>
          <a:lstStyle/>
          <a:p>
            <a:pPr indent="0" marL="0">
              <a:buNone/>
            </a:pPr>
            <a:r>
              <a:rPr lang="en-US" sz="1300" b="1" dirty="0">
                <a:solidFill>
                  <a:srgbClr val="2A2E3A"/>
                </a:solidFill>
                <a:latin typeface="Trebuchet MS" pitchFamily="34" charset="0"/>
                <a:ea typeface="Trebuchet MS" pitchFamily="34" charset="-122"/>
                <a:cs typeface="Trebuchet MS" pitchFamily="34" charset="-120"/>
              </a:rPr>
              <a:t>+ TypeScript</a:t>
            </a:r>
            <a:endParaRPr lang="en-US" sz="1300" dirty="0"/>
          </a:p>
        </p:txBody>
      </p:sp>
      <p:sp>
        <p:nvSpPr>
          <p:cNvPr id="9" name="Shape 7"/>
          <p:cNvSpPr/>
          <p:nvPr/>
        </p:nvSpPr>
        <p:spPr>
          <a:xfrm>
            <a:off x="822960" y="2907792"/>
            <a:ext cx="502920" cy="27432"/>
          </a:xfrm>
          <a:prstGeom prst="rect">
            <a:avLst/>
          </a:prstGeom>
          <a:solidFill>
            <a:srgbClr val="E8A33D"/>
          </a:solidFill>
          <a:ln/>
        </p:spPr>
      </p:sp>
      <p:sp>
        <p:nvSpPr>
          <p:cNvPr id="10" name="Text 8"/>
          <p:cNvSpPr/>
          <p:nvPr/>
        </p:nvSpPr>
        <p:spPr>
          <a:xfrm>
            <a:off x="822960" y="3054096"/>
            <a:ext cx="2971800" cy="11887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Fast, reliable browser automation in fully typed, maintainable code.</a:t>
            </a:r>
            <a:endParaRPr lang="en-US" sz="1250" dirty="0"/>
          </a:p>
        </p:txBody>
      </p:sp>
      <p:sp>
        <p:nvSpPr>
          <p:cNvPr id="11" name="Shape 9"/>
          <p:cNvSpPr/>
          <p:nvPr/>
        </p:nvSpPr>
        <p:spPr>
          <a:xfrm>
            <a:off x="4270248" y="1645920"/>
            <a:ext cx="3520440" cy="2788920"/>
          </a:xfrm>
          <a:prstGeom prst="roundRect">
            <a:avLst>
              <a:gd name="adj" fmla="val 229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2" name="Shape 10"/>
          <p:cNvSpPr/>
          <p:nvPr/>
        </p:nvSpPr>
        <p:spPr>
          <a:xfrm>
            <a:off x="4270248" y="1645920"/>
            <a:ext cx="3520440" cy="109728"/>
          </a:xfrm>
          <a:prstGeom prst="rect">
            <a:avLst/>
          </a:prstGeom>
          <a:solidFill>
            <a:srgbClr val="17A398"/>
          </a:solidFill>
          <a:ln/>
        </p:spPr>
      </p:sp>
      <p:sp>
        <p:nvSpPr>
          <p:cNvPr id="13" name="Text 11"/>
          <p:cNvSpPr/>
          <p:nvPr/>
        </p:nvSpPr>
        <p:spPr>
          <a:xfrm>
            <a:off x="4544568" y="1938528"/>
            <a:ext cx="2971800" cy="548640"/>
          </a:xfrm>
          <a:prstGeom prst="rect">
            <a:avLst/>
          </a:prstGeom>
          <a:noFill/>
          <a:ln/>
        </p:spPr>
        <p:txBody>
          <a:bodyPr wrap="square" lIns="0" tIns="0" rIns="0" bIns="0" rtlCol="0" anchor="ctr"/>
          <a:lstStyle/>
          <a:p>
            <a:pPr indent="0" marL="0">
              <a:buNone/>
            </a:pPr>
            <a:r>
              <a:rPr lang="en-US" sz="2600" b="1" dirty="0">
                <a:solidFill>
                  <a:srgbClr val="17A398"/>
                </a:solidFill>
                <a:latin typeface="Trebuchet MS" pitchFamily="34" charset="0"/>
                <a:ea typeface="Trebuchet MS" pitchFamily="34" charset="-122"/>
                <a:cs typeface="Trebuchet MS" pitchFamily="34" charset="-120"/>
              </a:rPr>
              <a:t>BDD</a:t>
            </a:r>
            <a:endParaRPr lang="en-US" sz="2600" dirty="0"/>
          </a:p>
        </p:txBody>
      </p:sp>
      <p:sp>
        <p:nvSpPr>
          <p:cNvPr id="14" name="Text 12"/>
          <p:cNvSpPr/>
          <p:nvPr/>
        </p:nvSpPr>
        <p:spPr>
          <a:xfrm>
            <a:off x="4544568" y="2505456"/>
            <a:ext cx="2971800" cy="320040"/>
          </a:xfrm>
          <a:prstGeom prst="rect">
            <a:avLst/>
          </a:prstGeom>
          <a:noFill/>
          <a:ln/>
        </p:spPr>
        <p:txBody>
          <a:bodyPr wrap="square" lIns="0" tIns="0" rIns="0" bIns="0" rtlCol="0" anchor="ctr"/>
          <a:lstStyle/>
          <a:p>
            <a:pPr indent="0" marL="0">
              <a:buNone/>
            </a:pPr>
            <a:r>
              <a:rPr lang="en-US" sz="1300" b="1" dirty="0">
                <a:solidFill>
                  <a:srgbClr val="2A2E3A"/>
                </a:solidFill>
                <a:latin typeface="Trebuchet MS" pitchFamily="34" charset="0"/>
                <a:ea typeface="Trebuchet MS" pitchFamily="34" charset="-122"/>
                <a:cs typeface="Trebuchet MS" pitchFamily="34" charset="-120"/>
              </a:rPr>
              <a:t>Gherkin features</a:t>
            </a:r>
            <a:endParaRPr lang="en-US" sz="1300" dirty="0"/>
          </a:p>
        </p:txBody>
      </p:sp>
      <p:sp>
        <p:nvSpPr>
          <p:cNvPr id="15" name="Shape 13"/>
          <p:cNvSpPr/>
          <p:nvPr/>
        </p:nvSpPr>
        <p:spPr>
          <a:xfrm>
            <a:off x="4544568" y="2907792"/>
            <a:ext cx="502920" cy="27432"/>
          </a:xfrm>
          <a:prstGeom prst="rect">
            <a:avLst/>
          </a:prstGeom>
          <a:solidFill>
            <a:srgbClr val="E8A33D"/>
          </a:solidFill>
          <a:ln/>
        </p:spPr>
      </p:sp>
      <p:sp>
        <p:nvSpPr>
          <p:cNvPr id="16" name="Text 14"/>
          <p:cNvSpPr/>
          <p:nvPr/>
        </p:nvSpPr>
        <p:spPr>
          <a:xfrm>
            <a:off x="4544568" y="3054096"/>
            <a:ext cx="2971800" cy="11887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Every scenario reads as plain Given / When / Then business language.</a:t>
            </a:r>
            <a:endParaRPr lang="en-US" sz="1250" dirty="0"/>
          </a:p>
        </p:txBody>
      </p:sp>
      <p:sp>
        <p:nvSpPr>
          <p:cNvPr id="17" name="Shape 15"/>
          <p:cNvSpPr/>
          <p:nvPr/>
        </p:nvSpPr>
        <p:spPr>
          <a:xfrm>
            <a:off x="7991856" y="1645920"/>
            <a:ext cx="3520440" cy="2788920"/>
          </a:xfrm>
          <a:prstGeom prst="roundRect">
            <a:avLst>
              <a:gd name="adj" fmla="val 229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8" name="Shape 16"/>
          <p:cNvSpPr/>
          <p:nvPr/>
        </p:nvSpPr>
        <p:spPr>
          <a:xfrm>
            <a:off x="7991856" y="1645920"/>
            <a:ext cx="3520440" cy="109728"/>
          </a:xfrm>
          <a:prstGeom prst="rect">
            <a:avLst/>
          </a:prstGeom>
          <a:solidFill>
            <a:srgbClr val="2F5496"/>
          </a:solidFill>
          <a:ln/>
        </p:spPr>
      </p:sp>
      <p:sp>
        <p:nvSpPr>
          <p:cNvPr id="19" name="Text 17"/>
          <p:cNvSpPr/>
          <p:nvPr/>
        </p:nvSpPr>
        <p:spPr>
          <a:xfrm>
            <a:off x="8266176" y="1938528"/>
            <a:ext cx="2971800" cy="548640"/>
          </a:xfrm>
          <a:prstGeom prst="rect">
            <a:avLst/>
          </a:prstGeom>
          <a:noFill/>
          <a:ln/>
        </p:spPr>
        <p:txBody>
          <a:bodyPr wrap="square" lIns="0" tIns="0" rIns="0" bIns="0" rtlCol="0" anchor="ctr"/>
          <a:lstStyle/>
          <a:p>
            <a:pPr indent="0" marL="0">
              <a:buNone/>
            </a:pPr>
            <a:r>
              <a:rPr lang="en-US" sz="2600" b="1" dirty="0">
                <a:solidFill>
                  <a:srgbClr val="2F5496"/>
                </a:solidFill>
                <a:latin typeface="Trebuchet MS" pitchFamily="34" charset="0"/>
                <a:ea typeface="Trebuchet MS" pitchFamily="34" charset="-122"/>
                <a:cs typeface="Trebuchet MS" pitchFamily="34" charset="-120"/>
              </a:rPr>
              <a:t>POM</a:t>
            </a:r>
            <a:endParaRPr lang="en-US" sz="2600" dirty="0"/>
          </a:p>
        </p:txBody>
      </p:sp>
      <p:sp>
        <p:nvSpPr>
          <p:cNvPr id="20" name="Text 18"/>
          <p:cNvSpPr/>
          <p:nvPr/>
        </p:nvSpPr>
        <p:spPr>
          <a:xfrm>
            <a:off x="8266176" y="2505456"/>
            <a:ext cx="2971800" cy="320040"/>
          </a:xfrm>
          <a:prstGeom prst="rect">
            <a:avLst/>
          </a:prstGeom>
          <a:noFill/>
          <a:ln/>
        </p:spPr>
        <p:txBody>
          <a:bodyPr wrap="square" lIns="0" tIns="0" rIns="0" bIns="0" rtlCol="0" anchor="ctr"/>
          <a:lstStyle/>
          <a:p>
            <a:pPr indent="0" marL="0">
              <a:buNone/>
            </a:pPr>
            <a:r>
              <a:rPr lang="en-US" sz="1300" b="1" dirty="0">
                <a:solidFill>
                  <a:srgbClr val="2A2E3A"/>
                </a:solidFill>
                <a:latin typeface="Trebuchet MS" pitchFamily="34" charset="0"/>
                <a:ea typeface="Trebuchet MS" pitchFamily="34" charset="-122"/>
                <a:cs typeface="Trebuchet MS" pitchFamily="34" charset="-120"/>
              </a:rPr>
              <a:t>Page Object Model</a:t>
            </a:r>
            <a:endParaRPr lang="en-US" sz="1300" dirty="0"/>
          </a:p>
        </p:txBody>
      </p:sp>
      <p:sp>
        <p:nvSpPr>
          <p:cNvPr id="21" name="Shape 19"/>
          <p:cNvSpPr/>
          <p:nvPr/>
        </p:nvSpPr>
        <p:spPr>
          <a:xfrm>
            <a:off x="8266176" y="2907792"/>
            <a:ext cx="502920" cy="27432"/>
          </a:xfrm>
          <a:prstGeom prst="rect">
            <a:avLst/>
          </a:prstGeom>
          <a:solidFill>
            <a:srgbClr val="E8A33D"/>
          </a:solidFill>
          <a:ln/>
        </p:spPr>
      </p:sp>
      <p:sp>
        <p:nvSpPr>
          <p:cNvPr id="22" name="Text 20"/>
          <p:cNvSpPr/>
          <p:nvPr/>
        </p:nvSpPr>
        <p:spPr>
          <a:xfrm>
            <a:off x="8266176" y="3054096"/>
            <a:ext cx="2971800" cy="11887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Locators and actions live in page classes; steps stay thin and readable.</a:t>
            </a:r>
            <a:endParaRPr lang="en-US" sz="1250" dirty="0"/>
          </a:p>
        </p:txBody>
      </p:sp>
      <p:sp>
        <p:nvSpPr>
          <p:cNvPr id="23" name="Shape 21"/>
          <p:cNvSpPr/>
          <p:nvPr/>
        </p:nvSpPr>
        <p:spPr>
          <a:xfrm>
            <a:off x="548640" y="4663440"/>
            <a:ext cx="11091672" cy="1371600"/>
          </a:xfrm>
          <a:prstGeom prst="roundRect">
            <a:avLst>
              <a:gd name="adj" fmla="val 4667"/>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4" name="Text 22"/>
          <p:cNvSpPr/>
          <p:nvPr/>
        </p:nvSpPr>
        <p:spPr>
          <a:xfrm>
            <a:off x="868680" y="4864608"/>
            <a:ext cx="1828800" cy="274320"/>
          </a:xfrm>
          <a:prstGeom prst="rect">
            <a:avLst/>
          </a:prstGeom>
          <a:noFill/>
          <a:ln/>
        </p:spPr>
        <p:txBody>
          <a:bodyPr wrap="square" rtlCol="0" anchor="ctr"/>
          <a:lstStyle/>
          <a:p>
            <a:pPr indent="0" marL="0">
              <a:buNone/>
            </a:pPr>
            <a:r>
              <a:rPr lang="en-US" sz="1100" b="1" spc="200" kern="0" dirty="0">
                <a:solidFill>
                  <a:srgbClr val="17A398"/>
                </a:solidFill>
                <a:latin typeface="Trebuchet MS" pitchFamily="34" charset="0"/>
                <a:ea typeface="Trebuchet MS" pitchFamily="34" charset="-122"/>
                <a:cs typeface="Trebuchet MS" pitchFamily="34" charset="-120"/>
              </a:rPr>
              <a:t>THE GLUE</a:t>
            </a:r>
            <a:endParaRPr lang="en-US" sz="1100" dirty="0"/>
          </a:p>
        </p:txBody>
      </p:sp>
      <p:sp>
        <p:nvSpPr>
          <p:cNvPr id="25" name="Text 23"/>
          <p:cNvSpPr/>
          <p:nvPr/>
        </p:nvSpPr>
        <p:spPr>
          <a:xfrm>
            <a:off x="868680" y="5157216"/>
            <a:ext cx="10515600" cy="73152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playwright-bdd</a:t>
            </a:r>
            <a:pPr indent="0" marL="0">
              <a:buNone/>
            </a:pPr>
            <a:r>
              <a:rPr lang="en-US" sz="1300" dirty="0">
                <a:solidFill>
                  <a:srgbClr val="C7D2E8"/>
                </a:solidFill>
                <a:latin typeface="Calibri" pitchFamily="34" charset="0"/>
                <a:ea typeface="Calibri" pitchFamily="34" charset="-122"/>
                <a:cs typeface="Calibri" pitchFamily="34" charset="-120"/>
              </a:rPr>
              <a:t xml:space="preserve">  compiles the Gherkin feature files into runnable Playwright specs, and custom </a:t>
            </a:r>
            <a:pPr indent="0" marL="0">
              <a:buNone/>
            </a:pPr>
            <a:r>
              <a:rPr lang="en-US" sz="1300" b="1" dirty="0">
                <a:solidFill>
                  <a:srgbClr val="FFFFFF"/>
                </a:solidFill>
                <a:latin typeface="Calibri" pitchFamily="34" charset="0"/>
                <a:ea typeface="Calibri" pitchFamily="34" charset="-122"/>
                <a:cs typeface="Calibri" pitchFamily="34" charset="-120"/>
              </a:rPr>
              <a:t>fixtures</a:t>
            </a:r>
            <a:pPr indent="0" marL="0">
              <a:buNone/>
            </a:pPr>
            <a:r>
              <a:rPr lang="en-US" sz="1300" dirty="0">
                <a:solidFill>
                  <a:srgbClr val="C7D2E8"/>
                </a:solidFill>
                <a:latin typeface="Calibri" pitchFamily="34" charset="0"/>
                <a:ea typeface="Calibri" pitchFamily="34" charset="-122"/>
                <a:cs typeface="Calibri" pitchFamily="34" charset="-120"/>
              </a:rPr>
              <a:t xml:space="preserve"> inject ready-to-use page objects into every step - the bridge between BDD and POM.</a:t>
            </a:r>
            <a:endParaRPr lang="en-US" sz="130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27" name="Text 25"/>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04  /  17</a:t>
            </a:r>
            <a:endParaRPr lang="en-US" sz="900" dirty="0"/>
          </a:p>
        </p:txBody>
      </p:sp>
    </p:spTree>
  </p:cSld>
  <p:clrMapOvr>
    <a:masterClrMapping/>
  </p:clrMapOvr>
  <p:transition advTm="38000">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ARCHITECTURE</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A clean, layered framework</a:t>
            </a:r>
            <a:endParaRPr lang="en-US" sz="2700" dirty="0"/>
          </a:p>
        </p:txBody>
      </p:sp>
      <p:sp>
        <p:nvSpPr>
          <p:cNvPr id="5" name="Shape 3"/>
          <p:cNvSpPr/>
          <p:nvPr/>
        </p:nvSpPr>
        <p:spPr>
          <a:xfrm>
            <a:off x="548640" y="1783080"/>
            <a:ext cx="2487168" cy="2103120"/>
          </a:xfrm>
          <a:prstGeom prst="roundRect">
            <a:avLst>
              <a:gd name="adj" fmla="val 304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Text 4"/>
          <p:cNvSpPr/>
          <p:nvPr/>
        </p:nvSpPr>
        <p:spPr>
          <a:xfrm>
            <a:off x="548640" y="1938528"/>
            <a:ext cx="2487168" cy="274320"/>
          </a:xfrm>
          <a:prstGeom prst="rect">
            <a:avLst/>
          </a:prstGeom>
          <a:noFill/>
          <a:ln/>
        </p:spPr>
        <p:txBody>
          <a:bodyPr wrap="square" rtlCol="0" anchor="ctr"/>
          <a:lstStyle/>
          <a:p>
            <a:pPr algn="ctr" indent="0" marL="0">
              <a:buNone/>
            </a:pPr>
            <a:r>
              <a:rPr lang="en-US" sz="1000" b="1" spc="200" kern="0" dirty="0">
                <a:solidFill>
                  <a:srgbClr val="17A398"/>
                </a:solidFill>
                <a:latin typeface="Trebuchet MS" pitchFamily="34" charset="0"/>
                <a:ea typeface="Trebuchet MS" pitchFamily="34" charset="-122"/>
                <a:cs typeface="Trebuchet MS" pitchFamily="34" charset="-120"/>
              </a:rPr>
              <a:t>BDD</a:t>
            </a:r>
            <a:endParaRPr lang="en-US" sz="1000" dirty="0"/>
          </a:p>
        </p:txBody>
      </p:sp>
      <p:sp>
        <p:nvSpPr>
          <p:cNvPr id="7" name="Text 5"/>
          <p:cNvSpPr/>
          <p:nvPr/>
        </p:nvSpPr>
        <p:spPr>
          <a:xfrm>
            <a:off x="658368" y="2212848"/>
            <a:ext cx="2267712" cy="457200"/>
          </a:xfrm>
          <a:prstGeom prst="rect">
            <a:avLst/>
          </a:prstGeom>
          <a:noFill/>
          <a:ln/>
        </p:spPr>
        <p:txBody>
          <a:bodyPr wrap="square" lIns="0" tIns="0" rIns="0" bIns="0" rtlCol="0" anchor="ctr"/>
          <a:lstStyle/>
          <a:p>
            <a:pPr algn="ctr" indent="0" marL="0">
              <a:buNone/>
            </a:pPr>
            <a:r>
              <a:rPr lang="en-US" sz="1650" b="1" dirty="0">
                <a:solidFill>
                  <a:srgbClr val="1F3864"/>
                </a:solidFill>
                <a:latin typeface="Trebuchet MS" pitchFamily="34" charset="0"/>
                <a:ea typeface="Trebuchet MS" pitchFamily="34" charset="-122"/>
                <a:cs typeface="Trebuchet MS" pitchFamily="34" charset="-120"/>
              </a:rPr>
              <a:t>.feature files</a:t>
            </a:r>
            <a:endParaRPr lang="en-US" sz="1650" dirty="0"/>
          </a:p>
        </p:txBody>
      </p:sp>
      <p:sp>
        <p:nvSpPr>
          <p:cNvPr id="8" name="Text 6"/>
          <p:cNvSpPr/>
          <p:nvPr/>
        </p:nvSpPr>
        <p:spPr>
          <a:xfrm>
            <a:off x="658368" y="2724912"/>
            <a:ext cx="2267712" cy="914400"/>
          </a:xfrm>
          <a:prstGeom prst="rect">
            <a:avLst/>
          </a:prstGeom>
          <a:noFill/>
          <a:ln/>
        </p:spPr>
        <p:txBody>
          <a:bodyPr wrap="square" lIns="0" tIns="0" rIns="0" bIns="0" rtlCol="0" anchor="ctr"/>
          <a:lstStyle/>
          <a:p>
            <a:pPr algn="ctr" indent="0" marL="0">
              <a:buNone/>
            </a:pPr>
            <a:r>
              <a:rPr lang="en-US" sz="1150" dirty="0">
                <a:solidFill>
                  <a:srgbClr val="6B7280"/>
                </a:solidFill>
                <a:latin typeface="Calibri" pitchFamily="34" charset="0"/>
                <a:ea typeface="Calibri" pitchFamily="34" charset="-122"/>
                <a:cs typeface="Calibri" pitchFamily="34" charset="-120"/>
              </a:rPr>
              <a:t>6 Gherkin feature</a:t>
            </a:r>
            <a:endParaRPr lang="en-US" sz="1150" dirty="0"/>
          </a:p>
          <a:p>
            <a:pPr algn="ctr" indent="0" marL="0">
              <a:buNone/>
            </a:pPr>
            <a:r>
              <a:rPr lang="en-US" sz="1150" dirty="0">
                <a:solidFill>
                  <a:srgbClr val="6B7280"/>
                </a:solidFill>
                <a:latin typeface="Calibri" pitchFamily="34" charset="0"/>
                <a:ea typeface="Calibri" pitchFamily="34" charset="-122"/>
                <a:cs typeface="Calibri" pitchFamily="34" charset="-120"/>
              </a:rPr>
              <a:t>files - the scenarios</a:t>
            </a:r>
            <a:endParaRPr lang="en-US" sz="1150" dirty="0"/>
          </a:p>
        </p:txBody>
      </p:sp>
      <p:sp>
        <p:nvSpPr>
          <p:cNvPr id="9" name="Text 7"/>
          <p:cNvSpPr/>
          <p:nvPr/>
        </p:nvSpPr>
        <p:spPr>
          <a:xfrm>
            <a:off x="2999232" y="2377440"/>
            <a:ext cx="457200" cy="548640"/>
          </a:xfrm>
          <a:prstGeom prst="rect">
            <a:avLst/>
          </a:prstGeom>
          <a:noFill/>
          <a:ln/>
        </p:spPr>
        <p:txBody>
          <a:bodyPr wrap="square" lIns="0" tIns="0" rIns="0" bIns="0" rtlCol="0" anchor="ctr"/>
          <a:lstStyle/>
          <a:p>
            <a:pPr algn="ctr" indent="0" marL="0">
              <a:buNone/>
            </a:pPr>
            <a:r>
              <a:rPr lang="en-US" sz="2600" b="1" dirty="0">
                <a:solidFill>
                  <a:srgbClr val="E8A33D"/>
                </a:solidFill>
                <a:latin typeface="Trebuchet MS" pitchFamily="34" charset="0"/>
                <a:ea typeface="Trebuchet MS" pitchFamily="34" charset="-122"/>
                <a:cs typeface="Trebuchet MS" pitchFamily="34" charset="-120"/>
              </a:rPr>
              <a:t>&gt;</a:t>
            </a:r>
            <a:endParaRPr lang="en-US" sz="2600" dirty="0"/>
          </a:p>
        </p:txBody>
      </p:sp>
      <p:sp>
        <p:nvSpPr>
          <p:cNvPr id="10" name="Shape 8"/>
          <p:cNvSpPr/>
          <p:nvPr/>
        </p:nvSpPr>
        <p:spPr>
          <a:xfrm>
            <a:off x="3456432" y="1783080"/>
            <a:ext cx="2487168" cy="2103120"/>
          </a:xfrm>
          <a:prstGeom prst="roundRect">
            <a:avLst>
              <a:gd name="adj" fmla="val 304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1" name="Text 9"/>
          <p:cNvSpPr/>
          <p:nvPr/>
        </p:nvSpPr>
        <p:spPr>
          <a:xfrm>
            <a:off x="3456432" y="1938528"/>
            <a:ext cx="2487168" cy="274320"/>
          </a:xfrm>
          <a:prstGeom prst="rect">
            <a:avLst/>
          </a:prstGeom>
          <a:noFill/>
          <a:ln/>
        </p:spPr>
        <p:txBody>
          <a:bodyPr wrap="square" rtlCol="0" anchor="ctr"/>
          <a:lstStyle/>
          <a:p>
            <a:pPr algn="ctr" indent="0" marL="0">
              <a:buNone/>
            </a:pPr>
            <a:r>
              <a:rPr lang="en-US" sz="1000" b="1" spc="200" kern="0" dirty="0">
                <a:solidFill>
                  <a:srgbClr val="2F5496"/>
                </a:solidFill>
                <a:latin typeface="Trebuchet MS" pitchFamily="34" charset="0"/>
                <a:ea typeface="Trebuchet MS" pitchFamily="34" charset="-122"/>
                <a:cs typeface="Trebuchet MS" pitchFamily="34" charset="-120"/>
              </a:rPr>
              <a:t>GLUE</a:t>
            </a:r>
            <a:endParaRPr lang="en-US" sz="1000" dirty="0"/>
          </a:p>
        </p:txBody>
      </p:sp>
      <p:sp>
        <p:nvSpPr>
          <p:cNvPr id="12" name="Text 10"/>
          <p:cNvSpPr/>
          <p:nvPr/>
        </p:nvSpPr>
        <p:spPr>
          <a:xfrm>
            <a:off x="3566160" y="2212848"/>
            <a:ext cx="2267712" cy="457200"/>
          </a:xfrm>
          <a:prstGeom prst="rect">
            <a:avLst/>
          </a:prstGeom>
          <a:noFill/>
          <a:ln/>
        </p:spPr>
        <p:txBody>
          <a:bodyPr wrap="square" lIns="0" tIns="0" rIns="0" bIns="0" rtlCol="0" anchor="ctr"/>
          <a:lstStyle/>
          <a:p>
            <a:pPr algn="ctr" indent="0" marL="0">
              <a:buNone/>
            </a:pPr>
            <a:r>
              <a:rPr lang="en-US" sz="1650" b="1" dirty="0">
                <a:solidFill>
                  <a:srgbClr val="1F3864"/>
                </a:solidFill>
                <a:latin typeface="Trebuchet MS" pitchFamily="34" charset="0"/>
                <a:ea typeface="Trebuchet MS" pitchFamily="34" charset="-122"/>
                <a:cs typeface="Trebuchet MS" pitchFamily="34" charset="-120"/>
              </a:rPr>
              <a:t>Step definitions</a:t>
            </a:r>
            <a:endParaRPr lang="en-US" sz="1650" dirty="0"/>
          </a:p>
        </p:txBody>
      </p:sp>
      <p:sp>
        <p:nvSpPr>
          <p:cNvPr id="13" name="Text 11"/>
          <p:cNvSpPr/>
          <p:nvPr/>
        </p:nvSpPr>
        <p:spPr>
          <a:xfrm>
            <a:off x="3566160" y="2724912"/>
            <a:ext cx="2267712" cy="914400"/>
          </a:xfrm>
          <a:prstGeom prst="rect">
            <a:avLst/>
          </a:prstGeom>
          <a:noFill/>
          <a:ln/>
        </p:spPr>
        <p:txBody>
          <a:bodyPr wrap="square" lIns="0" tIns="0" rIns="0" bIns="0" rtlCol="0" anchor="ctr"/>
          <a:lstStyle/>
          <a:p>
            <a:pPr algn="ctr" indent="0" marL="0">
              <a:buNone/>
            </a:pPr>
            <a:r>
              <a:rPr lang="en-US" sz="1150" dirty="0">
                <a:solidFill>
                  <a:srgbClr val="6B7280"/>
                </a:solidFill>
                <a:latin typeface="Calibri" pitchFamily="34" charset="0"/>
                <a:ea typeface="Calibri" pitchFamily="34" charset="-122"/>
                <a:cs typeface="Calibri" pitchFamily="34" charset="-120"/>
              </a:rPr>
              <a:t>6 step files turn</a:t>
            </a:r>
            <a:endParaRPr lang="en-US" sz="1150" dirty="0"/>
          </a:p>
          <a:p>
            <a:pPr algn="ctr" indent="0" marL="0">
              <a:buNone/>
            </a:pPr>
            <a:r>
              <a:rPr lang="en-US" sz="1150" dirty="0">
                <a:solidFill>
                  <a:srgbClr val="6B7280"/>
                </a:solidFill>
                <a:latin typeface="Calibri" pitchFamily="34" charset="0"/>
                <a:ea typeface="Calibri" pitchFamily="34" charset="-122"/>
                <a:cs typeface="Calibri" pitchFamily="34" charset="-120"/>
              </a:rPr>
              <a:t>Gherkin into actions</a:t>
            </a:r>
            <a:endParaRPr lang="en-US" sz="1150" dirty="0"/>
          </a:p>
        </p:txBody>
      </p:sp>
      <p:sp>
        <p:nvSpPr>
          <p:cNvPr id="14" name="Text 12"/>
          <p:cNvSpPr/>
          <p:nvPr/>
        </p:nvSpPr>
        <p:spPr>
          <a:xfrm>
            <a:off x="5907024" y="2377440"/>
            <a:ext cx="457200" cy="548640"/>
          </a:xfrm>
          <a:prstGeom prst="rect">
            <a:avLst/>
          </a:prstGeom>
          <a:noFill/>
          <a:ln/>
        </p:spPr>
        <p:txBody>
          <a:bodyPr wrap="square" lIns="0" tIns="0" rIns="0" bIns="0" rtlCol="0" anchor="ctr"/>
          <a:lstStyle/>
          <a:p>
            <a:pPr algn="ctr" indent="0" marL="0">
              <a:buNone/>
            </a:pPr>
            <a:r>
              <a:rPr lang="en-US" sz="2600" b="1" dirty="0">
                <a:solidFill>
                  <a:srgbClr val="E8A33D"/>
                </a:solidFill>
                <a:latin typeface="Trebuchet MS" pitchFamily="34" charset="0"/>
                <a:ea typeface="Trebuchet MS" pitchFamily="34" charset="-122"/>
                <a:cs typeface="Trebuchet MS" pitchFamily="34" charset="-120"/>
              </a:rPr>
              <a:t>&gt;</a:t>
            </a:r>
            <a:endParaRPr lang="en-US" sz="2600" dirty="0"/>
          </a:p>
        </p:txBody>
      </p:sp>
      <p:sp>
        <p:nvSpPr>
          <p:cNvPr id="15" name="Shape 13"/>
          <p:cNvSpPr/>
          <p:nvPr/>
        </p:nvSpPr>
        <p:spPr>
          <a:xfrm>
            <a:off x="6364224" y="1783080"/>
            <a:ext cx="2487168" cy="2103120"/>
          </a:xfrm>
          <a:prstGeom prst="roundRect">
            <a:avLst>
              <a:gd name="adj" fmla="val 304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6" name="Text 14"/>
          <p:cNvSpPr/>
          <p:nvPr/>
        </p:nvSpPr>
        <p:spPr>
          <a:xfrm>
            <a:off x="6364224" y="1938528"/>
            <a:ext cx="2487168" cy="274320"/>
          </a:xfrm>
          <a:prstGeom prst="rect">
            <a:avLst/>
          </a:prstGeom>
          <a:noFill/>
          <a:ln/>
        </p:spPr>
        <p:txBody>
          <a:bodyPr wrap="square" rtlCol="0" anchor="ctr"/>
          <a:lstStyle/>
          <a:p>
            <a:pPr algn="ctr" indent="0" marL="0">
              <a:buNone/>
            </a:pPr>
            <a:r>
              <a:rPr lang="en-US" sz="1000" b="1" spc="200" kern="0" dirty="0">
                <a:solidFill>
                  <a:srgbClr val="1F3864"/>
                </a:solidFill>
                <a:latin typeface="Trebuchet MS" pitchFamily="34" charset="0"/>
                <a:ea typeface="Trebuchet MS" pitchFamily="34" charset="-122"/>
                <a:cs typeface="Trebuchet MS" pitchFamily="34" charset="-120"/>
              </a:rPr>
              <a:t>POM</a:t>
            </a:r>
            <a:endParaRPr lang="en-US" sz="1000" dirty="0"/>
          </a:p>
        </p:txBody>
      </p:sp>
      <p:sp>
        <p:nvSpPr>
          <p:cNvPr id="17" name="Text 15"/>
          <p:cNvSpPr/>
          <p:nvPr/>
        </p:nvSpPr>
        <p:spPr>
          <a:xfrm>
            <a:off x="6473952" y="2212848"/>
            <a:ext cx="2267712" cy="457200"/>
          </a:xfrm>
          <a:prstGeom prst="rect">
            <a:avLst/>
          </a:prstGeom>
          <a:noFill/>
          <a:ln/>
        </p:spPr>
        <p:txBody>
          <a:bodyPr wrap="square" lIns="0" tIns="0" rIns="0" bIns="0" rtlCol="0" anchor="ctr"/>
          <a:lstStyle/>
          <a:p>
            <a:pPr algn="ctr" indent="0" marL="0">
              <a:buNone/>
            </a:pPr>
            <a:r>
              <a:rPr lang="en-US" sz="1650" b="1" dirty="0">
                <a:solidFill>
                  <a:srgbClr val="1F3864"/>
                </a:solidFill>
                <a:latin typeface="Trebuchet MS" pitchFamily="34" charset="0"/>
                <a:ea typeface="Trebuchet MS" pitchFamily="34" charset="-122"/>
                <a:cs typeface="Trebuchet MS" pitchFamily="34" charset="-120"/>
              </a:rPr>
              <a:t>Page Objects</a:t>
            </a:r>
            <a:endParaRPr lang="en-US" sz="1650" dirty="0"/>
          </a:p>
        </p:txBody>
      </p:sp>
      <p:sp>
        <p:nvSpPr>
          <p:cNvPr id="18" name="Text 16"/>
          <p:cNvSpPr/>
          <p:nvPr/>
        </p:nvSpPr>
        <p:spPr>
          <a:xfrm>
            <a:off x="6473952" y="2724912"/>
            <a:ext cx="2267712" cy="914400"/>
          </a:xfrm>
          <a:prstGeom prst="rect">
            <a:avLst/>
          </a:prstGeom>
          <a:noFill/>
          <a:ln/>
        </p:spPr>
        <p:txBody>
          <a:bodyPr wrap="square" lIns="0" tIns="0" rIns="0" bIns="0" rtlCol="0" anchor="ctr"/>
          <a:lstStyle/>
          <a:p>
            <a:pPr algn="ctr" indent="0" marL="0">
              <a:buNone/>
            </a:pPr>
            <a:r>
              <a:rPr lang="en-US" sz="1150" dirty="0">
                <a:solidFill>
                  <a:srgbClr val="6B7280"/>
                </a:solidFill>
                <a:latin typeface="Calibri" pitchFamily="34" charset="0"/>
                <a:ea typeface="Calibri" pitchFamily="34" charset="-122"/>
                <a:cs typeface="Calibri" pitchFamily="34" charset="-120"/>
              </a:rPr>
              <a:t>5 page classes hold</a:t>
            </a:r>
            <a:endParaRPr lang="en-US" sz="1150" dirty="0"/>
          </a:p>
          <a:p>
            <a:pPr algn="ctr" indent="0" marL="0">
              <a:buNone/>
            </a:pPr>
            <a:r>
              <a:rPr lang="en-US" sz="1150" dirty="0">
                <a:solidFill>
                  <a:srgbClr val="6B7280"/>
                </a:solidFill>
                <a:latin typeface="Calibri" pitchFamily="34" charset="0"/>
                <a:ea typeface="Calibri" pitchFamily="34" charset="-122"/>
                <a:cs typeface="Calibri" pitchFamily="34" charset="-120"/>
              </a:rPr>
              <a:t>locators &amp; actions</a:t>
            </a:r>
            <a:endParaRPr lang="en-US" sz="1150" dirty="0"/>
          </a:p>
        </p:txBody>
      </p:sp>
      <p:sp>
        <p:nvSpPr>
          <p:cNvPr id="19" name="Text 17"/>
          <p:cNvSpPr/>
          <p:nvPr/>
        </p:nvSpPr>
        <p:spPr>
          <a:xfrm>
            <a:off x="8814816" y="2377440"/>
            <a:ext cx="457200" cy="548640"/>
          </a:xfrm>
          <a:prstGeom prst="rect">
            <a:avLst/>
          </a:prstGeom>
          <a:noFill/>
          <a:ln/>
        </p:spPr>
        <p:txBody>
          <a:bodyPr wrap="square" lIns="0" tIns="0" rIns="0" bIns="0" rtlCol="0" anchor="ctr"/>
          <a:lstStyle/>
          <a:p>
            <a:pPr algn="ctr" indent="0" marL="0">
              <a:buNone/>
            </a:pPr>
            <a:r>
              <a:rPr lang="en-US" sz="2600" b="1" dirty="0">
                <a:solidFill>
                  <a:srgbClr val="E8A33D"/>
                </a:solidFill>
                <a:latin typeface="Trebuchet MS" pitchFamily="34" charset="0"/>
                <a:ea typeface="Trebuchet MS" pitchFamily="34" charset="-122"/>
                <a:cs typeface="Trebuchet MS" pitchFamily="34" charset="-120"/>
              </a:rPr>
              <a:t>&gt;</a:t>
            </a:r>
            <a:endParaRPr lang="en-US" sz="2600" dirty="0"/>
          </a:p>
        </p:txBody>
      </p:sp>
      <p:sp>
        <p:nvSpPr>
          <p:cNvPr id="20" name="Shape 18"/>
          <p:cNvSpPr/>
          <p:nvPr/>
        </p:nvSpPr>
        <p:spPr>
          <a:xfrm>
            <a:off x="9272016" y="1783080"/>
            <a:ext cx="2487168" cy="2103120"/>
          </a:xfrm>
          <a:prstGeom prst="roundRect">
            <a:avLst>
              <a:gd name="adj" fmla="val 304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1" name="Text 19"/>
          <p:cNvSpPr/>
          <p:nvPr/>
        </p:nvSpPr>
        <p:spPr>
          <a:xfrm>
            <a:off x="9272016" y="1938528"/>
            <a:ext cx="2487168" cy="274320"/>
          </a:xfrm>
          <a:prstGeom prst="rect">
            <a:avLst/>
          </a:prstGeom>
          <a:noFill/>
          <a:ln/>
        </p:spPr>
        <p:txBody>
          <a:bodyPr wrap="square" rtlCol="0" anchor="ctr"/>
          <a:lstStyle/>
          <a:p>
            <a:pPr algn="ctr" indent="0" marL="0">
              <a:buNone/>
            </a:pPr>
            <a:r>
              <a:rPr lang="en-US" sz="1000" b="1" spc="200" kern="0" dirty="0">
                <a:solidFill>
                  <a:srgbClr val="E8A33D"/>
                </a:solidFill>
                <a:latin typeface="Trebuchet MS" pitchFamily="34" charset="0"/>
                <a:ea typeface="Trebuchet MS" pitchFamily="34" charset="-122"/>
                <a:cs typeface="Trebuchet MS" pitchFamily="34" charset="-120"/>
              </a:rPr>
              <a:t>APP</a:t>
            </a:r>
            <a:endParaRPr lang="en-US" sz="1000" dirty="0"/>
          </a:p>
        </p:txBody>
      </p:sp>
      <p:sp>
        <p:nvSpPr>
          <p:cNvPr id="22" name="Text 20"/>
          <p:cNvSpPr/>
          <p:nvPr/>
        </p:nvSpPr>
        <p:spPr>
          <a:xfrm>
            <a:off x="9381744" y="2212848"/>
            <a:ext cx="2267712" cy="457200"/>
          </a:xfrm>
          <a:prstGeom prst="rect">
            <a:avLst/>
          </a:prstGeom>
          <a:noFill/>
          <a:ln/>
        </p:spPr>
        <p:txBody>
          <a:bodyPr wrap="square" lIns="0" tIns="0" rIns="0" bIns="0" rtlCol="0" anchor="ctr"/>
          <a:lstStyle/>
          <a:p>
            <a:pPr algn="ctr" indent="0" marL="0">
              <a:buNone/>
            </a:pPr>
            <a:r>
              <a:rPr lang="en-US" sz="1650" b="1" dirty="0">
                <a:solidFill>
                  <a:srgbClr val="1F3864"/>
                </a:solidFill>
                <a:latin typeface="Trebuchet MS" pitchFamily="34" charset="0"/>
                <a:ea typeface="Trebuchet MS" pitchFamily="34" charset="-122"/>
                <a:cs typeface="Trebuchet MS" pitchFamily="34" charset="-120"/>
              </a:rPr>
              <a:t>ParaBank</a:t>
            </a:r>
            <a:endParaRPr lang="en-US" sz="1650" dirty="0"/>
          </a:p>
        </p:txBody>
      </p:sp>
      <p:sp>
        <p:nvSpPr>
          <p:cNvPr id="23" name="Text 21"/>
          <p:cNvSpPr/>
          <p:nvPr/>
        </p:nvSpPr>
        <p:spPr>
          <a:xfrm>
            <a:off x="9381744" y="2724912"/>
            <a:ext cx="2267712" cy="914400"/>
          </a:xfrm>
          <a:prstGeom prst="rect">
            <a:avLst/>
          </a:prstGeom>
          <a:noFill/>
          <a:ln/>
        </p:spPr>
        <p:txBody>
          <a:bodyPr wrap="square" lIns="0" tIns="0" rIns="0" bIns="0" rtlCol="0" anchor="ctr"/>
          <a:lstStyle/>
          <a:p>
            <a:pPr algn="ctr" indent="0" marL="0">
              <a:buNone/>
            </a:pPr>
            <a:r>
              <a:rPr lang="en-US" sz="1150" dirty="0">
                <a:solidFill>
                  <a:srgbClr val="6B7280"/>
                </a:solidFill>
                <a:latin typeface="Calibri" pitchFamily="34" charset="0"/>
                <a:ea typeface="Calibri" pitchFamily="34" charset="-122"/>
                <a:cs typeface="Calibri" pitchFamily="34" charset="-120"/>
              </a:rPr>
              <a:t>The live application</a:t>
            </a:r>
            <a:endParaRPr lang="en-US" sz="1150" dirty="0"/>
          </a:p>
          <a:p>
            <a:pPr algn="ctr" indent="0" marL="0">
              <a:buNone/>
            </a:pPr>
            <a:r>
              <a:rPr lang="en-US" sz="1150" dirty="0">
                <a:solidFill>
                  <a:srgbClr val="6B7280"/>
                </a:solidFill>
                <a:latin typeface="Calibri" pitchFamily="34" charset="0"/>
                <a:ea typeface="Calibri" pitchFamily="34" charset="-122"/>
                <a:cs typeface="Calibri" pitchFamily="34" charset="-120"/>
              </a:rPr>
              <a:t>under test</a:t>
            </a:r>
            <a:endParaRPr lang="en-US" sz="1150" dirty="0"/>
          </a:p>
        </p:txBody>
      </p:sp>
      <p:sp>
        <p:nvSpPr>
          <p:cNvPr id="24" name="Text 22"/>
          <p:cNvSpPr/>
          <p:nvPr/>
        </p:nvSpPr>
        <p:spPr>
          <a:xfrm>
            <a:off x="566928" y="4114800"/>
            <a:ext cx="5486400" cy="274320"/>
          </a:xfrm>
          <a:prstGeom prst="rect">
            <a:avLst/>
          </a:prstGeom>
          <a:noFill/>
          <a:ln/>
        </p:spPr>
        <p:txBody>
          <a:bodyPr wrap="square" rtlCol="0" anchor="ctr"/>
          <a:lstStyle/>
          <a:p>
            <a:pPr indent="0" marL="0">
              <a:buNone/>
            </a:pPr>
            <a:r>
              <a:rPr lang="en-US" sz="1100" b="1" spc="200" kern="0" dirty="0">
                <a:solidFill>
                  <a:srgbClr val="17A398"/>
                </a:solidFill>
                <a:latin typeface="Trebuchet MS" pitchFamily="34" charset="0"/>
                <a:ea typeface="Trebuchet MS" pitchFamily="34" charset="-122"/>
                <a:cs typeface="Trebuchet MS" pitchFamily="34" charset="-120"/>
              </a:rPr>
              <a:t>WHAT THIS GIVES US</a:t>
            </a:r>
            <a:endParaRPr lang="en-US" sz="1100" dirty="0"/>
          </a:p>
        </p:txBody>
      </p:sp>
      <p:sp>
        <p:nvSpPr>
          <p:cNvPr id="25" name="Shape 23"/>
          <p:cNvSpPr/>
          <p:nvPr/>
        </p:nvSpPr>
        <p:spPr>
          <a:xfrm>
            <a:off x="548640" y="4434840"/>
            <a:ext cx="5349240" cy="621792"/>
          </a:xfrm>
          <a:prstGeom prst="roundRect">
            <a:avLst>
              <a:gd name="adj" fmla="val 10294"/>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6" name="Shape 24"/>
          <p:cNvSpPr/>
          <p:nvPr/>
        </p:nvSpPr>
        <p:spPr>
          <a:xfrm>
            <a:off x="548640" y="4434840"/>
            <a:ext cx="91440" cy="621792"/>
          </a:xfrm>
          <a:prstGeom prst="rect">
            <a:avLst/>
          </a:prstGeom>
          <a:solidFill>
            <a:srgbClr val="17A398"/>
          </a:solidFill>
          <a:ln/>
        </p:spPr>
      </p:sp>
      <p:sp>
        <p:nvSpPr>
          <p:cNvPr id="27" name="Text 25"/>
          <p:cNvSpPr/>
          <p:nvPr/>
        </p:nvSpPr>
        <p:spPr>
          <a:xfrm>
            <a:off x="804672" y="4434840"/>
            <a:ext cx="1554480" cy="621792"/>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Readable</a:t>
            </a:r>
            <a:endParaRPr lang="en-US" sz="1350" dirty="0"/>
          </a:p>
        </p:txBody>
      </p:sp>
      <p:sp>
        <p:nvSpPr>
          <p:cNvPr id="28" name="Text 26"/>
          <p:cNvSpPr/>
          <p:nvPr/>
        </p:nvSpPr>
        <p:spPr>
          <a:xfrm>
            <a:off x="2331720" y="4434840"/>
            <a:ext cx="3474720" cy="621792"/>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Scenarios are business language, not code.</a:t>
            </a:r>
            <a:endParaRPr lang="en-US" sz="1150" dirty="0"/>
          </a:p>
        </p:txBody>
      </p:sp>
      <p:sp>
        <p:nvSpPr>
          <p:cNvPr id="29" name="Shape 27"/>
          <p:cNvSpPr/>
          <p:nvPr/>
        </p:nvSpPr>
        <p:spPr>
          <a:xfrm>
            <a:off x="6099048" y="4434840"/>
            <a:ext cx="5349240" cy="621792"/>
          </a:xfrm>
          <a:prstGeom prst="roundRect">
            <a:avLst>
              <a:gd name="adj" fmla="val 10294"/>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0" name="Shape 28"/>
          <p:cNvSpPr/>
          <p:nvPr/>
        </p:nvSpPr>
        <p:spPr>
          <a:xfrm>
            <a:off x="6099048" y="4434840"/>
            <a:ext cx="91440" cy="621792"/>
          </a:xfrm>
          <a:prstGeom prst="rect">
            <a:avLst/>
          </a:prstGeom>
          <a:solidFill>
            <a:srgbClr val="17A398"/>
          </a:solidFill>
          <a:ln/>
        </p:spPr>
      </p:sp>
      <p:sp>
        <p:nvSpPr>
          <p:cNvPr id="31" name="Text 29"/>
          <p:cNvSpPr/>
          <p:nvPr/>
        </p:nvSpPr>
        <p:spPr>
          <a:xfrm>
            <a:off x="6355080" y="4434840"/>
            <a:ext cx="1554480" cy="621792"/>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Maintainable</a:t>
            </a:r>
            <a:endParaRPr lang="en-US" sz="1350" dirty="0"/>
          </a:p>
        </p:txBody>
      </p:sp>
      <p:sp>
        <p:nvSpPr>
          <p:cNvPr id="32" name="Text 30"/>
          <p:cNvSpPr/>
          <p:nvPr/>
        </p:nvSpPr>
        <p:spPr>
          <a:xfrm>
            <a:off x="7882128" y="4434840"/>
            <a:ext cx="3474720" cy="621792"/>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A UI change is fixed in one page object.</a:t>
            </a:r>
            <a:endParaRPr lang="en-US" sz="1150" dirty="0"/>
          </a:p>
        </p:txBody>
      </p:sp>
      <p:sp>
        <p:nvSpPr>
          <p:cNvPr id="33" name="Shape 31"/>
          <p:cNvSpPr/>
          <p:nvPr/>
        </p:nvSpPr>
        <p:spPr>
          <a:xfrm>
            <a:off x="548640" y="5184648"/>
            <a:ext cx="5349240" cy="621792"/>
          </a:xfrm>
          <a:prstGeom prst="roundRect">
            <a:avLst>
              <a:gd name="adj" fmla="val 10294"/>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4" name="Shape 32"/>
          <p:cNvSpPr/>
          <p:nvPr/>
        </p:nvSpPr>
        <p:spPr>
          <a:xfrm>
            <a:off x="548640" y="5184648"/>
            <a:ext cx="91440" cy="621792"/>
          </a:xfrm>
          <a:prstGeom prst="rect">
            <a:avLst/>
          </a:prstGeom>
          <a:solidFill>
            <a:srgbClr val="17A398"/>
          </a:solidFill>
          <a:ln/>
        </p:spPr>
      </p:sp>
      <p:sp>
        <p:nvSpPr>
          <p:cNvPr id="35" name="Text 33"/>
          <p:cNvSpPr/>
          <p:nvPr/>
        </p:nvSpPr>
        <p:spPr>
          <a:xfrm>
            <a:off x="804672" y="5184648"/>
            <a:ext cx="1554480" cy="621792"/>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Repeatable</a:t>
            </a:r>
            <a:endParaRPr lang="en-US" sz="1350" dirty="0"/>
          </a:p>
        </p:txBody>
      </p:sp>
      <p:sp>
        <p:nvSpPr>
          <p:cNvPr id="36" name="Text 34"/>
          <p:cNvSpPr/>
          <p:nvPr/>
        </p:nvSpPr>
        <p:spPr>
          <a:xfrm>
            <a:off x="2331720" y="5184648"/>
            <a:ext cx="3474720" cy="621792"/>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A data factory makes every run independent.</a:t>
            </a:r>
            <a:endParaRPr lang="en-US" sz="1150" dirty="0"/>
          </a:p>
        </p:txBody>
      </p:sp>
      <p:sp>
        <p:nvSpPr>
          <p:cNvPr id="37" name="Shape 35"/>
          <p:cNvSpPr/>
          <p:nvPr/>
        </p:nvSpPr>
        <p:spPr>
          <a:xfrm>
            <a:off x="6099048" y="5184648"/>
            <a:ext cx="5349240" cy="621792"/>
          </a:xfrm>
          <a:prstGeom prst="roundRect">
            <a:avLst>
              <a:gd name="adj" fmla="val 10294"/>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8" name="Shape 36"/>
          <p:cNvSpPr/>
          <p:nvPr/>
        </p:nvSpPr>
        <p:spPr>
          <a:xfrm>
            <a:off x="6099048" y="5184648"/>
            <a:ext cx="91440" cy="621792"/>
          </a:xfrm>
          <a:prstGeom prst="rect">
            <a:avLst/>
          </a:prstGeom>
          <a:solidFill>
            <a:srgbClr val="17A398"/>
          </a:solidFill>
          <a:ln/>
        </p:spPr>
      </p:sp>
      <p:sp>
        <p:nvSpPr>
          <p:cNvPr id="39" name="Text 37"/>
          <p:cNvSpPr/>
          <p:nvPr/>
        </p:nvSpPr>
        <p:spPr>
          <a:xfrm>
            <a:off x="6355080" y="5184648"/>
            <a:ext cx="1554480" cy="621792"/>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Reusable</a:t>
            </a:r>
            <a:endParaRPr lang="en-US" sz="1350" dirty="0"/>
          </a:p>
        </p:txBody>
      </p:sp>
      <p:sp>
        <p:nvSpPr>
          <p:cNvPr id="40" name="Text 38"/>
          <p:cNvSpPr/>
          <p:nvPr/>
        </p:nvSpPr>
        <p:spPr>
          <a:xfrm>
            <a:off x="7882128" y="5184648"/>
            <a:ext cx="3474720" cy="621792"/>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Steps are shared across all six feature files.</a:t>
            </a:r>
            <a:endParaRPr lang="en-US" sz="1150" dirty="0"/>
          </a:p>
        </p:txBody>
      </p:sp>
      <p:sp>
        <p:nvSpPr>
          <p:cNvPr id="41" name="Text 39"/>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42" name="Text 40"/>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05  /  17</a:t>
            </a:r>
            <a:endParaRPr lang="en-US" sz="900" dirty="0"/>
          </a:p>
        </p:txBody>
      </p:sp>
    </p:spTree>
  </p:cSld>
  <p:clrMapOvr>
    <a:masterClrMapping/>
  </p:clrMapOvr>
  <p:transition advTm="35000">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BDD IN ACTION</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A scenario reads like plain English</a:t>
            </a:r>
            <a:endParaRPr lang="en-US" sz="2700" dirty="0"/>
          </a:p>
        </p:txBody>
      </p:sp>
      <p:sp>
        <p:nvSpPr>
          <p:cNvPr id="5" name="Shape 3"/>
          <p:cNvSpPr/>
          <p:nvPr/>
        </p:nvSpPr>
        <p:spPr>
          <a:xfrm>
            <a:off x="548640" y="1691640"/>
            <a:ext cx="7269480" cy="2834640"/>
          </a:xfrm>
          <a:prstGeom prst="roundRect">
            <a:avLst>
              <a:gd name="adj" fmla="val 1613"/>
            </a:avLst>
          </a:prstGeom>
          <a:solidFill>
            <a:srgbClr val="15203A"/>
          </a:solidFill>
          <a:ln w="12700">
            <a:solidFill>
              <a:srgbClr val="2A3A5C"/>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804672" y="1911096"/>
            <a:ext cx="128016" cy="128016"/>
          </a:xfrm>
          <a:prstGeom prst="ellipse">
            <a:avLst/>
          </a:prstGeom>
          <a:solidFill>
            <a:srgbClr val="F96167"/>
          </a:solidFill>
          <a:ln/>
        </p:spPr>
      </p:sp>
      <p:sp>
        <p:nvSpPr>
          <p:cNvPr id="7" name="Shape 5"/>
          <p:cNvSpPr/>
          <p:nvPr/>
        </p:nvSpPr>
        <p:spPr>
          <a:xfrm>
            <a:off x="1042416" y="1911096"/>
            <a:ext cx="128016" cy="128016"/>
          </a:xfrm>
          <a:prstGeom prst="ellipse">
            <a:avLst/>
          </a:prstGeom>
          <a:solidFill>
            <a:srgbClr val="E8A33D"/>
          </a:solidFill>
          <a:ln/>
        </p:spPr>
      </p:sp>
      <p:sp>
        <p:nvSpPr>
          <p:cNvPr id="8" name="Shape 6"/>
          <p:cNvSpPr/>
          <p:nvPr/>
        </p:nvSpPr>
        <p:spPr>
          <a:xfrm>
            <a:off x="1280160" y="1911096"/>
            <a:ext cx="128016" cy="128016"/>
          </a:xfrm>
          <a:prstGeom prst="ellipse">
            <a:avLst/>
          </a:prstGeom>
          <a:solidFill>
            <a:srgbClr val="17A398"/>
          </a:solidFill>
          <a:ln/>
        </p:spPr>
      </p:sp>
      <p:sp>
        <p:nvSpPr>
          <p:cNvPr id="9" name="Text 7"/>
          <p:cNvSpPr/>
          <p:nvPr/>
        </p:nvSpPr>
        <p:spPr>
          <a:xfrm>
            <a:off x="914400" y="2258568"/>
            <a:ext cx="6629400" cy="2011680"/>
          </a:xfrm>
          <a:prstGeom prst="rect">
            <a:avLst/>
          </a:prstGeom>
          <a:noFill/>
          <a:ln/>
        </p:spPr>
        <p:txBody>
          <a:bodyPr wrap="square" lIns="0" tIns="0" rIns="0" bIns="0" rtlCol="0" anchor="t"/>
          <a:lstStyle/>
          <a:p>
            <a:pPr indent="0" marL="0">
              <a:lnSpc>
                <a:spcPct val="122000"/>
              </a:lnSpc>
              <a:buNone/>
            </a:pPr>
            <a:r>
              <a:rPr lang="en-US" sz="1250" b="1" dirty="0">
                <a:solidFill>
                  <a:srgbClr val="17A398"/>
                </a:solidFill>
                <a:latin typeface="Consolas" pitchFamily="34" charset="0"/>
                <a:ea typeface="Consolas" pitchFamily="34" charset="-122"/>
                <a:cs typeface="Consolas" pitchFamily="34" charset="-120"/>
              </a:rPr>
              <a:t xml:space="preserve">Feature: </a:t>
            </a:r>
            <a:pPr indent="0" marL="0">
              <a:lnSpc>
                <a:spcPct val="122000"/>
              </a:lnSpc>
              <a:buNone/>
            </a:pPr>
            <a:r>
              <a:rPr lang="en-US" sz="1250" dirty="0">
                <a:solidFill>
                  <a:srgbClr val="FFFFFF"/>
                </a:solidFill>
                <a:latin typeface="Consolas" pitchFamily="34" charset="0"/>
                <a:ea typeface="Consolas" pitchFamily="34" charset="-122"/>
                <a:cs typeface="Consolas" pitchFamily="34" charset="-120"/>
              </a:rPr>
              <a:t>ParaBank account login</a:t>
            </a:r>
            <a:endParaRPr lang="en-US" sz="1250" dirty="0"/>
          </a:p>
          <a:p>
            <a:pPr indent="0" marL="0">
              <a:lnSpc>
                <a:spcPct val="122000"/>
              </a:lnSpc>
              <a:buNone/>
            </a:pPr>
            <a:r>
              <a:rPr lang="en-US" sz="1200" dirty="0">
                <a:solidFill>
                  <a:srgbClr val="000000"/>
                </a:solidFill>
                <a:latin typeface="Consolas" pitchFamily="34" charset="0"/>
                <a:ea typeface="Consolas" pitchFamily="34" charset="-122"/>
                <a:cs typeface="Consolas" pitchFamily="34" charset="-120"/>
              </a:rPr>
              <a:t xml:space="preserve"> </a:t>
            </a:r>
            <a:endParaRPr lang="en-US" sz="1250" dirty="0"/>
          </a:p>
          <a:p>
            <a:pPr indent="0" marL="0">
              <a:lnSpc>
                <a:spcPct val="122000"/>
              </a:lnSpc>
              <a:buNone/>
            </a:pPr>
            <a:r>
              <a:rPr lang="en-US" sz="1250" dirty="0">
                <a:solidFill>
                  <a:srgbClr val="8FA6C9"/>
                </a:solidFill>
                <a:latin typeface="Consolas" pitchFamily="34" charset="0"/>
                <a:ea typeface="Consolas" pitchFamily="34" charset="-122"/>
                <a:cs typeface="Consolas" pitchFamily="34" charset="-120"/>
              </a:rPr>
              <a:t xml:space="preserve">  @login @smoke @positive</a:t>
            </a:r>
            <a:endParaRPr lang="en-US" sz="1250" dirty="0"/>
          </a:p>
          <a:p>
            <a:pPr indent="0" marL="0">
              <a:lnSpc>
                <a:spcPct val="122000"/>
              </a:lnSpc>
              <a:buNone/>
            </a:pPr>
            <a:r>
              <a:rPr lang="en-US" sz="1250" b="1" dirty="0">
                <a:solidFill>
                  <a:srgbClr val="17A398"/>
                </a:solidFill>
                <a:latin typeface="Consolas" pitchFamily="34" charset="0"/>
                <a:ea typeface="Consolas" pitchFamily="34" charset="-122"/>
                <a:cs typeface="Consolas" pitchFamily="34" charset="-120"/>
              </a:rPr>
              <a:t xml:space="preserve">  Scenario: </a:t>
            </a:r>
            <a:pPr indent="0" marL="0">
              <a:lnSpc>
                <a:spcPct val="122000"/>
              </a:lnSpc>
              <a:buNone/>
            </a:pPr>
            <a:r>
              <a:rPr lang="en-US" sz="1250" dirty="0">
                <a:solidFill>
                  <a:srgbClr val="FFFFFF"/>
                </a:solidFill>
                <a:latin typeface="Consolas" pitchFamily="34" charset="0"/>
                <a:ea typeface="Consolas" pitchFamily="34" charset="-122"/>
                <a:cs typeface="Consolas" pitchFamily="34" charset="-120"/>
              </a:rPr>
              <a:t>Sign in and view the post-login balance</a:t>
            </a:r>
            <a:endParaRPr lang="en-US" sz="1250" dirty="0"/>
          </a:p>
          <a:p>
            <a:pPr indent="0" marL="0">
              <a:lnSpc>
                <a:spcPct val="122000"/>
              </a:lnSpc>
              <a:buNone/>
            </a:pPr>
            <a:r>
              <a:rPr lang="en-US" sz="1250" b="1" dirty="0">
                <a:solidFill>
                  <a:srgbClr val="E8A33D"/>
                </a:solidFill>
                <a:latin typeface="Consolas" pitchFamily="34" charset="0"/>
                <a:ea typeface="Consolas" pitchFamily="34" charset="-122"/>
                <a:cs typeface="Consolas" pitchFamily="34" charset="-120"/>
              </a:rPr>
              <a:t xml:space="preserve">    Given </a:t>
            </a:r>
            <a:pPr indent="0" marL="0">
              <a:lnSpc>
                <a:spcPct val="122000"/>
              </a:lnSpc>
              <a:buNone/>
            </a:pPr>
            <a:r>
              <a:rPr lang="en-US" sz="1250" dirty="0">
                <a:solidFill>
                  <a:srgbClr val="C9D4EC"/>
                </a:solidFill>
                <a:latin typeface="Consolas" pitchFamily="34" charset="0"/>
                <a:ea typeface="Consolas" pitchFamily="34" charset="-122"/>
                <a:cs typeface="Consolas" pitchFamily="34" charset="-120"/>
              </a:rPr>
              <a:t>a customer has registered an account</a:t>
            </a:r>
            <a:endParaRPr lang="en-US" sz="1250" dirty="0"/>
          </a:p>
          <a:p>
            <a:pPr indent="0" marL="0">
              <a:lnSpc>
                <a:spcPct val="122000"/>
              </a:lnSpc>
              <a:buNone/>
            </a:pPr>
            <a:r>
              <a:rPr lang="en-US" sz="1250" b="1" dirty="0">
                <a:solidFill>
                  <a:srgbClr val="E8A33D"/>
                </a:solidFill>
                <a:latin typeface="Consolas" pitchFamily="34" charset="0"/>
                <a:ea typeface="Consolas" pitchFamily="34" charset="-122"/>
                <a:cs typeface="Consolas" pitchFamily="34" charset="-120"/>
              </a:rPr>
              <a:t xml:space="preserve">    When </a:t>
            </a:r>
            <a:pPr indent="0" marL="0">
              <a:lnSpc>
                <a:spcPct val="122000"/>
              </a:lnSpc>
              <a:buNone/>
            </a:pPr>
            <a:r>
              <a:rPr lang="en-US" sz="1250" dirty="0">
                <a:solidFill>
                  <a:srgbClr val="C9D4EC"/>
                </a:solidFill>
                <a:latin typeface="Consolas" pitchFamily="34" charset="0"/>
                <a:ea typeface="Consolas" pitchFamily="34" charset="-122"/>
                <a:cs typeface="Consolas" pitchFamily="34" charset="-120"/>
              </a:rPr>
              <a:t>the customer signs in with the credentials</a:t>
            </a:r>
            <a:endParaRPr lang="en-US" sz="1250" dirty="0"/>
          </a:p>
          <a:p>
            <a:pPr indent="0" marL="0">
              <a:lnSpc>
                <a:spcPct val="122000"/>
              </a:lnSpc>
              <a:buNone/>
            </a:pPr>
            <a:r>
              <a:rPr lang="en-US" sz="1250" b="1" dirty="0">
                <a:solidFill>
                  <a:srgbClr val="E8A33D"/>
                </a:solidFill>
                <a:latin typeface="Consolas" pitchFamily="34" charset="0"/>
                <a:ea typeface="Consolas" pitchFamily="34" charset="-122"/>
                <a:cs typeface="Consolas" pitchFamily="34" charset="-120"/>
              </a:rPr>
              <a:t xml:space="preserve">    Then </a:t>
            </a:r>
            <a:pPr indent="0" marL="0">
              <a:lnSpc>
                <a:spcPct val="122000"/>
              </a:lnSpc>
              <a:buNone/>
            </a:pPr>
            <a:r>
              <a:rPr lang="en-US" sz="1250" dirty="0">
                <a:solidFill>
                  <a:srgbClr val="C9D4EC"/>
                </a:solidFill>
                <a:latin typeface="Consolas" pitchFamily="34" charset="0"/>
                <a:ea typeface="Consolas" pitchFamily="34" charset="-122"/>
                <a:cs typeface="Consolas" pitchFamily="34" charset="-120"/>
              </a:rPr>
              <a:t>the Accounts Overview page is displayed</a:t>
            </a:r>
            <a:endParaRPr lang="en-US" sz="1250" dirty="0"/>
          </a:p>
          <a:p>
            <a:pPr indent="0" marL="0">
              <a:lnSpc>
                <a:spcPct val="122000"/>
              </a:lnSpc>
              <a:buNone/>
            </a:pPr>
            <a:r>
              <a:rPr lang="en-US" sz="1250" b="1" dirty="0">
                <a:solidFill>
                  <a:srgbClr val="E8A33D"/>
                </a:solidFill>
                <a:latin typeface="Consolas" pitchFamily="34" charset="0"/>
                <a:ea typeface="Consolas" pitchFamily="34" charset="-122"/>
                <a:cs typeface="Consolas" pitchFamily="34" charset="-120"/>
              </a:rPr>
              <a:t xml:space="preserve">    And </a:t>
            </a:r>
            <a:pPr indent="0" marL="0">
              <a:lnSpc>
                <a:spcPct val="122000"/>
              </a:lnSpc>
              <a:buNone/>
            </a:pPr>
            <a:r>
              <a:rPr lang="en-US" sz="1250" dirty="0">
                <a:solidFill>
                  <a:srgbClr val="C9D4EC"/>
                </a:solidFill>
                <a:latin typeface="Consolas" pitchFamily="34" charset="0"/>
                <a:ea typeface="Consolas" pitchFamily="34" charset="-122"/>
                <a:cs typeface="Consolas" pitchFamily="34" charset="-120"/>
              </a:rPr>
              <a:t>the account balance is shown and logged</a:t>
            </a:r>
            <a:endParaRPr lang="en-US" sz="1250" dirty="0"/>
          </a:p>
        </p:txBody>
      </p:sp>
      <p:sp>
        <p:nvSpPr>
          <p:cNvPr id="10" name="Shape 8"/>
          <p:cNvSpPr/>
          <p:nvPr/>
        </p:nvSpPr>
        <p:spPr>
          <a:xfrm>
            <a:off x="8001000" y="1691640"/>
            <a:ext cx="3639312" cy="2834640"/>
          </a:xfrm>
          <a:prstGeom prst="roundRect">
            <a:avLst>
              <a:gd name="adj" fmla="val 2258"/>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1" name="Shape 9"/>
          <p:cNvSpPr/>
          <p:nvPr/>
        </p:nvSpPr>
        <p:spPr>
          <a:xfrm>
            <a:off x="8001000" y="1691640"/>
            <a:ext cx="109728" cy="2834640"/>
          </a:xfrm>
          <a:prstGeom prst="rect">
            <a:avLst/>
          </a:prstGeom>
          <a:solidFill>
            <a:srgbClr val="17A398"/>
          </a:solidFill>
          <a:ln/>
        </p:spPr>
      </p:sp>
      <p:sp>
        <p:nvSpPr>
          <p:cNvPr id="12" name="Text 10"/>
          <p:cNvSpPr/>
          <p:nvPr/>
        </p:nvSpPr>
        <p:spPr>
          <a:xfrm>
            <a:off x="8275320" y="1920240"/>
            <a:ext cx="3108960" cy="274320"/>
          </a:xfrm>
          <a:prstGeom prst="rect">
            <a:avLst/>
          </a:prstGeom>
          <a:noFill/>
          <a:ln/>
        </p:spPr>
        <p:txBody>
          <a:bodyPr wrap="square" rtlCol="0" anchor="ctr"/>
          <a:lstStyle/>
          <a:p>
            <a:pPr indent="0" marL="0">
              <a:buNone/>
            </a:pPr>
            <a:r>
              <a:rPr lang="en-US" sz="1100" b="1" spc="150" kern="0" dirty="0">
                <a:solidFill>
                  <a:srgbClr val="17A398"/>
                </a:solidFill>
                <a:latin typeface="Trebuchet MS" pitchFamily="34" charset="0"/>
                <a:ea typeface="Trebuchet MS" pitchFamily="34" charset="-122"/>
                <a:cs typeface="Trebuchet MS" pitchFamily="34" charset="-120"/>
              </a:rPr>
              <a:t>WHY IT MATTERS</a:t>
            </a:r>
            <a:endParaRPr lang="en-US" sz="1100" dirty="0"/>
          </a:p>
        </p:txBody>
      </p:sp>
      <p:sp>
        <p:nvSpPr>
          <p:cNvPr id="13" name="Text 11"/>
          <p:cNvSpPr/>
          <p:nvPr/>
        </p:nvSpPr>
        <p:spPr>
          <a:xfrm>
            <a:off x="8275320" y="2240280"/>
            <a:ext cx="3200400" cy="2148840"/>
          </a:xfrm>
          <a:prstGeom prst="rect">
            <a:avLst/>
          </a:prstGeom>
          <a:noFill/>
          <a:ln/>
        </p:spPr>
        <p:txBody>
          <a:bodyPr wrap="square" lIns="0" tIns="0" rIns="0" bIns="0" rtlCol="0" anchor="t"/>
          <a:lstStyle/>
          <a:p>
            <a:pPr indent="0" marL="0">
              <a:spcAft>
                <a:spcPts val="1000"/>
              </a:spcAft>
              <a:buNone/>
            </a:pPr>
            <a:r>
              <a:rPr lang="en-US" sz="1400" b="1" dirty="0">
                <a:solidFill>
                  <a:srgbClr val="1F3864"/>
                </a:solidFill>
                <a:latin typeface="Calibri" pitchFamily="34" charset="0"/>
                <a:ea typeface="Calibri" pitchFamily="34" charset="-122"/>
                <a:cs typeface="Calibri" pitchFamily="34" charset="-120"/>
              </a:rPr>
              <a:t>The .feature file is the living specification.</a:t>
            </a:r>
            <a:endParaRPr lang="en-US" sz="1400" dirty="0"/>
          </a:p>
          <a:p>
            <a:pPr indent="0" marL="0">
              <a:spcAft>
                <a:spcPts val="1000"/>
              </a:spcAft>
              <a:buNone/>
            </a:pPr>
            <a:r>
              <a:rPr lang="en-US" sz="1200" dirty="0">
                <a:solidFill>
                  <a:srgbClr val="2A2E3A"/>
                </a:solidFill>
                <a:latin typeface="Calibri" pitchFamily="34" charset="0"/>
                <a:ea typeface="Calibri" pitchFamily="34" charset="-122"/>
                <a:cs typeface="Calibri" pitchFamily="34" charset="-120"/>
              </a:rPr>
              <a:t>Anyone - QA, developer or reviewer - can read exactly what is being tested.</a:t>
            </a:r>
            <a:endParaRPr lang="en-US" sz="1400" dirty="0"/>
          </a:p>
          <a:p>
            <a:pPr indent="0" marL="0">
              <a:buNone/>
            </a:pPr>
            <a:r>
              <a:rPr lang="en-US" sz="1200" dirty="0">
                <a:solidFill>
                  <a:srgbClr val="2A2E3A"/>
                </a:solidFill>
                <a:latin typeface="Calibri" pitchFamily="34" charset="0"/>
                <a:ea typeface="Calibri" pitchFamily="34" charset="-122"/>
                <a:cs typeface="Calibri" pitchFamily="34" charset="-120"/>
              </a:rPr>
              <a:t>The same lines are executed by Playwright as a real test.</a:t>
            </a:r>
            <a:endParaRPr lang="en-US" sz="1400" dirty="0"/>
          </a:p>
        </p:txBody>
      </p:sp>
      <p:sp>
        <p:nvSpPr>
          <p:cNvPr id="14" name="Text 12"/>
          <p:cNvSpPr/>
          <p:nvPr/>
        </p:nvSpPr>
        <p:spPr>
          <a:xfrm>
            <a:off x="548640" y="4800600"/>
            <a:ext cx="7269480" cy="365760"/>
          </a:xfrm>
          <a:prstGeom prst="rect">
            <a:avLst/>
          </a:prstGeom>
          <a:noFill/>
          <a:ln/>
        </p:spPr>
        <p:txBody>
          <a:bodyPr wrap="square" rtlCol="0" anchor="ctr"/>
          <a:lstStyle/>
          <a:p>
            <a:pPr algn="ctr" indent="0" marL="0">
              <a:buNone/>
            </a:pPr>
            <a:r>
              <a:rPr lang="en-US" sz="1150" i="1" dirty="0">
                <a:solidFill>
                  <a:srgbClr val="6B7280"/>
                </a:solidFill>
                <a:latin typeface="Calibri" pitchFamily="34" charset="0"/>
                <a:ea typeface="Calibri" pitchFamily="34" charset="-122"/>
                <a:cs typeface="Calibri" pitchFamily="34" charset="-120"/>
              </a:rPr>
              <a:t>6 feature files  ·  33 scenarios</a:t>
            </a:r>
            <a:endParaRPr lang="en-US" sz="1150" dirty="0"/>
          </a:p>
        </p:txBody>
      </p:sp>
      <p:sp>
        <p:nvSpPr>
          <p:cNvPr id="15" name="Text 13"/>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16" name="Text 14"/>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06  /  17</a:t>
            </a:r>
            <a:endParaRPr lang="en-US" sz="900" dirty="0"/>
          </a:p>
        </p:txBody>
      </p:sp>
    </p:spTree>
  </p:cSld>
  <p:clrMapOvr>
    <a:masterClrMapping/>
  </p:clrMapOvr>
  <p:transition advTm="38000">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PAGE OBJECT MODEL</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Selectors live inside page classes</a:t>
            </a:r>
            <a:endParaRPr lang="en-US" sz="2700" dirty="0"/>
          </a:p>
        </p:txBody>
      </p:sp>
      <p:sp>
        <p:nvSpPr>
          <p:cNvPr id="5" name="Shape 3"/>
          <p:cNvSpPr/>
          <p:nvPr/>
        </p:nvSpPr>
        <p:spPr>
          <a:xfrm>
            <a:off x="548640" y="1691640"/>
            <a:ext cx="7269480" cy="2834640"/>
          </a:xfrm>
          <a:prstGeom prst="roundRect">
            <a:avLst>
              <a:gd name="adj" fmla="val 1613"/>
            </a:avLst>
          </a:prstGeom>
          <a:solidFill>
            <a:srgbClr val="15203A"/>
          </a:solidFill>
          <a:ln w="12700">
            <a:solidFill>
              <a:srgbClr val="2A3A5C"/>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804672" y="1911096"/>
            <a:ext cx="128016" cy="128016"/>
          </a:xfrm>
          <a:prstGeom prst="ellipse">
            <a:avLst/>
          </a:prstGeom>
          <a:solidFill>
            <a:srgbClr val="F96167"/>
          </a:solidFill>
          <a:ln/>
        </p:spPr>
      </p:sp>
      <p:sp>
        <p:nvSpPr>
          <p:cNvPr id="7" name="Shape 5"/>
          <p:cNvSpPr/>
          <p:nvPr/>
        </p:nvSpPr>
        <p:spPr>
          <a:xfrm>
            <a:off x="1042416" y="1911096"/>
            <a:ext cx="128016" cy="128016"/>
          </a:xfrm>
          <a:prstGeom prst="ellipse">
            <a:avLst/>
          </a:prstGeom>
          <a:solidFill>
            <a:srgbClr val="E8A33D"/>
          </a:solidFill>
          <a:ln/>
        </p:spPr>
      </p:sp>
      <p:sp>
        <p:nvSpPr>
          <p:cNvPr id="8" name="Shape 6"/>
          <p:cNvSpPr/>
          <p:nvPr/>
        </p:nvSpPr>
        <p:spPr>
          <a:xfrm>
            <a:off x="1280160" y="1911096"/>
            <a:ext cx="128016" cy="128016"/>
          </a:xfrm>
          <a:prstGeom prst="ellipse">
            <a:avLst/>
          </a:prstGeom>
          <a:solidFill>
            <a:srgbClr val="17A398"/>
          </a:solidFill>
          <a:ln/>
        </p:spPr>
      </p:sp>
      <p:sp>
        <p:nvSpPr>
          <p:cNvPr id="9" name="Text 7"/>
          <p:cNvSpPr/>
          <p:nvPr/>
        </p:nvSpPr>
        <p:spPr>
          <a:xfrm>
            <a:off x="914400" y="2258568"/>
            <a:ext cx="6629400" cy="2011680"/>
          </a:xfrm>
          <a:prstGeom prst="rect">
            <a:avLst/>
          </a:prstGeom>
          <a:noFill/>
          <a:ln/>
        </p:spPr>
        <p:txBody>
          <a:bodyPr wrap="square" lIns="0" tIns="0" rIns="0" bIns="0" rtlCol="0" anchor="t"/>
          <a:lstStyle/>
          <a:p>
            <a:pPr indent="0" marL="0">
              <a:lnSpc>
                <a:spcPct val="122000"/>
              </a:lnSpc>
              <a:buNone/>
            </a:pPr>
            <a:r>
              <a:rPr lang="en-US" sz="1250" b="1" dirty="0">
                <a:solidFill>
                  <a:srgbClr val="E8A33D"/>
                </a:solidFill>
                <a:latin typeface="Consolas" pitchFamily="34" charset="0"/>
                <a:ea typeface="Consolas" pitchFamily="34" charset="-122"/>
                <a:cs typeface="Consolas" pitchFamily="34" charset="-120"/>
              </a:rPr>
              <a:t xml:space="preserve">export class </a:t>
            </a:r>
            <a:pPr indent="0" marL="0">
              <a:lnSpc>
                <a:spcPct val="122000"/>
              </a:lnSpc>
              <a:buNone/>
            </a:pPr>
            <a:r>
              <a:rPr lang="en-US" sz="1250" b="1" dirty="0">
                <a:solidFill>
                  <a:srgbClr val="7FE0D4"/>
                </a:solidFill>
                <a:latin typeface="Consolas" pitchFamily="34" charset="0"/>
                <a:ea typeface="Consolas" pitchFamily="34" charset="-122"/>
                <a:cs typeface="Consolas" pitchFamily="34" charset="-120"/>
              </a:rPr>
              <a:t xml:space="preserve">HomePage </a:t>
            </a:r>
            <a:pPr indent="0" marL="0">
              <a:lnSpc>
                <a:spcPct val="122000"/>
              </a:lnSpc>
              <a:buNone/>
            </a:pPr>
            <a:r>
              <a:rPr lang="en-US" sz="1250" b="1" dirty="0">
                <a:solidFill>
                  <a:srgbClr val="E8A33D"/>
                </a:solidFill>
                <a:latin typeface="Consolas" pitchFamily="34" charset="0"/>
                <a:ea typeface="Consolas" pitchFamily="34" charset="-122"/>
                <a:cs typeface="Consolas" pitchFamily="34" charset="-120"/>
              </a:rPr>
              <a:t xml:space="preserve">extends </a:t>
            </a:r>
            <a:pPr indent="0" marL="0">
              <a:lnSpc>
                <a:spcPct val="122000"/>
              </a:lnSpc>
              <a:buNone/>
            </a:pPr>
            <a:r>
              <a:rPr lang="en-US" sz="1250" dirty="0">
                <a:solidFill>
                  <a:srgbClr val="FFFFFF"/>
                </a:solidFill>
                <a:latin typeface="Consolas" pitchFamily="34" charset="0"/>
                <a:ea typeface="Consolas" pitchFamily="34" charset="-122"/>
                <a:cs typeface="Consolas" pitchFamily="34" charset="-120"/>
              </a:rPr>
              <a:t>BasePage {</a:t>
            </a:r>
            <a:endParaRPr lang="en-US" sz="1250" dirty="0"/>
          </a:p>
          <a:p>
            <a:pPr indent="0" marL="0">
              <a:lnSpc>
                <a:spcPct val="122000"/>
              </a:lnSpc>
              <a:buNone/>
            </a:pPr>
            <a:r>
              <a:rPr lang="en-US" sz="1250" dirty="0">
                <a:solidFill>
                  <a:srgbClr val="E8A33D"/>
                </a:solidFill>
                <a:latin typeface="Consolas" pitchFamily="34" charset="0"/>
                <a:ea typeface="Consolas" pitchFamily="34" charset="-122"/>
                <a:cs typeface="Consolas" pitchFamily="34" charset="-120"/>
              </a:rPr>
              <a:t xml:space="preserve">  readonly </a:t>
            </a:r>
            <a:pPr indent="0" marL="0">
              <a:lnSpc>
                <a:spcPct val="122000"/>
              </a:lnSpc>
              <a:buNone/>
            </a:pPr>
            <a:r>
              <a:rPr lang="en-US" sz="1250" dirty="0">
                <a:solidFill>
                  <a:srgbClr val="C9D4EC"/>
                </a:solidFill>
                <a:latin typeface="Consolas" pitchFamily="34" charset="0"/>
                <a:ea typeface="Consolas" pitchFamily="34" charset="-122"/>
                <a:cs typeface="Consolas" pitchFamily="34" charset="-120"/>
              </a:rPr>
              <a:t>usernameInput = page.locator(</a:t>
            </a:r>
            <a:pPr indent="0" marL="0">
              <a:lnSpc>
                <a:spcPct val="122000"/>
              </a:lnSpc>
              <a:buNone/>
            </a:pPr>
            <a:r>
              <a:rPr lang="en-US" sz="1250" dirty="0">
                <a:solidFill>
                  <a:srgbClr val="E8A33D"/>
                </a:solidFill>
                <a:latin typeface="Consolas" pitchFamily="34" charset="0"/>
                <a:ea typeface="Consolas" pitchFamily="34" charset="-122"/>
                <a:cs typeface="Consolas" pitchFamily="34" charset="-120"/>
              </a:rPr>
              <a:t>'#username'</a:t>
            </a:r>
            <a:pPr indent="0" marL="0">
              <a:lnSpc>
                <a:spcPct val="122000"/>
              </a:lnSpc>
              <a:buNone/>
            </a:pPr>
            <a:r>
              <a:rPr lang="en-US" sz="1250" dirty="0">
                <a:solidFill>
                  <a:srgbClr val="C9D4EC"/>
                </a:solidFill>
                <a:latin typeface="Consolas" pitchFamily="34" charset="0"/>
                <a:ea typeface="Consolas" pitchFamily="34" charset="-122"/>
                <a:cs typeface="Consolas" pitchFamily="34" charset="-120"/>
              </a:rPr>
              <a:t>);</a:t>
            </a:r>
            <a:endParaRPr lang="en-US" sz="1250" dirty="0"/>
          </a:p>
          <a:p>
            <a:pPr indent="0" marL="0">
              <a:lnSpc>
                <a:spcPct val="122000"/>
              </a:lnSpc>
              <a:buNone/>
            </a:pPr>
            <a:r>
              <a:rPr lang="en-US" sz="1200" dirty="0">
                <a:solidFill>
                  <a:srgbClr val="000000"/>
                </a:solidFill>
                <a:latin typeface="Consolas" pitchFamily="34" charset="0"/>
                <a:ea typeface="Consolas" pitchFamily="34" charset="-122"/>
                <a:cs typeface="Consolas" pitchFamily="34" charset="-120"/>
              </a:rPr>
              <a:t xml:space="preserve"> </a:t>
            </a:r>
            <a:endParaRPr lang="en-US" sz="1250" dirty="0"/>
          </a:p>
          <a:p>
            <a:pPr indent="0" marL="0">
              <a:lnSpc>
                <a:spcPct val="122000"/>
              </a:lnSpc>
              <a:buNone/>
            </a:pPr>
            <a:r>
              <a:rPr lang="en-US" sz="1250" b="1" dirty="0">
                <a:solidFill>
                  <a:srgbClr val="E8A33D"/>
                </a:solidFill>
                <a:latin typeface="Consolas" pitchFamily="34" charset="0"/>
                <a:ea typeface="Consolas" pitchFamily="34" charset="-122"/>
                <a:cs typeface="Consolas" pitchFamily="34" charset="-120"/>
              </a:rPr>
              <a:t xml:space="preserve">  async </a:t>
            </a:r>
            <a:pPr indent="0" marL="0">
              <a:lnSpc>
                <a:spcPct val="122000"/>
              </a:lnSpc>
              <a:buNone/>
            </a:pPr>
            <a:r>
              <a:rPr lang="en-US" sz="1250" dirty="0">
                <a:solidFill>
                  <a:srgbClr val="FFFFFF"/>
                </a:solidFill>
                <a:latin typeface="Consolas" pitchFamily="34" charset="0"/>
                <a:ea typeface="Consolas" pitchFamily="34" charset="-122"/>
                <a:cs typeface="Consolas" pitchFamily="34" charset="-120"/>
              </a:rPr>
              <a:t>login(user, pass) {</a:t>
            </a:r>
            <a:endParaRPr lang="en-US" sz="1250" dirty="0"/>
          </a:p>
          <a:p>
            <a:pPr indent="0" marL="0">
              <a:lnSpc>
                <a:spcPct val="122000"/>
              </a:lnSpc>
              <a:buNone/>
            </a:pPr>
            <a:r>
              <a:rPr lang="en-US" sz="1250" dirty="0">
                <a:solidFill>
                  <a:srgbClr val="E8A33D"/>
                </a:solidFill>
                <a:latin typeface="Consolas" pitchFamily="34" charset="0"/>
                <a:ea typeface="Consolas" pitchFamily="34" charset="-122"/>
                <a:cs typeface="Consolas" pitchFamily="34" charset="-120"/>
              </a:rPr>
              <a:t xml:space="preserve">    await </a:t>
            </a:r>
            <a:pPr indent="0" marL="0">
              <a:lnSpc>
                <a:spcPct val="122000"/>
              </a:lnSpc>
              <a:buNone/>
            </a:pPr>
            <a:r>
              <a:rPr lang="en-US" sz="1250" dirty="0">
                <a:solidFill>
                  <a:srgbClr val="C9D4EC"/>
                </a:solidFill>
                <a:latin typeface="Consolas" pitchFamily="34" charset="0"/>
                <a:ea typeface="Consolas" pitchFamily="34" charset="-122"/>
                <a:cs typeface="Consolas" pitchFamily="34" charset="-120"/>
              </a:rPr>
              <a:t>this.usernameInput.fill(user);</a:t>
            </a:r>
            <a:endParaRPr lang="en-US" sz="1250" dirty="0"/>
          </a:p>
          <a:p>
            <a:pPr indent="0" marL="0">
              <a:lnSpc>
                <a:spcPct val="122000"/>
              </a:lnSpc>
              <a:buNone/>
            </a:pPr>
            <a:r>
              <a:rPr lang="en-US" sz="1250" dirty="0">
                <a:solidFill>
                  <a:srgbClr val="E8A33D"/>
                </a:solidFill>
                <a:latin typeface="Consolas" pitchFamily="34" charset="0"/>
                <a:ea typeface="Consolas" pitchFamily="34" charset="-122"/>
                <a:cs typeface="Consolas" pitchFamily="34" charset="-120"/>
              </a:rPr>
              <a:t xml:space="preserve">    await </a:t>
            </a:r>
            <a:pPr indent="0" marL="0">
              <a:lnSpc>
                <a:spcPct val="122000"/>
              </a:lnSpc>
              <a:buNone/>
            </a:pPr>
            <a:r>
              <a:rPr lang="en-US" sz="1250" dirty="0">
                <a:solidFill>
                  <a:srgbClr val="C9D4EC"/>
                </a:solidFill>
                <a:latin typeface="Consolas" pitchFamily="34" charset="0"/>
                <a:ea typeface="Consolas" pitchFamily="34" charset="-122"/>
                <a:cs typeface="Consolas" pitchFamily="34" charset="-120"/>
              </a:rPr>
              <a:t>this.passwordInput.fill(pass);</a:t>
            </a:r>
            <a:endParaRPr lang="en-US" sz="1250" dirty="0"/>
          </a:p>
          <a:p>
            <a:pPr indent="0" marL="0">
              <a:lnSpc>
                <a:spcPct val="122000"/>
              </a:lnSpc>
              <a:buNone/>
            </a:pPr>
            <a:r>
              <a:rPr lang="en-US" sz="1250" dirty="0">
                <a:solidFill>
                  <a:srgbClr val="E8A33D"/>
                </a:solidFill>
                <a:latin typeface="Consolas" pitchFamily="34" charset="0"/>
                <a:ea typeface="Consolas" pitchFamily="34" charset="-122"/>
                <a:cs typeface="Consolas" pitchFamily="34" charset="-120"/>
              </a:rPr>
              <a:t xml:space="preserve">    await </a:t>
            </a:r>
            <a:pPr indent="0" marL="0">
              <a:lnSpc>
                <a:spcPct val="122000"/>
              </a:lnSpc>
              <a:buNone/>
            </a:pPr>
            <a:r>
              <a:rPr lang="en-US" sz="1250" dirty="0">
                <a:solidFill>
                  <a:srgbClr val="C9D4EC"/>
                </a:solidFill>
                <a:latin typeface="Consolas" pitchFamily="34" charset="0"/>
                <a:ea typeface="Consolas" pitchFamily="34" charset="-122"/>
                <a:cs typeface="Consolas" pitchFamily="34" charset="-120"/>
              </a:rPr>
              <a:t>this.loginButton.click();</a:t>
            </a:r>
            <a:endParaRPr lang="en-US" sz="1250" dirty="0"/>
          </a:p>
          <a:p>
            <a:pPr indent="0" marL="0">
              <a:lnSpc>
                <a:spcPct val="122000"/>
              </a:lnSpc>
              <a:buNone/>
            </a:pPr>
            <a:r>
              <a:rPr lang="en-US" sz="1250" dirty="0">
                <a:solidFill>
                  <a:srgbClr val="FFFFFF"/>
                </a:solidFill>
                <a:latin typeface="Consolas" pitchFamily="34" charset="0"/>
                <a:ea typeface="Consolas" pitchFamily="34" charset="-122"/>
                <a:cs typeface="Consolas" pitchFamily="34" charset="-120"/>
              </a:rPr>
              <a:t xml:space="preserve">  }</a:t>
            </a:r>
            <a:endParaRPr lang="en-US" sz="1250" dirty="0"/>
          </a:p>
          <a:p>
            <a:pPr indent="0" marL="0">
              <a:lnSpc>
                <a:spcPct val="122000"/>
              </a:lnSpc>
              <a:buNone/>
            </a:pPr>
            <a:r>
              <a:rPr lang="en-US" sz="1250" dirty="0">
                <a:solidFill>
                  <a:srgbClr val="FFFFFF"/>
                </a:solidFill>
                <a:latin typeface="Consolas" pitchFamily="34" charset="0"/>
                <a:ea typeface="Consolas" pitchFamily="34" charset="-122"/>
                <a:cs typeface="Consolas" pitchFamily="34" charset="-120"/>
              </a:rPr>
              <a:t>}</a:t>
            </a:r>
            <a:endParaRPr lang="en-US" sz="1250" dirty="0"/>
          </a:p>
        </p:txBody>
      </p:sp>
      <p:sp>
        <p:nvSpPr>
          <p:cNvPr id="10" name="Shape 8"/>
          <p:cNvSpPr/>
          <p:nvPr/>
        </p:nvSpPr>
        <p:spPr>
          <a:xfrm>
            <a:off x="8001000" y="1691640"/>
            <a:ext cx="3639312" cy="2834640"/>
          </a:xfrm>
          <a:prstGeom prst="roundRect">
            <a:avLst>
              <a:gd name="adj" fmla="val 2258"/>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1" name="Shape 9"/>
          <p:cNvSpPr/>
          <p:nvPr/>
        </p:nvSpPr>
        <p:spPr>
          <a:xfrm>
            <a:off x="8001000" y="1691640"/>
            <a:ext cx="109728" cy="2834640"/>
          </a:xfrm>
          <a:prstGeom prst="rect">
            <a:avLst/>
          </a:prstGeom>
          <a:solidFill>
            <a:srgbClr val="2F5496"/>
          </a:solidFill>
          <a:ln/>
        </p:spPr>
      </p:sp>
      <p:sp>
        <p:nvSpPr>
          <p:cNvPr id="12" name="Text 10"/>
          <p:cNvSpPr/>
          <p:nvPr/>
        </p:nvSpPr>
        <p:spPr>
          <a:xfrm>
            <a:off x="8275320" y="1920240"/>
            <a:ext cx="3108960" cy="274320"/>
          </a:xfrm>
          <a:prstGeom prst="rect">
            <a:avLst/>
          </a:prstGeom>
          <a:noFill/>
          <a:ln/>
        </p:spPr>
        <p:txBody>
          <a:bodyPr wrap="square" rtlCol="0" anchor="ctr"/>
          <a:lstStyle/>
          <a:p>
            <a:pPr indent="0" marL="0">
              <a:buNone/>
            </a:pPr>
            <a:r>
              <a:rPr lang="en-US" sz="1100" b="1" spc="150" kern="0" dirty="0">
                <a:solidFill>
                  <a:srgbClr val="2F5496"/>
                </a:solidFill>
                <a:latin typeface="Trebuchet MS" pitchFamily="34" charset="0"/>
                <a:ea typeface="Trebuchet MS" pitchFamily="34" charset="-122"/>
                <a:cs typeface="Trebuchet MS" pitchFamily="34" charset="-120"/>
              </a:rPr>
              <a:t>WHY IT MATTERS</a:t>
            </a:r>
            <a:endParaRPr lang="en-US" sz="1100" dirty="0"/>
          </a:p>
        </p:txBody>
      </p:sp>
      <p:sp>
        <p:nvSpPr>
          <p:cNvPr id="13" name="Text 11"/>
          <p:cNvSpPr/>
          <p:nvPr/>
        </p:nvSpPr>
        <p:spPr>
          <a:xfrm>
            <a:off x="8275320" y="2240280"/>
            <a:ext cx="3200400" cy="2148840"/>
          </a:xfrm>
          <a:prstGeom prst="rect">
            <a:avLst/>
          </a:prstGeom>
          <a:noFill/>
          <a:ln/>
        </p:spPr>
        <p:txBody>
          <a:bodyPr wrap="square" lIns="0" tIns="0" rIns="0" bIns="0" rtlCol="0" anchor="t"/>
          <a:lstStyle/>
          <a:p>
            <a:pPr indent="0" marL="0">
              <a:spcAft>
                <a:spcPts val="1000"/>
              </a:spcAft>
              <a:buNone/>
            </a:pPr>
            <a:r>
              <a:rPr lang="en-US" sz="1400" b="1" dirty="0">
                <a:solidFill>
                  <a:srgbClr val="1F3864"/>
                </a:solidFill>
                <a:latin typeface="Calibri" pitchFamily="34" charset="0"/>
                <a:ea typeface="Calibri" pitchFamily="34" charset="-122"/>
                <a:cs typeface="Calibri" pitchFamily="34" charset="-120"/>
              </a:rPr>
              <a:t>Every locator and action is in one page class.</a:t>
            </a:r>
            <a:endParaRPr lang="en-US" sz="1400" dirty="0"/>
          </a:p>
          <a:p>
            <a:pPr indent="0" marL="0">
              <a:spcAft>
                <a:spcPts val="1000"/>
              </a:spcAft>
              <a:buNone/>
            </a:pPr>
            <a:r>
              <a:rPr lang="en-US" sz="1200" dirty="0">
                <a:solidFill>
                  <a:srgbClr val="2A2E3A"/>
                </a:solidFill>
                <a:latin typeface="Calibri" pitchFamily="34" charset="0"/>
                <a:ea typeface="Calibri" pitchFamily="34" charset="-122"/>
                <a:cs typeface="Calibri" pitchFamily="34" charset="-120"/>
              </a:rPr>
              <a:t>Step definitions call methods like login() - never raw selectors.</a:t>
            </a:r>
            <a:endParaRPr lang="en-US" sz="1400" dirty="0"/>
          </a:p>
          <a:p>
            <a:pPr indent="0" marL="0">
              <a:buNone/>
            </a:pPr>
            <a:r>
              <a:rPr lang="en-US" sz="1200" dirty="0">
                <a:solidFill>
                  <a:srgbClr val="2A2E3A"/>
                </a:solidFill>
                <a:latin typeface="Calibri" pitchFamily="34" charset="0"/>
                <a:ea typeface="Calibri" pitchFamily="34" charset="-122"/>
                <a:cs typeface="Calibri" pitchFamily="34" charset="-120"/>
              </a:rPr>
              <a:t>If the UI changes, the fix is one line, in one place.</a:t>
            </a:r>
            <a:endParaRPr lang="en-US" sz="1400" dirty="0"/>
          </a:p>
        </p:txBody>
      </p:sp>
      <p:sp>
        <p:nvSpPr>
          <p:cNvPr id="14" name="Text 12"/>
          <p:cNvSpPr/>
          <p:nvPr/>
        </p:nvSpPr>
        <p:spPr>
          <a:xfrm>
            <a:off x="548640" y="4800600"/>
            <a:ext cx="7269480" cy="36576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5 page objects  ·  Base, Home, Registration, Account Overview, Restricted Area</a:t>
            </a:r>
            <a:endParaRPr lang="en-US" sz="1100" dirty="0"/>
          </a:p>
        </p:txBody>
      </p:sp>
      <p:sp>
        <p:nvSpPr>
          <p:cNvPr id="15" name="Text 13"/>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16" name="Text 14"/>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07  /  17</a:t>
            </a:r>
            <a:endParaRPr lang="en-US" sz="900" dirty="0"/>
          </a:p>
        </p:txBody>
      </p:sp>
    </p:spTree>
  </p:cSld>
  <p:clrMapOvr>
    <a:masterClrMapping/>
  </p:clrMapOvr>
  <p:transition advTm="38000">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TEST COVERAGE</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33 scenarios across five test types</a:t>
            </a:r>
            <a:endParaRPr lang="en-US" sz="2700" dirty="0"/>
          </a:p>
        </p:txBody>
      </p:sp>
      <p:sp>
        <p:nvSpPr>
          <p:cNvPr id="5" name="Shape 3"/>
          <p:cNvSpPr/>
          <p:nvPr/>
        </p:nvSpPr>
        <p:spPr>
          <a:xfrm>
            <a:off x="548640" y="1691640"/>
            <a:ext cx="2834640" cy="4251960"/>
          </a:xfrm>
          <a:prstGeom prst="roundRect">
            <a:avLst>
              <a:gd name="adj" fmla="val 2258"/>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Text 4"/>
          <p:cNvSpPr/>
          <p:nvPr/>
        </p:nvSpPr>
        <p:spPr>
          <a:xfrm>
            <a:off x="548640" y="2103120"/>
            <a:ext cx="2834640" cy="1280160"/>
          </a:xfrm>
          <a:prstGeom prst="rect">
            <a:avLst/>
          </a:prstGeom>
          <a:noFill/>
          <a:ln/>
        </p:spPr>
        <p:txBody>
          <a:bodyPr wrap="square" lIns="0" tIns="0" rIns="0" bIns="0" rtlCol="0" anchor="ctr"/>
          <a:lstStyle/>
          <a:p>
            <a:pPr algn="ctr" indent="0" marL="0">
              <a:buNone/>
            </a:pPr>
            <a:r>
              <a:rPr lang="en-US" sz="8000" b="1" dirty="0">
                <a:solidFill>
                  <a:srgbClr val="FFFFFF"/>
                </a:solidFill>
                <a:latin typeface="Trebuchet MS" pitchFamily="34" charset="0"/>
                <a:ea typeface="Trebuchet MS" pitchFamily="34" charset="-122"/>
                <a:cs typeface="Trebuchet MS" pitchFamily="34" charset="-120"/>
              </a:rPr>
              <a:t>33</a:t>
            </a:r>
            <a:endParaRPr lang="en-US" sz="8000" dirty="0"/>
          </a:p>
        </p:txBody>
      </p:sp>
      <p:sp>
        <p:nvSpPr>
          <p:cNvPr id="7" name="Text 5"/>
          <p:cNvSpPr/>
          <p:nvPr/>
        </p:nvSpPr>
        <p:spPr>
          <a:xfrm>
            <a:off x="548640" y="3383280"/>
            <a:ext cx="2834640" cy="640080"/>
          </a:xfrm>
          <a:prstGeom prst="rect">
            <a:avLst/>
          </a:prstGeom>
          <a:noFill/>
          <a:ln/>
        </p:spPr>
        <p:txBody>
          <a:bodyPr wrap="square" rtlCol="0" anchor="ctr"/>
          <a:lstStyle/>
          <a:p>
            <a:pPr algn="ctr" indent="0" marL="0">
              <a:buNone/>
            </a:pPr>
            <a:r>
              <a:rPr lang="en-US" sz="1300" b="1" dirty="0">
                <a:solidFill>
                  <a:srgbClr val="17A398"/>
                </a:solidFill>
                <a:latin typeface="Trebuchet MS" pitchFamily="34" charset="0"/>
                <a:ea typeface="Trebuchet MS" pitchFamily="34" charset="-122"/>
                <a:cs typeface="Trebuchet MS" pitchFamily="34" charset="-120"/>
              </a:rPr>
              <a:t>AUTOMATED</a:t>
            </a:r>
            <a:endParaRPr lang="en-US" sz="1300" dirty="0"/>
          </a:p>
          <a:p>
            <a:pPr algn="ctr" indent="0" marL="0">
              <a:buNone/>
            </a:pPr>
            <a:r>
              <a:rPr lang="en-US" sz="1300" b="1" dirty="0">
                <a:solidFill>
                  <a:srgbClr val="17A398"/>
                </a:solidFill>
                <a:latin typeface="Trebuchet MS" pitchFamily="34" charset="0"/>
                <a:ea typeface="Trebuchet MS" pitchFamily="34" charset="-122"/>
                <a:cs typeface="Trebuchet MS" pitchFamily="34" charset="-120"/>
              </a:rPr>
              <a:t>TEST CASES</a:t>
            </a:r>
            <a:endParaRPr lang="en-US" sz="1300" dirty="0"/>
          </a:p>
        </p:txBody>
      </p:sp>
      <p:sp>
        <p:nvSpPr>
          <p:cNvPr id="8" name="Shape 6"/>
          <p:cNvSpPr/>
          <p:nvPr/>
        </p:nvSpPr>
        <p:spPr>
          <a:xfrm>
            <a:off x="1325880" y="4114800"/>
            <a:ext cx="1280160" cy="27432"/>
          </a:xfrm>
          <a:prstGeom prst="rect">
            <a:avLst/>
          </a:prstGeom>
          <a:solidFill>
            <a:srgbClr val="E8A33D"/>
          </a:solidFill>
          <a:ln/>
        </p:spPr>
      </p:sp>
      <p:sp>
        <p:nvSpPr>
          <p:cNvPr id="9" name="Text 7"/>
          <p:cNvSpPr/>
          <p:nvPr/>
        </p:nvSpPr>
        <p:spPr>
          <a:xfrm>
            <a:off x="548640" y="4251960"/>
            <a:ext cx="2834640" cy="731520"/>
          </a:xfrm>
          <a:prstGeom prst="rect">
            <a:avLst/>
          </a:prstGeom>
          <a:noFill/>
          <a:ln/>
        </p:spPr>
        <p:txBody>
          <a:bodyPr wrap="square" rtlCol="0" anchor="ctr"/>
          <a:lstStyle/>
          <a:p>
            <a:pPr algn="ctr" indent="0" marL="0">
              <a:buNone/>
            </a:pPr>
            <a:r>
              <a:rPr lang="en-US" sz="1150" dirty="0">
                <a:solidFill>
                  <a:srgbClr val="C7D2E8"/>
                </a:solidFill>
                <a:latin typeface="Calibri" pitchFamily="34" charset="0"/>
                <a:ea typeface="Calibri" pitchFamily="34" charset="-122"/>
                <a:cs typeface="Calibri" pitchFamily="34" charset="-120"/>
              </a:rPr>
              <a:t>6 BDD feature files</a:t>
            </a:r>
            <a:endParaRPr lang="en-US" sz="1150" dirty="0"/>
          </a:p>
          <a:p>
            <a:pPr algn="ctr" indent="0" marL="0">
              <a:buNone/>
            </a:pPr>
            <a:r>
              <a:rPr lang="en-US" sz="1150" dirty="0">
                <a:solidFill>
                  <a:srgbClr val="C7D2E8"/>
                </a:solidFill>
                <a:latin typeface="Calibri" pitchFamily="34" charset="0"/>
                <a:ea typeface="Calibri" pitchFamily="34" charset="-122"/>
                <a:cs typeface="Calibri" pitchFamily="34" charset="-120"/>
              </a:rPr>
              <a:t>Every case automated</a:t>
            </a:r>
            <a:endParaRPr lang="en-US" sz="1150" dirty="0"/>
          </a:p>
        </p:txBody>
      </p:sp>
      <p:sp>
        <p:nvSpPr>
          <p:cNvPr id="10" name="Shape 8"/>
          <p:cNvSpPr/>
          <p:nvPr/>
        </p:nvSpPr>
        <p:spPr>
          <a:xfrm>
            <a:off x="3611880" y="1691640"/>
            <a:ext cx="8028432" cy="731520"/>
          </a:xfrm>
          <a:prstGeom prst="roundRect">
            <a:avLst>
              <a:gd name="adj" fmla="val 875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1" name="Shape 9"/>
          <p:cNvSpPr/>
          <p:nvPr/>
        </p:nvSpPr>
        <p:spPr>
          <a:xfrm>
            <a:off x="3721608" y="1801368"/>
            <a:ext cx="512064" cy="512064"/>
          </a:xfrm>
          <a:prstGeom prst="roundRect">
            <a:avLst>
              <a:gd name="adj" fmla="val 8929"/>
            </a:avLst>
          </a:prstGeom>
          <a:solidFill>
            <a:srgbClr val="1F3864"/>
          </a:solidFill>
          <a:ln/>
        </p:spPr>
      </p:sp>
      <p:sp>
        <p:nvSpPr>
          <p:cNvPr id="12" name="Text 10"/>
          <p:cNvSpPr/>
          <p:nvPr/>
        </p:nvSpPr>
        <p:spPr>
          <a:xfrm>
            <a:off x="3721608" y="1801368"/>
            <a:ext cx="512064" cy="512064"/>
          </a:xfrm>
          <a:prstGeom prst="rect">
            <a:avLst/>
          </a:prstGeom>
          <a:noFill/>
          <a:ln/>
        </p:spPr>
        <p:txBody>
          <a:bodyPr wrap="square" lIns="0" tIns="0" rIns="0" bIns="0" rtlCol="0" anchor="ctr"/>
          <a:lstStyle/>
          <a:p>
            <a:pPr algn="ctr" indent="0" marL="0">
              <a:buNone/>
            </a:pPr>
            <a:r>
              <a:rPr lang="en-US" sz="2100" b="1" dirty="0">
                <a:solidFill>
                  <a:srgbClr val="FFFFFF"/>
                </a:solidFill>
                <a:latin typeface="Trebuchet MS" pitchFamily="34" charset="0"/>
                <a:ea typeface="Trebuchet MS" pitchFamily="34" charset="-122"/>
                <a:cs typeface="Trebuchet MS" pitchFamily="34" charset="-120"/>
              </a:rPr>
              <a:t>6</a:t>
            </a:r>
            <a:endParaRPr lang="en-US" sz="2100" dirty="0"/>
          </a:p>
        </p:txBody>
      </p:sp>
      <p:sp>
        <p:nvSpPr>
          <p:cNvPr id="13" name="Text 11"/>
          <p:cNvSpPr/>
          <p:nvPr/>
        </p:nvSpPr>
        <p:spPr>
          <a:xfrm>
            <a:off x="4389120" y="1783080"/>
            <a:ext cx="2743200" cy="548640"/>
          </a:xfrm>
          <a:prstGeom prst="rect">
            <a:avLst/>
          </a:prstGeom>
          <a:noFill/>
          <a:ln/>
        </p:spPr>
        <p:txBody>
          <a:bodyPr wrap="square" lIns="0" tIns="0" rIns="0" bIns="0" rtlCol="0" anchor="ctr"/>
          <a:lstStyle/>
          <a:p>
            <a:pPr indent="0" marL="0">
              <a:buNone/>
            </a:pPr>
            <a:r>
              <a:rPr lang="en-US" sz="1500" b="1" dirty="0">
                <a:solidFill>
                  <a:srgbClr val="1F3864"/>
                </a:solidFill>
                <a:latin typeface="Trebuchet MS" pitchFamily="34" charset="0"/>
                <a:ea typeface="Trebuchet MS" pitchFamily="34" charset="-122"/>
                <a:cs typeface="Trebuchet MS" pitchFamily="34" charset="-120"/>
              </a:rPr>
              <a:t>Functional</a:t>
            </a:r>
            <a:endParaRPr lang="en-US" sz="1500" dirty="0"/>
          </a:p>
        </p:txBody>
      </p:sp>
      <p:sp>
        <p:nvSpPr>
          <p:cNvPr id="14" name="Text 12"/>
          <p:cNvSpPr/>
          <p:nvPr/>
        </p:nvSpPr>
        <p:spPr>
          <a:xfrm>
            <a:off x="6355080" y="1783080"/>
            <a:ext cx="5120640" cy="54864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Registration, login &amp; post-login balance</a:t>
            </a:r>
            <a:endParaRPr lang="en-US" sz="1150" dirty="0"/>
          </a:p>
        </p:txBody>
      </p:sp>
      <p:sp>
        <p:nvSpPr>
          <p:cNvPr id="15" name="Shape 13"/>
          <p:cNvSpPr/>
          <p:nvPr/>
        </p:nvSpPr>
        <p:spPr>
          <a:xfrm>
            <a:off x="3611880" y="2560320"/>
            <a:ext cx="8028432" cy="731520"/>
          </a:xfrm>
          <a:prstGeom prst="roundRect">
            <a:avLst>
              <a:gd name="adj" fmla="val 875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6" name="Shape 14"/>
          <p:cNvSpPr/>
          <p:nvPr/>
        </p:nvSpPr>
        <p:spPr>
          <a:xfrm>
            <a:off x="3721608" y="2670048"/>
            <a:ext cx="512064" cy="512064"/>
          </a:xfrm>
          <a:prstGeom prst="roundRect">
            <a:avLst>
              <a:gd name="adj" fmla="val 8929"/>
            </a:avLst>
          </a:prstGeom>
          <a:solidFill>
            <a:srgbClr val="2F5496"/>
          </a:solidFill>
          <a:ln/>
        </p:spPr>
      </p:sp>
      <p:sp>
        <p:nvSpPr>
          <p:cNvPr id="17" name="Text 15"/>
          <p:cNvSpPr/>
          <p:nvPr/>
        </p:nvSpPr>
        <p:spPr>
          <a:xfrm>
            <a:off x="3721608" y="2670048"/>
            <a:ext cx="512064" cy="512064"/>
          </a:xfrm>
          <a:prstGeom prst="rect">
            <a:avLst/>
          </a:prstGeom>
          <a:noFill/>
          <a:ln/>
        </p:spPr>
        <p:txBody>
          <a:bodyPr wrap="square" lIns="0" tIns="0" rIns="0" bIns="0" rtlCol="0" anchor="ctr"/>
          <a:lstStyle/>
          <a:p>
            <a:pPr algn="ctr" indent="0" marL="0">
              <a:buNone/>
            </a:pPr>
            <a:r>
              <a:rPr lang="en-US" sz="2100" b="1" dirty="0">
                <a:solidFill>
                  <a:srgbClr val="FFFFFF"/>
                </a:solidFill>
                <a:latin typeface="Trebuchet MS" pitchFamily="34" charset="0"/>
                <a:ea typeface="Trebuchet MS" pitchFamily="34" charset="-122"/>
                <a:cs typeface="Trebuchet MS" pitchFamily="34" charset="-120"/>
              </a:rPr>
              <a:t>8</a:t>
            </a:r>
            <a:endParaRPr lang="en-US" sz="2100" dirty="0"/>
          </a:p>
        </p:txBody>
      </p:sp>
      <p:sp>
        <p:nvSpPr>
          <p:cNvPr id="18" name="Text 16"/>
          <p:cNvSpPr/>
          <p:nvPr/>
        </p:nvSpPr>
        <p:spPr>
          <a:xfrm>
            <a:off x="4389120" y="2651760"/>
            <a:ext cx="2743200" cy="548640"/>
          </a:xfrm>
          <a:prstGeom prst="rect">
            <a:avLst/>
          </a:prstGeom>
          <a:noFill/>
          <a:ln/>
        </p:spPr>
        <p:txBody>
          <a:bodyPr wrap="square" lIns="0" tIns="0" rIns="0" bIns="0" rtlCol="0" anchor="ctr"/>
          <a:lstStyle/>
          <a:p>
            <a:pPr indent="0" marL="0">
              <a:buNone/>
            </a:pPr>
            <a:r>
              <a:rPr lang="en-US" sz="1500" b="1" dirty="0">
                <a:solidFill>
                  <a:srgbClr val="1F3864"/>
                </a:solidFill>
                <a:latin typeface="Trebuchet MS" pitchFamily="34" charset="0"/>
                <a:ea typeface="Trebuchet MS" pitchFamily="34" charset="-122"/>
                <a:cs typeface="Trebuchet MS" pitchFamily="34" charset="-120"/>
              </a:rPr>
              <a:t>Boundary</a:t>
            </a:r>
            <a:endParaRPr lang="en-US" sz="1500" dirty="0"/>
          </a:p>
        </p:txBody>
      </p:sp>
      <p:sp>
        <p:nvSpPr>
          <p:cNvPr id="19" name="Text 17"/>
          <p:cNvSpPr/>
          <p:nvPr/>
        </p:nvSpPr>
        <p:spPr>
          <a:xfrm>
            <a:off x="6355080" y="2651760"/>
            <a:ext cx="5120640" cy="54864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Min / max length, special chars, missing fields</a:t>
            </a:r>
            <a:endParaRPr lang="en-US" sz="1150" dirty="0"/>
          </a:p>
        </p:txBody>
      </p:sp>
      <p:sp>
        <p:nvSpPr>
          <p:cNvPr id="20" name="Shape 18"/>
          <p:cNvSpPr/>
          <p:nvPr/>
        </p:nvSpPr>
        <p:spPr>
          <a:xfrm>
            <a:off x="3611880" y="3429000"/>
            <a:ext cx="8028432" cy="731520"/>
          </a:xfrm>
          <a:prstGeom prst="roundRect">
            <a:avLst>
              <a:gd name="adj" fmla="val 875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1" name="Shape 19"/>
          <p:cNvSpPr/>
          <p:nvPr/>
        </p:nvSpPr>
        <p:spPr>
          <a:xfrm>
            <a:off x="3721608" y="3538728"/>
            <a:ext cx="512064" cy="512064"/>
          </a:xfrm>
          <a:prstGeom prst="roundRect">
            <a:avLst>
              <a:gd name="adj" fmla="val 8929"/>
            </a:avLst>
          </a:prstGeom>
          <a:solidFill>
            <a:srgbClr val="17A398"/>
          </a:solidFill>
          <a:ln/>
        </p:spPr>
      </p:sp>
      <p:sp>
        <p:nvSpPr>
          <p:cNvPr id="22" name="Text 20"/>
          <p:cNvSpPr/>
          <p:nvPr/>
        </p:nvSpPr>
        <p:spPr>
          <a:xfrm>
            <a:off x="3721608" y="3538728"/>
            <a:ext cx="512064" cy="512064"/>
          </a:xfrm>
          <a:prstGeom prst="rect">
            <a:avLst/>
          </a:prstGeom>
          <a:noFill/>
          <a:ln/>
        </p:spPr>
        <p:txBody>
          <a:bodyPr wrap="square" lIns="0" tIns="0" rIns="0" bIns="0" rtlCol="0" anchor="ctr"/>
          <a:lstStyle/>
          <a:p>
            <a:pPr algn="ctr" indent="0" marL="0">
              <a:buNone/>
            </a:pPr>
            <a:r>
              <a:rPr lang="en-US" sz="2100" b="1" dirty="0">
                <a:solidFill>
                  <a:srgbClr val="FFFFFF"/>
                </a:solidFill>
                <a:latin typeface="Trebuchet MS" pitchFamily="34" charset="0"/>
                <a:ea typeface="Trebuchet MS" pitchFamily="34" charset="-122"/>
                <a:cs typeface="Trebuchet MS" pitchFamily="34" charset="-120"/>
              </a:rPr>
              <a:t>9</a:t>
            </a:r>
            <a:endParaRPr lang="en-US" sz="2100" dirty="0"/>
          </a:p>
        </p:txBody>
      </p:sp>
      <p:sp>
        <p:nvSpPr>
          <p:cNvPr id="23" name="Text 21"/>
          <p:cNvSpPr/>
          <p:nvPr/>
        </p:nvSpPr>
        <p:spPr>
          <a:xfrm>
            <a:off x="4389120" y="3520440"/>
            <a:ext cx="2743200" cy="548640"/>
          </a:xfrm>
          <a:prstGeom prst="rect">
            <a:avLst/>
          </a:prstGeom>
          <a:noFill/>
          <a:ln/>
        </p:spPr>
        <p:txBody>
          <a:bodyPr wrap="square" lIns="0" tIns="0" rIns="0" bIns="0" rtlCol="0" anchor="ctr"/>
          <a:lstStyle/>
          <a:p>
            <a:pPr indent="0" marL="0">
              <a:buNone/>
            </a:pPr>
            <a:r>
              <a:rPr lang="en-US" sz="1500" b="1" dirty="0">
                <a:solidFill>
                  <a:srgbClr val="1F3864"/>
                </a:solidFill>
                <a:latin typeface="Trebuchet MS" pitchFamily="34" charset="0"/>
                <a:ea typeface="Trebuchet MS" pitchFamily="34" charset="-122"/>
                <a:cs typeface="Trebuchet MS" pitchFamily="34" charset="-120"/>
              </a:rPr>
              <a:t>Security</a:t>
            </a:r>
            <a:endParaRPr lang="en-US" sz="1500" dirty="0"/>
          </a:p>
        </p:txBody>
      </p:sp>
      <p:sp>
        <p:nvSpPr>
          <p:cNvPr id="24" name="Text 22"/>
          <p:cNvSpPr/>
          <p:nvPr/>
        </p:nvSpPr>
        <p:spPr>
          <a:xfrm>
            <a:off x="6355080" y="3520440"/>
            <a:ext cx="5120640" cy="54864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Injection, masking, HTTPS, sessions, enumeration</a:t>
            </a:r>
            <a:endParaRPr lang="en-US" sz="1150" dirty="0"/>
          </a:p>
        </p:txBody>
      </p:sp>
      <p:sp>
        <p:nvSpPr>
          <p:cNvPr id="25" name="Shape 23"/>
          <p:cNvSpPr/>
          <p:nvPr/>
        </p:nvSpPr>
        <p:spPr>
          <a:xfrm>
            <a:off x="3611880" y="4297680"/>
            <a:ext cx="8028432" cy="731520"/>
          </a:xfrm>
          <a:prstGeom prst="roundRect">
            <a:avLst>
              <a:gd name="adj" fmla="val 875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6" name="Shape 24"/>
          <p:cNvSpPr/>
          <p:nvPr/>
        </p:nvSpPr>
        <p:spPr>
          <a:xfrm>
            <a:off x="3721608" y="4407408"/>
            <a:ext cx="512064" cy="512064"/>
          </a:xfrm>
          <a:prstGeom prst="roundRect">
            <a:avLst>
              <a:gd name="adj" fmla="val 8929"/>
            </a:avLst>
          </a:prstGeom>
          <a:solidFill>
            <a:srgbClr val="E8A33D"/>
          </a:solidFill>
          <a:ln/>
        </p:spPr>
      </p:sp>
      <p:sp>
        <p:nvSpPr>
          <p:cNvPr id="27" name="Text 25"/>
          <p:cNvSpPr/>
          <p:nvPr/>
        </p:nvSpPr>
        <p:spPr>
          <a:xfrm>
            <a:off x="3721608" y="4407408"/>
            <a:ext cx="512064" cy="512064"/>
          </a:xfrm>
          <a:prstGeom prst="rect">
            <a:avLst/>
          </a:prstGeom>
          <a:noFill/>
          <a:ln/>
        </p:spPr>
        <p:txBody>
          <a:bodyPr wrap="square" lIns="0" tIns="0" rIns="0" bIns="0" rtlCol="0" anchor="ctr"/>
          <a:lstStyle/>
          <a:p>
            <a:pPr algn="ctr" indent="0" marL="0">
              <a:buNone/>
            </a:pPr>
            <a:r>
              <a:rPr lang="en-US" sz="2100" b="1" dirty="0">
                <a:solidFill>
                  <a:srgbClr val="FFFFFF"/>
                </a:solidFill>
                <a:latin typeface="Trebuchet MS" pitchFamily="34" charset="0"/>
                <a:ea typeface="Trebuchet MS" pitchFamily="34" charset="-122"/>
                <a:cs typeface="Trebuchet MS" pitchFamily="34" charset="-120"/>
              </a:rPr>
              <a:t>5</a:t>
            </a:r>
            <a:endParaRPr lang="en-US" sz="2100" dirty="0"/>
          </a:p>
        </p:txBody>
      </p:sp>
      <p:sp>
        <p:nvSpPr>
          <p:cNvPr id="28" name="Text 26"/>
          <p:cNvSpPr/>
          <p:nvPr/>
        </p:nvSpPr>
        <p:spPr>
          <a:xfrm>
            <a:off x="4389120" y="4389120"/>
            <a:ext cx="2743200" cy="548640"/>
          </a:xfrm>
          <a:prstGeom prst="rect">
            <a:avLst/>
          </a:prstGeom>
          <a:noFill/>
          <a:ln/>
        </p:spPr>
        <p:txBody>
          <a:bodyPr wrap="square" lIns="0" tIns="0" rIns="0" bIns="0" rtlCol="0" anchor="ctr"/>
          <a:lstStyle/>
          <a:p>
            <a:pPr indent="0" marL="0">
              <a:buNone/>
            </a:pPr>
            <a:r>
              <a:rPr lang="en-US" sz="1500" b="1" dirty="0">
                <a:solidFill>
                  <a:srgbClr val="1F3864"/>
                </a:solidFill>
                <a:latin typeface="Trebuchet MS" pitchFamily="34" charset="0"/>
                <a:ea typeface="Trebuchet MS" pitchFamily="34" charset="-122"/>
                <a:cs typeface="Trebuchet MS" pitchFamily="34" charset="-120"/>
              </a:rPr>
              <a:t>Access control</a:t>
            </a:r>
            <a:endParaRPr lang="en-US" sz="1500" dirty="0"/>
          </a:p>
        </p:txBody>
      </p:sp>
      <p:sp>
        <p:nvSpPr>
          <p:cNvPr id="29" name="Text 27"/>
          <p:cNvSpPr/>
          <p:nvPr/>
        </p:nvSpPr>
        <p:spPr>
          <a:xfrm>
            <a:off x="6355080" y="4389120"/>
            <a:ext cx="5120640" cy="54864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Protected pages require an authenticated session</a:t>
            </a:r>
            <a:endParaRPr lang="en-US" sz="1150" dirty="0"/>
          </a:p>
        </p:txBody>
      </p:sp>
      <p:sp>
        <p:nvSpPr>
          <p:cNvPr id="30" name="Shape 28"/>
          <p:cNvSpPr/>
          <p:nvPr/>
        </p:nvSpPr>
        <p:spPr>
          <a:xfrm>
            <a:off x="3611880" y="5166360"/>
            <a:ext cx="8028432" cy="731520"/>
          </a:xfrm>
          <a:prstGeom prst="roundRect">
            <a:avLst>
              <a:gd name="adj" fmla="val 875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1" name="Shape 29"/>
          <p:cNvSpPr/>
          <p:nvPr/>
        </p:nvSpPr>
        <p:spPr>
          <a:xfrm>
            <a:off x="3721608" y="5276088"/>
            <a:ext cx="512064" cy="512064"/>
          </a:xfrm>
          <a:prstGeom prst="roundRect">
            <a:avLst>
              <a:gd name="adj" fmla="val 8929"/>
            </a:avLst>
          </a:prstGeom>
          <a:solidFill>
            <a:srgbClr val="7A4FA3"/>
          </a:solidFill>
          <a:ln/>
        </p:spPr>
      </p:sp>
      <p:sp>
        <p:nvSpPr>
          <p:cNvPr id="32" name="Text 30"/>
          <p:cNvSpPr/>
          <p:nvPr/>
        </p:nvSpPr>
        <p:spPr>
          <a:xfrm>
            <a:off x="3721608" y="5276088"/>
            <a:ext cx="512064" cy="512064"/>
          </a:xfrm>
          <a:prstGeom prst="rect">
            <a:avLst/>
          </a:prstGeom>
          <a:noFill/>
          <a:ln/>
        </p:spPr>
        <p:txBody>
          <a:bodyPr wrap="square" lIns="0" tIns="0" rIns="0" bIns="0" rtlCol="0" anchor="ctr"/>
          <a:lstStyle/>
          <a:p>
            <a:pPr algn="ctr" indent="0" marL="0">
              <a:buNone/>
            </a:pPr>
            <a:r>
              <a:rPr lang="en-US" sz="2100" b="1" dirty="0">
                <a:solidFill>
                  <a:srgbClr val="FFFFFF"/>
                </a:solidFill>
                <a:latin typeface="Trebuchet MS" pitchFamily="34" charset="0"/>
                <a:ea typeface="Trebuchet MS" pitchFamily="34" charset="-122"/>
                <a:cs typeface="Trebuchet MS" pitchFamily="34" charset="-120"/>
              </a:rPr>
              <a:t>5</a:t>
            </a:r>
            <a:endParaRPr lang="en-US" sz="2100" dirty="0"/>
          </a:p>
        </p:txBody>
      </p:sp>
      <p:sp>
        <p:nvSpPr>
          <p:cNvPr id="33" name="Text 31"/>
          <p:cNvSpPr/>
          <p:nvPr/>
        </p:nvSpPr>
        <p:spPr>
          <a:xfrm>
            <a:off x="4389120" y="5257800"/>
            <a:ext cx="2743200" cy="548640"/>
          </a:xfrm>
          <a:prstGeom prst="rect">
            <a:avLst/>
          </a:prstGeom>
          <a:noFill/>
          <a:ln/>
        </p:spPr>
        <p:txBody>
          <a:bodyPr wrap="square" lIns="0" tIns="0" rIns="0" bIns="0" rtlCol="0" anchor="ctr"/>
          <a:lstStyle/>
          <a:p>
            <a:pPr indent="0" marL="0">
              <a:buNone/>
            </a:pPr>
            <a:r>
              <a:rPr lang="en-US" sz="1500" b="1" dirty="0">
                <a:solidFill>
                  <a:srgbClr val="1F3864"/>
                </a:solidFill>
                <a:latin typeface="Trebuchet MS" pitchFamily="34" charset="0"/>
                <a:ea typeface="Trebuchet MS" pitchFamily="34" charset="-122"/>
                <a:cs typeface="Trebuchet MS" pitchFamily="34" charset="-120"/>
              </a:rPr>
              <a:t>Performance</a:t>
            </a:r>
            <a:endParaRPr lang="en-US" sz="1500" dirty="0"/>
          </a:p>
        </p:txBody>
      </p:sp>
      <p:sp>
        <p:nvSpPr>
          <p:cNvPr id="34" name="Text 32"/>
          <p:cNvSpPr/>
          <p:nvPr/>
        </p:nvSpPr>
        <p:spPr>
          <a:xfrm>
            <a:off x="6355080" y="5257800"/>
            <a:ext cx="5120640" cy="54864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Page-load &amp; action response times vs budgets</a:t>
            </a:r>
            <a:endParaRPr lang="en-US" sz="1150" dirty="0"/>
          </a:p>
        </p:txBody>
      </p:sp>
      <p:sp>
        <p:nvSpPr>
          <p:cNvPr id="35" name="Text 33"/>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36" name="Text 34"/>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08  /  17</a:t>
            </a:r>
            <a:endParaRPr lang="en-US" sz="900" dirty="0"/>
          </a:p>
        </p:txBody>
      </p:sp>
    </p:spTree>
  </p:cSld>
  <p:clrMapOvr>
    <a:masterClrMapping/>
  </p:clrMapOvr>
  <p:transition advTm="32000">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DEEP TESTING  -  1 OF 3</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Boundary &amp; input validation</a:t>
            </a:r>
            <a:endParaRPr lang="en-US" sz="2700" dirty="0"/>
          </a:p>
        </p:txBody>
      </p:sp>
      <p:sp>
        <p:nvSpPr>
          <p:cNvPr id="5" name="Shape 3"/>
          <p:cNvSpPr/>
          <p:nvPr/>
        </p:nvSpPr>
        <p:spPr>
          <a:xfrm>
            <a:off x="548640" y="1691640"/>
            <a:ext cx="5486400" cy="3611880"/>
          </a:xfrm>
          <a:prstGeom prst="roundRect">
            <a:avLst>
              <a:gd name="adj" fmla="val 1772"/>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548640" y="1691640"/>
            <a:ext cx="5486400" cy="457200"/>
          </a:xfrm>
          <a:prstGeom prst="rect">
            <a:avLst/>
          </a:prstGeom>
          <a:solidFill>
            <a:srgbClr val="2F5496"/>
          </a:solidFill>
          <a:ln/>
        </p:spPr>
      </p:sp>
      <p:sp>
        <p:nvSpPr>
          <p:cNvPr id="7" name="Text 5"/>
          <p:cNvSpPr/>
          <p:nvPr/>
        </p:nvSpPr>
        <p:spPr>
          <a:xfrm>
            <a:off x="777240" y="1691640"/>
            <a:ext cx="5029200" cy="45720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REGISTRATION  -  5 checks</a:t>
            </a:r>
            <a:endParaRPr lang="en-US" sz="1300" dirty="0"/>
          </a:p>
        </p:txBody>
      </p:sp>
      <p:sp>
        <p:nvSpPr>
          <p:cNvPr id="8" name="Text 6"/>
          <p:cNvSpPr/>
          <p:nvPr/>
        </p:nvSpPr>
        <p:spPr>
          <a:xfrm>
            <a:off x="896112" y="2377440"/>
            <a:ext cx="4846320" cy="2697480"/>
          </a:xfrm>
          <a:prstGeom prst="rect">
            <a:avLst/>
          </a:prstGeom>
          <a:noFill/>
          <a:ln/>
        </p:spPr>
        <p:txBody>
          <a:bodyPr wrap="square" lIns="0" tIns="0" rIns="0" bIns="0" rtlCol="0" anchor="t"/>
          <a:lstStyle/>
          <a:p>
            <a:pPr marL="177800" indent="-177800">
              <a:spcAft>
                <a:spcPts val="1100"/>
              </a:spcAft>
              <a:buSzPct val="100000"/>
              <a:buChar char="•"/>
            </a:pPr>
            <a:r>
              <a:rPr lang="en-US" sz="1250" dirty="0">
                <a:solidFill>
                  <a:srgbClr val="2A2E3A"/>
                </a:solidFill>
                <a:latin typeface="Calibri" pitchFamily="34" charset="0"/>
                <a:ea typeface="Calibri" pitchFamily="34" charset="-122"/>
                <a:cs typeface="Calibri" pitchFamily="34" charset="-120"/>
              </a:rPr>
              <a:t>Password and confirm-password mismatch is rejected</a:t>
            </a:r>
            <a:endParaRPr lang="en-US" sz="1250" dirty="0"/>
          </a:p>
          <a:p>
            <a:pPr marL="177800" indent="-177800">
              <a:spcAft>
                <a:spcPts val="1100"/>
              </a:spcAft>
              <a:buSzPct val="100000"/>
              <a:buChar char="•"/>
            </a:pPr>
            <a:r>
              <a:rPr lang="en-US" sz="1250" dirty="0">
                <a:solidFill>
                  <a:srgbClr val="2A2E3A"/>
                </a:solidFill>
                <a:latin typeface="Calibri" pitchFamily="34" charset="0"/>
                <a:ea typeface="Calibri" pitchFamily="34" charset="-122"/>
                <a:cs typeface="Calibri" pitchFamily="34" charset="-120"/>
              </a:rPr>
              <a:t>Partial form - only some mandatory fields filled</a:t>
            </a:r>
            <a:endParaRPr lang="en-US" sz="1250" dirty="0"/>
          </a:p>
          <a:p>
            <a:pPr marL="177800" indent="-177800">
              <a:spcAft>
                <a:spcPts val="1100"/>
              </a:spcAft>
              <a:buSzPct val="100000"/>
              <a:buChar char="•"/>
            </a:pPr>
            <a:r>
              <a:rPr lang="en-US" sz="1250" dirty="0">
                <a:solidFill>
                  <a:srgbClr val="2A2E3A"/>
                </a:solidFill>
                <a:latin typeface="Calibri" pitchFamily="34" charset="0"/>
                <a:ea typeface="Calibri" pitchFamily="34" charset="-122"/>
                <a:cs typeface="Calibri" pitchFamily="34" charset="-120"/>
              </a:rPr>
              <a:t>Minimum-length (single-character) field values</a:t>
            </a:r>
            <a:endParaRPr lang="en-US" sz="1250" dirty="0"/>
          </a:p>
          <a:p>
            <a:pPr marL="177800" indent="-177800">
              <a:spcAft>
                <a:spcPts val="1100"/>
              </a:spcAft>
              <a:buSzPct val="100000"/>
              <a:buChar char="•"/>
            </a:pPr>
            <a:r>
              <a:rPr lang="en-US" sz="1250" dirty="0">
                <a:solidFill>
                  <a:srgbClr val="2A2E3A"/>
                </a:solidFill>
                <a:latin typeface="Calibri" pitchFamily="34" charset="0"/>
                <a:ea typeface="Calibri" pitchFamily="34" charset="-122"/>
                <a:cs typeface="Calibri" pitchFamily="34" charset="-120"/>
              </a:rPr>
              <a:t>Maximum-length field values are accepted</a:t>
            </a:r>
            <a:endParaRPr lang="en-US" sz="1250" dirty="0"/>
          </a:p>
          <a:p>
            <a:pPr marL="177800" indent="-177800">
              <a:spcAft>
                <a:spcPts val="1100"/>
              </a:spcAft>
              <a:buSzPct val="100000"/>
              <a:buChar char="•"/>
            </a:pPr>
            <a:r>
              <a:rPr lang="en-US" sz="1250" dirty="0">
                <a:solidFill>
                  <a:srgbClr val="2A2E3A"/>
                </a:solidFill>
                <a:latin typeface="Calibri" pitchFamily="34" charset="0"/>
                <a:ea typeface="Calibri" pitchFamily="34" charset="-122"/>
                <a:cs typeface="Calibri" pitchFamily="34" charset="-120"/>
              </a:rPr>
              <a:t>Special characters in names and address</a:t>
            </a:r>
            <a:endParaRPr lang="en-US" sz="1250" dirty="0"/>
          </a:p>
        </p:txBody>
      </p:sp>
      <p:sp>
        <p:nvSpPr>
          <p:cNvPr id="9" name="Shape 7"/>
          <p:cNvSpPr/>
          <p:nvPr/>
        </p:nvSpPr>
        <p:spPr>
          <a:xfrm>
            <a:off x="6153912" y="1691640"/>
            <a:ext cx="5486400" cy="3611880"/>
          </a:xfrm>
          <a:prstGeom prst="roundRect">
            <a:avLst>
              <a:gd name="adj" fmla="val 1772"/>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0" name="Shape 8"/>
          <p:cNvSpPr/>
          <p:nvPr/>
        </p:nvSpPr>
        <p:spPr>
          <a:xfrm>
            <a:off x="6153912" y="1691640"/>
            <a:ext cx="5486400" cy="457200"/>
          </a:xfrm>
          <a:prstGeom prst="rect">
            <a:avLst/>
          </a:prstGeom>
          <a:solidFill>
            <a:srgbClr val="1F3864"/>
          </a:solidFill>
          <a:ln/>
        </p:spPr>
      </p:sp>
      <p:sp>
        <p:nvSpPr>
          <p:cNvPr id="11" name="Text 9"/>
          <p:cNvSpPr/>
          <p:nvPr/>
        </p:nvSpPr>
        <p:spPr>
          <a:xfrm>
            <a:off x="6382512" y="1691640"/>
            <a:ext cx="5029200" cy="45720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LOGIN  -  3 checks</a:t>
            </a:r>
            <a:endParaRPr lang="en-US" sz="1300" dirty="0"/>
          </a:p>
        </p:txBody>
      </p:sp>
      <p:sp>
        <p:nvSpPr>
          <p:cNvPr id="12" name="Text 10"/>
          <p:cNvSpPr/>
          <p:nvPr/>
        </p:nvSpPr>
        <p:spPr>
          <a:xfrm>
            <a:off x="6501384" y="2377440"/>
            <a:ext cx="4846320" cy="2697480"/>
          </a:xfrm>
          <a:prstGeom prst="rect">
            <a:avLst/>
          </a:prstGeom>
          <a:noFill/>
          <a:ln/>
        </p:spPr>
        <p:txBody>
          <a:bodyPr wrap="square" lIns="0" tIns="0" rIns="0" bIns="0" rtlCol="0" anchor="t"/>
          <a:lstStyle/>
          <a:p>
            <a:pPr marL="177800" indent="-177800">
              <a:spcAft>
                <a:spcPts val="1100"/>
              </a:spcAft>
              <a:buSzPct val="100000"/>
              <a:buChar char="•"/>
            </a:pPr>
            <a:r>
              <a:rPr lang="en-US" sz="1250" dirty="0">
                <a:solidFill>
                  <a:srgbClr val="2A2E3A"/>
                </a:solidFill>
                <a:latin typeface="Calibri" pitchFamily="34" charset="0"/>
                <a:ea typeface="Calibri" pitchFamily="34" charset="-122"/>
                <a:cs typeface="Calibri" pitchFamily="34" charset="-120"/>
              </a:rPr>
              <a:t>Login rejected when the username is empty</a:t>
            </a:r>
            <a:endParaRPr lang="en-US" sz="1250" dirty="0"/>
          </a:p>
          <a:p>
            <a:pPr marL="177800" indent="-177800">
              <a:spcAft>
                <a:spcPts val="1100"/>
              </a:spcAft>
              <a:buSzPct val="100000"/>
              <a:buChar char="•"/>
            </a:pPr>
            <a:r>
              <a:rPr lang="en-US" sz="1250" dirty="0">
                <a:solidFill>
                  <a:srgbClr val="2A2E3A"/>
                </a:solidFill>
                <a:latin typeface="Calibri" pitchFamily="34" charset="0"/>
                <a:ea typeface="Calibri" pitchFamily="34" charset="-122"/>
                <a:cs typeface="Calibri" pitchFamily="34" charset="-120"/>
              </a:rPr>
              <a:t>Login rejected when the password is empty</a:t>
            </a:r>
            <a:endParaRPr lang="en-US" sz="1250" dirty="0"/>
          </a:p>
          <a:p>
            <a:pPr marL="177800" indent="-177800">
              <a:spcAft>
                <a:spcPts val="1100"/>
              </a:spcAft>
              <a:buSzPct val="100000"/>
              <a:buChar char="•"/>
            </a:pPr>
            <a:r>
              <a:rPr lang="en-US" sz="1250" dirty="0">
                <a:solidFill>
                  <a:srgbClr val="2A2E3A"/>
                </a:solidFill>
                <a:latin typeface="Calibri" pitchFamily="34" charset="0"/>
                <a:ea typeface="Calibri" pitchFamily="34" charset="-122"/>
                <a:cs typeface="Calibri" pitchFamily="34" charset="-120"/>
              </a:rPr>
              <a:t>Login rejected when both fields are empty</a:t>
            </a:r>
            <a:endParaRPr lang="en-US" sz="1250" dirty="0"/>
          </a:p>
        </p:txBody>
      </p:sp>
      <p:sp>
        <p:nvSpPr>
          <p:cNvPr id="13" name="Shape 11"/>
          <p:cNvSpPr/>
          <p:nvPr/>
        </p:nvSpPr>
        <p:spPr>
          <a:xfrm>
            <a:off x="548640" y="5440680"/>
            <a:ext cx="11091672" cy="594360"/>
          </a:xfrm>
          <a:prstGeom prst="roundRect">
            <a:avLst>
              <a:gd name="adj" fmla="val 10769"/>
            </a:avLst>
          </a:prstGeom>
          <a:solidFill>
            <a:srgbClr val="FFF6E6"/>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4" name="Text 12"/>
          <p:cNvSpPr/>
          <p:nvPr/>
        </p:nvSpPr>
        <p:spPr>
          <a:xfrm>
            <a:off x="868680" y="5440680"/>
            <a:ext cx="10515600" cy="594360"/>
          </a:xfrm>
          <a:prstGeom prst="rect">
            <a:avLst/>
          </a:prstGeom>
          <a:noFill/>
          <a:ln/>
        </p:spPr>
        <p:txBody>
          <a:bodyPr wrap="square" lIns="0" tIns="0" rIns="0" bIns="0" rtlCol="0" anchor="ctr"/>
          <a:lstStyle/>
          <a:p>
            <a:pPr indent="0" marL="0">
              <a:buNone/>
            </a:pPr>
            <a:r>
              <a:rPr lang="en-US" sz="1200" b="1" dirty="0">
                <a:solidFill>
                  <a:srgbClr val="E8A33D"/>
                </a:solidFill>
                <a:latin typeface="Calibri" pitchFamily="34" charset="0"/>
                <a:ea typeface="Calibri" pitchFamily="34" charset="-122"/>
                <a:cs typeface="Calibri" pitchFamily="34" charset="-120"/>
              </a:rPr>
              <a:t xml:space="preserve">Boundary value analysis  </a:t>
            </a:r>
            <a:pPr indent="0" marL="0">
              <a:buNone/>
            </a:pPr>
            <a:r>
              <a:rPr lang="en-US" sz="1200" dirty="0">
                <a:solidFill>
                  <a:srgbClr val="2A2E3A"/>
                </a:solidFill>
                <a:latin typeface="Calibri" pitchFamily="34" charset="0"/>
                <a:ea typeface="Calibri" pitchFamily="34" charset="-122"/>
                <a:cs typeface="Calibri" pitchFamily="34" charset="-120"/>
              </a:rPr>
              <a:t>-  the edges of valid input are where defects most often hide.</a:t>
            </a:r>
            <a:endParaRPr lang="en-US" sz="1200" dirty="0"/>
          </a:p>
        </p:txBody>
      </p:sp>
      <p:sp>
        <p:nvSpPr>
          <p:cNvPr id="15" name="Text 13"/>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16" name="Text 14"/>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09  /  17</a:t>
            </a:r>
            <a:endParaRPr lang="en-US" sz="900" dirty="0"/>
          </a:p>
        </p:txBody>
      </p:sp>
    </p:spTree>
  </p:cSld>
  <p:clrMapOvr>
    <a:masterClrMapping/>
  </p:clrMapOvr>
  <p:transition advTm="40000">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DEEP TESTING  -  2 OF 3</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Security testing</a:t>
            </a:r>
            <a:endParaRPr lang="en-US" sz="2700" dirty="0"/>
          </a:p>
        </p:txBody>
      </p:sp>
      <p:sp>
        <p:nvSpPr>
          <p:cNvPr id="5" name="Shape 3"/>
          <p:cNvSpPr/>
          <p:nvPr/>
        </p:nvSpPr>
        <p:spPr>
          <a:xfrm>
            <a:off x="548640" y="1645920"/>
            <a:ext cx="5431536" cy="2057400"/>
          </a:xfrm>
          <a:prstGeom prst="roundRect">
            <a:avLst>
              <a:gd name="adj" fmla="val 3111"/>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548640" y="1645920"/>
            <a:ext cx="109728" cy="2057400"/>
          </a:xfrm>
          <a:prstGeom prst="rect">
            <a:avLst/>
          </a:prstGeom>
          <a:solidFill>
            <a:srgbClr val="17A398"/>
          </a:solidFill>
          <a:ln/>
        </p:spPr>
      </p:sp>
      <p:sp>
        <p:nvSpPr>
          <p:cNvPr id="7" name="Text 5"/>
          <p:cNvSpPr/>
          <p:nvPr/>
        </p:nvSpPr>
        <p:spPr>
          <a:xfrm>
            <a:off x="877824" y="1847088"/>
            <a:ext cx="4882896" cy="411480"/>
          </a:xfrm>
          <a:prstGeom prst="rect">
            <a:avLst/>
          </a:prstGeom>
          <a:noFill/>
          <a:ln/>
        </p:spPr>
        <p:txBody>
          <a:bodyPr wrap="square" lIns="0" tIns="0" rIns="0" bIns="0" rtlCol="0" anchor="ctr"/>
          <a:lstStyle/>
          <a:p>
            <a:pPr indent="0" marL="0">
              <a:buNone/>
            </a:pPr>
            <a:r>
              <a:rPr lang="en-US" sz="1600" b="1" dirty="0">
                <a:solidFill>
                  <a:srgbClr val="1F3864"/>
                </a:solidFill>
                <a:latin typeface="Trebuchet MS" pitchFamily="34" charset="0"/>
                <a:ea typeface="Trebuchet MS" pitchFamily="34" charset="-122"/>
                <a:cs typeface="Trebuchet MS" pitchFamily="34" charset="-120"/>
              </a:rPr>
              <a:t>Input masking</a:t>
            </a:r>
            <a:endParaRPr lang="en-US" sz="1600" dirty="0"/>
          </a:p>
        </p:txBody>
      </p:sp>
      <p:sp>
        <p:nvSpPr>
          <p:cNvPr id="8" name="Text 6"/>
          <p:cNvSpPr/>
          <p:nvPr/>
        </p:nvSpPr>
        <p:spPr>
          <a:xfrm>
            <a:off x="932688" y="2322576"/>
            <a:ext cx="4745736" cy="1280160"/>
          </a:xfrm>
          <a:prstGeom prst="rect">
            <a:avLst/>
          </a:prstGeom>
          <a:noFill/>
          <a:ln/>
        </p:spPr>
        <p:txBody>
          <a:bodyPr wrap="square" lIns="0" tIns="0" rIns="0" bIns="0" rtlCol="0" anchor="ctr"/>
          <a:lstStyle/>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Password fields on registration</a:t>
            </a:r>
            <a:endParaRPr lang="en-US" sz="1150" dirty="0"/>
          </a:p>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Confirm-password field</a:t>
            </a:r>
            <a:endParaRPr lang="en-US" sz="1150" dirty="0"/>
          </a:p>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Login password field</a:t>
            </a:r>
            <a:endParaRPr lang="en-US" sz="1150" dirty="0"/>
          </a:p>
        </p:txBody>
      </p:sp>
      <p:sp>
        <p:nvSpPr>
          <p:cNvPr id="9" name="Shape 7"/>
          <p:cNvSpPr/>
          <p:nvPr/>
        </p:nvSpPr>
        <p:spPr>
          <a:xfrm>
            <a:off x="6181344" y="1645920"/>
            <a:ext cx="5431536" cy="2057400"/>
          </a:xfrm>
          <a:prstGeom prst="roundRect">
            <a:avLst>
              <a:gd name="adj" fmla="val 3111"/>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0" name="Shape 8"/>
          <p:cNvSpPr/>
          <p:nvPr/>
        </p:nvSpPr>
        <p:spPr>
          <a:xfrm>
            <a:off x="6181344" y="1645920"/>
            <a:ext cx="109728" cy="2057400"/>
          </a:xfrm>
          <a:prstGeom prst="rect">
            <a:avLst/>
          </a:prstGeom>
          <a:solidFill>
            <a:srgbClr val="2F5496"/>
          </a:solidFill>
          <a:ln/>
        </p:spPr>
      </p:sp>
      <p:sp>
        <p:nvSpPr>
          <p:cNvPr id="11" name="Text 9"/>
          <p:cNvSpPr/>
          <p:nvPr/>
        </p:nvSpPr>
        <p:spPr>
          <a:xfrm>
            <a:off x="6510528" y="1847088"/>
            <a:ext cx="4882896" cy="411480"/>
          </a:xfrm>
          <a:prstGeom prst="rect">
            <a:avLst/>
          </a:prstGeom>
          <a:noFill/>
          <a:ln/>
        </p:spPr>
        <p:txBody>
          <a:bodyPr wrap="square" lIns="0" tIns="0" rIns="0" bIns="0" rtlCol="0" anchor="ctr"/>
          <a:lstStyle/>
          <a:p>
            <a:pPr indent="0" marL="0">
              <a:buNone/>
            </a:pPr>
            <a:r>
              <a:rPr lang="en-US" sz="1600" b="1" dirty="0">
                <a:solidFill>
                  <a:srgbClr val="1F3864"/>
                </a:solidFill>
                <a:latin typeface="Trebuchet MS" pitchFamily="34" charset="0"/>
                <a:ea typeface="Trebuchet MS" pitchFamily="34" charset="-122"/>
                <a:cs typeface="Trebuchet MS" pitchFamily="34" charset="-120"/>
              </a:rPr>
              <a:t>Injection defence</a:t>
            </a:r>
            <a:endParaRPr lang="en-US" sz="1600" dirty="0"/>
          </a:p>
        </p:txBody>
      </p:sp>
      <p:sp>
        <p:nvSpPr>
          <p:cNvPr id="12" name="Text 10"/>
          <p:cNvSpPr/>
          <p:nvPr/>
        </p:nvSpPr>
        <p:spPr>
          <a:xfrm>
            <a:off x="6565392" y="2322576"/>
            <a:ext cx="4745736" cy="1280160"/>
          </a:xfrm>
          <a:prstGeom prst="rect">
            <a:avLst/>
          </a:prstGeom>
          <a:noFill/>
          <a:ln/>
        </p:spPr>
        <p:txBody>
          <a:bodyPr wrap="square" lIns="0" tIns="0" rIns="0" bIns="0" rtlCol="0" anchor="ctr"/>
          <a:lstStyle/>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SQL injection in the login form</a:t>
            </a:r>
            <a:endParaRPr lang="en-US" sz="1150" dirty="0"/>
          </a:p>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HTML / script injection on sign-up</a:t>
            </a:r>
            <a:endParaRPr lang="en-US" sz="1150" dirty="0"/>
          </a:p>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Attack is blocked - no breach</a:t>
            </a:r>
            <a:endParaRPr lang="en-US" sz="1150" dirty="0"/>
          </a:p>
        </p:txBody>
      </p:sp>
      <p:sp>
        <p:nvSpPr>
          <p:cNvPr id="13" name="Shape 11"/>
          <p:cNvSpPr/>
          <p:nvPr/>
        </p:nvSpPr>
        <p:spPr>
          <a:xfrm>
            <a:off x="548640" y="3886200"/>
            <a:ext cx="5431536" cy="2057400"/>
          </a:xfrm>
          <a:prstGeom prst="roundRect">
            <a:avLst>
              <a:gd name="adj" fmla="val 3111"/>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4" name="Shape 12"/>
          <p:cNvSpPr/>
          <p:nvPr/>
        </p:nvSpPr>
        <p:spPr>
          <a:xfrm>
            <a:off x="548640" y="3886200"/>
            <a:ext cx="109728" cy="2057400"/>
          </a:xfrm>
          <a:prstGeom prst="rect">
            <a:avLst/>
          </a:prstGeom>
          <a:solidFill>
            <a:srgbClr val="1F3864"/>
          </a:solidFill>
          <a:ln/>
        </p:spPr>
      </p:sp>
      <p:sp>
        <p:nvSpPr>
          <p:cNvPr id="15" name="Text 13"/>
          <p:cNvSpPr/>
          <p:nvPr/>
        </p:nvSpPr>
        <p:spPr>
          <a:xfrm>
            <a:off x="877824" y="4087368"/>
            <a:ext cx="4882896" cy="411480"/>
          </a:xfrm>
          <a:prstGeom prst="rect">
            <a:avLst/>
          </a:prstGeom>
          <a:noFill/>
          <a:ln/>
        </p:spPr>
        <p:txBody>
          <a:bodyPr wrap="square" lIns="0" tIns="0" rIns="0" bIns="0" rtlCol="0" anchor="ctr"/>
          <a:lstStyle/>
          <a:p>
            <a:pPr indent="0" marL="0">
              <a:buNone/>
            </a:pPr>
            <a:r>
              <a:rPr lang="en-US" sz="1600" b="1" dirty="0">
                <a:solidFill>
                  <a:srgbClr val="1F3864"/>
                </a:solidFill>
                <a:latin typeface="Trebuchet MS" pitchFamily="34" charset="0"/>
                <a:ea typeface="Trebuchet MS" pitchFamily="34" charset="-122"/>
                <a:cs typeface="Trebuchet MS" pitchFamily="34" charset="-120"/>
              </a:rPr>
              <a:t>Transport &amp; session</a:t>
            </a:r>
            <a:endParaRPr lang="en-US" sz="1600" dirty="0"/>
          </a:p>
        </p:txBody>
      </p:sp>
      <p:sp>
        <p:nvSpPr>
          <p:cNvPr id="16" name="Text 14"/>
          <p:cNvSpPr/>
          <p:nvPr/>
        </p:nvSpPr>
        <p:spPr>
          <a:xfrm>
            <a:off x="932688" y="4562856"/>
            <a:ext cx="4745736" cy="1280160"/>
          </a:xfrm>
          <a:prstGeom prst="rect">
            <a:avLst/>
          </a:prstGeom>
          <a:noFill/>
          <a:ln/>
        </p:spPr>
        <p:txBody>
          <a:bodyPr wrap="square" lIns="0" tIns="0" rIns="0" bIns="0" rtlCol="0" anchor="ctr"/>
          <a:lstStyle/>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Served over HTTPS</a:t>
            </a:r>
            <a:endParaRPr lang="en-US" sz="1150" dirty="0"/>
          </a:p>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JSESSIONID cookie is HttpOnly</a:t>
            </a:r>
            <a:endParaRPr lang="en-US" sz="1150" dirty="0"/>
          </a:p>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Session protected from scripts</a:t>
            </a:r>
            <a:endParaRPr lang="en-US" sz="1150" dirty="0"/>
          </a:p>
        </p:txBody>
      </p:sp>
      <p:sp>
        <p:nvSpPr>
          <p:cNvPr id="17" name="Shape 15"/>
          <p:cNvSpPr/>
          <p:nvPr/>
        </p:nvSpPr>
        <p:spPr>
          <a:xfrm>
            <a:off x="6181344" y="3886200"/>
            <a:ext cx="5431536" cy="2057400"/>
          </a:xfrm>
          <a:prstGeom prst="roundRect">
            <a:avLst>
              <a:gd name="adj" fmla="val 3111"/>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8" name="Shape 16"/>
          <p:cNvSpPr/>
          <p:nvPr/>
        </p:nvSpPr>
        <p:spPr>
          <a:xfrm>
            <a:off x="6181344" y="3886200"/>
            <a:ext cx="109728" cy="2057400"/>
          </a:xfrm>
          <a:prstGeom prst="rect">
            <a:avLst/>
          </a:prstGeom>
          <a:solidFill>
            <a:srgbClr val="E8A33D"/>
          </a:solidFill>
          <a:ln/>
        </p:spPr>
      </p:sp>
      <p:sp>
        <p:nvSpPr>
          <p:cNvPr id="19" name="Text 17"/>
          <p:cNvSpPr/>
          <p:nvPr/>
        </p:nvSpPr>
        <p:spPr>
          <a:xfrm>
            <a:off x="6510528" y="4087368"/>
            <a:ext cx="4882896" cy="411480"/>
          </a:xfrm>
          <a:prstGeom prst="rect">
            <a:avLst/>
          </a:prstGeom>
          <a:noFill/>
          <a:ln/>
        </p:spPr>
        <p:txBody>
          <a:bodyPr wrap="square" lIns="0" tIns="0" rIns="0" bIns="0" rtlCol="0" anchor="ctr"/>
          <a:lstStyle/>
          <a:p>
            <a:pPr indent="0" marL="0">
              <a:buNone/>
            </a:pPr>
            <a:r>
              <a:rPr lang="en-US" sz="1600" b="1" dirty="0">
                <a:solidFill>
                  <a:srgbClr val="1F3864"/>
                </a:solidFill>
                <a:latin typeface="Trebuchet MS" pitchFamily="34" charset="0"/>
                <a:ea typeface="Trebuchet MS" pitchFamily="34" charset="-122"/>
                <a:cs typeface="Trebuchet MS" pitchFamily="34" charset="-120"/>
              </a:rPr>
              <a:t>Auth hardening</a:t>
            </a:r>
            <a:endParaRPr lang="en-US" sz="1600" dirty="0"/>
          </a:p>
        </p:txBody>
      </p:sp>
      <p:sp>
        <p:nvSpPr>
          <p:cNvPr id="20" name="Text 18"/>
          <p:cNvSpPr/>
          <p:nvPr/>
        </p:nvSpPr>
        <p:spPr>
          <a:xfrm>
            <a:off x="6565392" y="4562856"/>
            <a:ext cx="4745736" cy="1280160"/>
          </a:xfrm>
          <a:prstGeom prst="rect">
            <a:avLst/>
          </a:prstGeom>
          <a:noFill/>
          <a:ln/>
        </p:spPr>
        <p:txBody>
          <a:bodyPr wrap="square" lIns="0" tIns="0" rIns="0" bIns="0" rtlCol="0" anchor="ctr"/>
          <a:lstStyle/>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Login errors hide if a user exists</a:t>
            </a:r>
            <a:endParaRPr lang="en-US" sz="1150" dirty="0"/>
          </a:p>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No user enumeration</a:t>
            </a:r>
            <a:endParaRPr lang="en-US" sz="1150" dirty="0"/>
          </a:p>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Repeated failed logins rejected</a:t>
            </a:r>
            <a:endParaRPr lang="en-US" sz="1150" dirty="0"/>
          </a:p>
        </p:txBody>
      </p:sp>
      <p:sp>
        <p:nvSpPr>
          <p:cNvPr id="21" name="Text 19"/>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22" name="Text 20"/>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10  /  17</a:t>
            </a:r>
            <a:endParaRPr lang="en-US" sz="900" dirty="0"/>
          </a:p>
        </p:txBody>
      </p:sp>
    </p:spTree>
  </p:cSld>
  <p:clrMapOvr>
    <a:masterClrMapping/>
  </p:clrMapOvr>
  <p:transition advTm="45000">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DEEP TESTING  -  3 OF 3</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Access control &amp; performance</a:t>
            </a:r>
            <a:endParaRPr lang="en-US" sz="2700" dirty="0"/>
          </a:p>
        </p:txBody>
      </p:sp>
      <p:sp>
        <p:nvSpPr>
          <p:cNvPr id="5" name="Shape 3"/>
          <p:cNvSpPr/>
          <p:nvPr/>
        </p:nvSpPr>
        <p:spPr>
          <a:xfrm>
            <a:off x="548640" y="1691640"/>
            <a:ext cx="5486400" cy="3657600"/>
          </a:xfrm>
          <a:prstGeom prst="roundRect">
            <a:avLst>
              <a:gd name="adj" fmla="val 175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548640" y="1691640"/>
            <a:ext cx="5486400" cy="457200"/>
          </a:xfrm>
          <a:prstGeom prst="rect">
            <a:avLst/>
          </a:prstGeom>
          <a:solidFill>
            <a:srgbClr val="E8A33D"/>
          </a:solidFill>
          <a:ln/>
        </p:spPr>
      </p:sp>
      <p:sp>
        <p:nvSpPr>
          <p:cNvPr id="7" name="Text 5"/>
          <p:cNvSpPr/>
          <p:nvPr/>
        </p:nvSpPr>
        <p:spPr>
          <a:xfrm>
            <a:off x="777240" y="1691640"/>
            <a:ext cx="5029200" cy="45720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ACCESS CONTROL  -  5 checks</a:t>
            </a:r>
            <a:endParaRPr lang="en-US" sz="1300" dirty="0"/>
          </a:p>
        </p:txBody>
      </p:sp>
      <p:sp>
        <p:nvSpPr>
          <p:cNvPr id="8" name="Text 6"/>
          <p:cNvSpPr/>
          <p:nvPr/>
        </p:nvSpPr>
        <p:spPr>
          <a:xfrm>
            <a:off x="896112" y="2377440"/>
            <a:ext cx="4937760" cy="2743200"/>
          </a:xfrm>
          <a:prstGeom prst="rect">
            <a:avLst/>
          </a:prstGeom>
          <a:noFill/>
          <a:ln/>
        </p:spPr>
        <p:txBody>
          <a:bodyPr wrap="square" lIns="0" tIns="0" rIns="0" bIns="0" rtlCol="0" anchor="t"/>
          <a:lstStyle/>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Accounts Overview blocked when logged out</a:t>
            </a:r>
            <a:endParaRPr lang="en-US" sz="1250" dirty="0"/>
          </a:p>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Transfer Funds blocked when logged out</a:t>
            </a:r>
            <a:endParaRPr lang="en-US" sz="1250" dirty="0"/>
          </a:p>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Update Contact Info blocked when logged out</a:t>
            </a:r>
            <a:endParaRPr lang="en-US" sz="1250" dirty="0"/>
          </a:p>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Protected pages blocked after logging out</a:t>
            </a:r>
            <a:endParaRPr lang="en-US" sz="1250" dirty="0"/>
          </a:p>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Authenticated session persists across navigation</a:t>
            </a:r>
            <a:endParaRPr lang="en-US" sz="1250" dirty="0"/>
          </a:p>
        </p:txBody>
      </p:sp>
      <p:sp>
        <p:nvSpPr>
          <p:cNvPr id="9" name="Shape 7"/>
          <p:cNvSpPr/>
          <p:nvPr/>
        </p:nvSpPr>
        <p:spPr>
          <a:xfrm>
            <a:off x="6153912" y="1691640"/>
            <a:ext cx="5486400" cy="3657600"/>
          </a:xfrm>
          <a:prstGeom prst="roundRect">
            <a:avLst>
              <a:gd name="adj" fmla="val 175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0" name="Shape 8"/>
          <p:cNvSpPr/>
          <p:nvPr/>
        </p:nvSpPr>
        <p:spPr>
          <a:xfrm>
            <a:off x="6153912" y="1691640"/>
            <a:ext cx="5486400" cy="457200"/>
          </a:xfrm>
          <a:prstGeom prst="rect">
            <a:avLst/>
          </a:prstGeom>
          <a:solidFill>
            <a:srgbClr val="7A4FA3"/>
          </a:solidFill>
          <a:ln/>
        </p:spPr>
      </p:sp>
      <p:sp>
        <p:nvSpPr>
          <p:cNvPr id="11" name="Text 9"/>
          <p:cNvSpPr/>
          <p:nvPr/>
        </p:nvSpPr>
        <p:spPr>
          <a:xfrm>
            <a:off x="6382512" y="1691640"/>
            <a:ext cx="5029200" cy="45720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PERFORMANCE  -  5 checks</a:t>
            </a:r>
            <a:endParaRPr lang="en-US" sz="1300" dirty="0"/>
          </a:p>
        </p:txBody>
      </p:sp>
      <p:sp>
        <p:nvSpPr>
          <p:cNvPr id="12" name="Text 10"/>
          <p:cNvSpPr/>
          <p:nvPr/>
        </p:nvSpPr>
        <p:spPr>
          <a:xfrm>
            <a:off x="6501384" y="2377440"/>
            <a:ext cx="4937760" cy="2743200"/>
          </a:xfrm>
          <a:prstGeom prst="rect">
            <a:avLst/>
          </a:prstGeom>
          <a:noFill/>
          <a:ln/>
        </p:spPr>
        <p:txBody>
          <a:bodyPr wrap="square" lIns="0" tIns="0" rIns="0" bIns="0" rtlCol="0" anchor="t"/>
          <a:lstStyle/>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Home page load time</a:t>
            </a:r>
            <a:endParaRPr lang="en-US" sz="1250" dirty="0"/>
          </a:p>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Registration page load time</a:t>
            </a:r>
            <a:endParaRPr lang="en-US" sz="1250" dirty="0"/>
          </a:p>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Account registration response time</a:t>
            </a:r>
            <a:endParaRPr lang="en-US" sz="1250" dirty="0"/>
          </a:p>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Login response time</a:t>
            </a:r>
            <a:endParaRPr lang="en-US" sz="1250" dirty="0"/>
          </a:p>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Accounts Overview load time</a:t>
            </a:r>
            <a:endParaRPr lang="en-US" sz="1250" dirty="0"/>
          </a:p>
        </p:txBody>
      </p:sp>
      <p:sp>
        <p:nvSpPr>
          <p:cNvPr id="13" name="Shape 11"/>
          <p:cNvSpPr/>
          <p:nvPr/>
        </p:nvSpPr>
        <p:spPr>
          <a:xfrm>
            <a:off x="548640" y="5486400"/>
            <a:ext cx="11091672" cy="548640"/>
          </a:xfrm>
          <a:prstGeom prst="roundRect">
            <a:avLst>
              <a:gd name="adj" fmla="val 11667"/>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4" name="Text 12"/>
          <p:cNvSpPr/>
          <p:nvPr/>
        </p:nvSpPr>
        <p:spPr>
          <a:xfrm>
            <a:off x="868680" y="5486400"/>
            <a:ext cx="10515600" cy="548640"/>
          </a:xfrm>
          <a:prstGeom prst="rect">
            <a:avLst/>
          </a:prstGeom>
          <a:noFill/>
          <a:ln/>
        </p:spPr>
        <p:txBody>
          <a:bodyPr wrap="square" lIns="0" tIns="0" rIns="0" bIns="0" rtlCol="0" anchor="ctr"/>
          <a:lstStyle/>
          <a:p>
            <a:pPr indent="0" marL="0">
              <a:buNone/>
            </a:pPr>
            <a:r>
              <a:rPr lang="en-US" sz="1200" b="1" dirty="0">
                <a:solidFill>
                  <a:srgbClr val="17A398"/>
                </a:solidFill>
                <a:latin typeface="Calibri" pitchFamily="34" charset="0"/>
                <a:ea typeface="Calibri" pitchFamily="34" charset="-122"/>
                <a:cs typeface="Calibri" pitchFamily="34" charset="-120"/>
              </a:rPr>
              <a:t xml:space="preserve">Soft budgets  </a:t>
            </a:r>
            <a:pPr indent="0" marL="0">
              <a:buNone/>
            </a:pPr>
            <a:r>
              <a:rPr lang="en-US" sz="1200" dirty="0">
                <a:solidFill>
                  <a:srgbClr val="C7D2E8"/>
                </a:solidFill>
                <a:latin typeface="Calibri" pitchFamily="34" charset="0"/>
                <a:ea typeface="Calibri" pitchFamily="34" charset="-122"/>
                <a:cs typeface="Calibri" pitchFamily="34" charset="-120"/>
              </a:rPr>
              <a:t>-  timings are measured and logged against generous thresholds suited to the JPA backend.</a:t>
            </a:r>
            <a:endParaRPr lang="en-US" sz="1200" dirty="0"/>
          </a:p>
        </p:txBody>
      </p:sp>
      <p:sp>
        <p:nvSpPr>
          <p:cNvPr id="15" name="Text 13"/>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16" name="Text 14"/>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11  /  17</a:t>
            </a:r>
            <a:endParaRPr lang="en-US" sz="900" dirty="0"/>
          </a:p>
        </p:txBody>
      </p:sp>
    </p:spTree>
  </p:cSld>
  <p:clrMapOvr>
    <a:masterClrMapping/>
  </p:clrMapOvr>
  <p:transition advTm="42000">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7A398"/>
          </a:solidFill>
          <a:ln/>
        </p:spPr>
      </p:sp>
      <p:sp>
        <p:nvSpPr>
          <p:cNvPr id="3" name="Text 1"/>
          <p:cNvSpPr/>
          <p:nvPr/>
        </p:nvSpPr>
        <p:spPr>
          <a:xfrm>
            <a:off x="868680" y="731520"/>
            <a:ext cx="5486400" cy="411480"/>
          </a:xfrm>
          <a:prstGeom prst="rect">
            <a:avLst/>
          </a:prstGeom>
          <a:noFill/>
          <a:ln/>
        </p:spPr>
        <p:txBody>
          <a:bodyPr wrap="square" rtlCol="0" anchor="ctr"/>
          <a:lstStyle/>
          <a:p>
            <a:pPr indent="0" marL="0">
              <a:buNone/>
            </a:pPr>
            <a:r>
              <a:rPr lang="en-US" sz="1400" b="1" spc="400" kern="0" dirty="0">
                <a:solidFill>
                  <a:srgbClr val="17A398"/>
                </a:solidFill>
                <a:latin typeface="Trebuchet MS" pitchFamily="34" charset="0"/>
                <a:ea typeface="Trebuchet MS" pitchFamily="34" charset="-122"/>
                <a:cs typeface="Trebuchet MS" pitchFamily="34" charset="-120"/>
              </a:rPr>
              <a:t>LIVE DEMO</a:t>
            </a:r>
            <a:endParaRPr lang="en-US" sz="1400" dirty="0"/>
          </a:p>
        </p:txBody>
      </p:sp>
      <p:sp>
        <p:nvSpPr>
          <p:cNvPr id="4" name="Text 2"/>
          <p:cNvSpPr/>
          <p:nvPr/>
        </p:nvSpPr>
        <p:spPr>
          <a:xfrm>
            <a:off x="841248" y="1097280"/>
            <a:ext cx="10058400" cy="822960"/>
          </a:xfrm>
          <a:prstGeom prst="rect">
            <a:avLst/>
          </a:prstGeom>
          <a:noFill/>
          <a:ln/>
        </p:spPr>
        <p:txBody>
          <a:bodyPr wrap="square" rtlCol="0" anchor="ctr"/>
          <a:lstStyle/>
          <a:p>
            <a:pPr indent="0" marL="0">
              <a:buNone/>
            </a:pPr>
            <a:r>
              <a:rPr lang="en-US" sz="3600" b="1" dirty="0">
                <a:solidFill>
                  <a:srgbClr val="FFFFFF"/>
                </a:solidFill>
                <a:latin typeface="Trebuchet MS" pitchFamily="34" charset="0"/>
                <a:ea typeface="Trebuchet MS" pitchFamily="34" charset="-122"/>
                <a:cs typeface="Trebuchet MS" pitchFamily="34" charset="-120"/>
              </a:rPr>
              <a:t>Seeing the suite run</a:t>
            </a:r>
            <a:endParaRPr lang="en-US" sz="3600" dirty="0"/>
          </a:p>
        </p:txBody>
      </p:sp>
      <p:sp>
        <p:nvSpPr>
          <p:cNvPr id="5" name="Shape 3"/>
          <p:cNvSpPr/>
          <p:nvPr/>
        </p:nvSpPr>
        <p:spPr>
          <a:xfrm>
            <a:off x="1005840" y="2148840"/>
            <a:ext cx="603504" cy="603504"/>
          </a:xfrm>
          <a:prstGeom prst="roundRect">
            <a:avLst>
              <a:gd name="adj" fmla="val 7576"/>
            </a:avLst>
          </a:prstGeom>
          <a:solidFill>
            <a:srgbClr val="17A398"/>
          </a:solidFill>
          <a:ln/>
        </p:spPr>
      </p:sp>
      <p:sp>
        <p:nvSpPr>
          <p:cNvPr id="6" name="Text 4"/>
          <p:cNvSpPr/>
          <p:nvPr/>
        </p:nvSpPr>
        <p:spPr>
          <a:xfrm>
            <a:off x="1005840" y="2148840"/>
            <a:ext cx="603504" cy="603504"/>
          </a:xfrm>
          <a:prstGeom prst="rect">
            <a:avLst/>
          </a:prstGeom>
          <a:noFill/>
          <a:ln/>
        </p:spPr>
        <p:txBody>
          <a:bodyPr wrap="square" lIns="0" tIns="0" rIns="0" bIns="0" rtlCol="0" anchor="ctr"/>
          <a:lstStyle/>
          <a:p>
            <a:pPr algn="ctr" indent="0" marL="0">
              <a:buNone/>
            </a:pPr>
            <a:r>
              <a:rPr lang="en-US" sz="2400" b="1" dirty="0">
                <a:solidFill>
                  <a:srgbClr val="1F3864"/>
                </a:solidFill>
                <a:latin typeface="Trebuchet MS" pitchFamily="34" charset="0"/>
                <a:ea typeface="Trebuchet MS" pitchFamily="34" charset="-122"/>
                <a:cs typeface="Trebuchet MS" pitchFamily="34" charset="-120"/>
              </a:rPr>
              <a:t>1</a:t>
            </a:r>
            <a:endParaRPr lang="en-US" sz="2400" dirty="0"/>
          </a:p>
        </p:txBody>
      </p:sp>
      <p:sp>
        <p:nvSpPr>
          <p:cNvPr id="7" name="Text 5"/>
          <p:cNvSpPr/>
          <p:nvPr/>
        </p:nvSpPr>
        <p:spPr>
          <a:xfrm>
            <a:off x="1828800" y="2112264"/>
            <a:ext cx="950976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Run the suite</a:t>
            </a:r>
            <a:endParaRPr lang="en-US" sz="1700" dirty="0"/>
          </a:p>
        </p:txBody>
      </p:sp>
      <p:sp>
        <p:nvSpPr>
          <p:cNvPr id="8" name="Text 6"/>
          <p:cNvSpPr/>
          <p:nvPr/>
        </p:nvSpPr>
        <p:spPr>
          <a:xfrm>
            <a:off x="1828800" y="2459736"/>
            <a:ext cx="9692640" cy="457200"/>
          </a:xfrm>
          <a:prstGeom prst="rect">
            <a:avLst/>
          </a:prstGeom>
          <a:noFill/>
          <a:ln/>
        </p:spPr>
        <p:txBody>
          <a:bodyPr wrap="square" lIns="0" tIns="0" rIns="0" bIns="0" rtlCol="0" anchor="ctr"/>
          <a:lstStyle/>
          <a:p>
            <a:pPr indent="0" marL="0">
              <a:buNone/>
            </a:pPr>
            <a:r>
              <a:rPr lang="en-US" sz="1250" dirty="0">
                <a:solidFill>
                  <a:srgbClr val="9FB0CE"/>
                </a:solidFill>
                <a:latin typeface="Calibri" pitchFamily="34" charset="0"/>
                <a:ea typeface="Calibri" pitchFamily="34" charset="-122"/>
                <a:cs typeface="Calibri" pitchFamily="34" charset="-120"/>
              </a:rPr>
              <a:t>npm test  -  bddgen compiles the features, then all 33 scenarios run in Chromium</a:t>
            </a:r>
            <a:endParaRPr lang="en-US" sz="1250" dirty="0"/>
          </a:p>
        </p:txBody>
      </p:sp>
      <p:sp>
        <p:nvSpPr>
          <p:cNvPr id="9" name="Shape 7"/>
          <p:cNvSpPr/>
          <p:nvPr/>
        </p:nvSpPr>
        <p:spPr>
          <a:xfrm>
            <a:off x="1005840" y="3108960"/>
            <a:ext cx="603504" cy="603504"/>
          </a:xfrm>
          <a:prstGeom prst="roundRect">
            <a:avLst>
              <a:gd name="adj" fmla="val 7576"/>
            </a:avLst>
          </a:prstGeom>
          <a:solidFill>
            <a:srgbClr val="17A398"/>
          </a:solidFill>
          <a:ln/>
        </p:spPr>
      </p:sp>
      <p:sp>
        <p:nvSpPr>
          <p:cNvPr id="10" name="Text 8"/>
          <p:cNvSpPr/>
          <p:nvPr/>
        </p:nvSpPr>
        <p:spPr>
          <a:xfrm>
            <a:off x="1005840" y="3108960"/>
            <a:ext cx="603504" cy="603504"/>
          </a:xfrm>
          <a:prstGeom prst="rect">
            <a:avLst/>
          </a:prstGeom>
          <a:noFill/>
          <a:ln/>
        </p:spPr>
        <p:txBody>
          <a:bodyPr wrap="square" lIns="0" tIns="0" rIns="0" bIns="0" rtlCol="0" anchor="ctr"/>
          <a:lstStyle/>
          <a:p>
            <a:pPr algn="ctr" indent="0" marL="0">
              <a:buNone/>
            </a:pPr>
            <a:r>
              <a:rPr lang="en-US" sz="2400" b="1" dirty="0">
                <a:solidFill>
                  <a:srgbClr val="1F3864"/>
                </a:solidFill>
                <a:latin typeface="Trebuchet MS" pitchFamily="34" charset="0"/>
                <a:ea typeface="Trebuchet MS" pitchFamily="34" charset="-122"/>
                <a:cs typeface="Trebuchet MS" pitchFamily="34" charset="-120"/>
              </a:rPr>
              <a:t>2</a:t>
            </a:r>
            <a:endParaRPr lang="en-US" sz="2400" dirty="0"/>
          </a:p>
        </p:txBody>
      </p:sp>
      <p:sp>
        <p:nvSpPr>
          <p:cNvPr id="11" name="Text 9"/>
          <p:cNvSpPr/>
          <p:nvPr/>
        </p:nvSpPr>
        <p:spPr>
          <a:xfrm>
            <a:off x="1828800" y="3072384"/>
            <a:ext cx="950976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Watch a scenario</a:t>
            </a:r>
            <a:endParaRPr lang="en-US" sz="1700" dirty="0"/>
          </a:p>
        </p:txBody>
      </p:sp>
      <p:sp>
        <p:nvSpPr>
          <p:cNvPr id="12" name="Text 10"/>
          <p:cNvSpPr/>
          <p:nvPr/>
        </p:nvSpPr>
        <p:spPr>
          <a:xfrm>
            <a:off x="1828800" y="3419856"/>
            <a:ext cx="9692640" cy="457200"/>
          </a:xfrm>
          <a:prstGeom prst="rect">
            <a:avLst/>
          </a:prstGeom>
          <a:noFill/>
          <a:ln/>
        </p:spPr>
        <p:txBody>
          <a:bodyPr wrap="square" lIns="0" tIns="0" rIns="0" bIns="0" rtlCol="0" anchor="ctr"/>
          <a:lstStyle/>
          <a:p>
            <a:pPr indent="0" marL="0">
              <a:buNone/>
            </a:pPr>
            <a:r>
              <a:rPr lang="en-US" sz="1250" dirty="0">
                <a:solidFill>
                  <a:srgbClr val="9FB0CE"/>
                </a:solidFill>
                <a:latin typeface="Calibri" pitchFamily="34" charset="0"/>
                <a:ea typeface="Calibri" pitchFamily="34" charset="-122"/>
                <a:cs typeface="Calibri" pitchFamily="34" charset="-120"/>
              </a:rPr>
              <a:t>A registration test - the browser fills the form, submits and reads the result</a:t>
            </a:r>
            <a:endParaRPr lang="en-US" sz="1250" dirty="0"/>
          </a:p>
        </p:txBody>
      </p:sp>
      <p:sp>
        <p:nvSpPr>
          <p:cNvPr id="13" name="Shape 11"/>
          <p:cNvSpPr/>
          <p:nvPr/>
        </p:nvSpPr>
        <p:spPr>
          <a:xfrm>
            <a:off x="1005840" y="4069080"/>
            <a:ext cx="603504" cy="603504"/>
          </a:xfrm>
          <a:prstGeom prst="roundRect">
            <a:avLst>
              <a:gd name="adj" fmla="val 7576"/>
            </a:avLst>
          </a:prstGeom>
          <a:solidFill>
            <a:srgbClr val="17A398"/>
          </a:solidFill>
          <a:ln/>
        </p:spPr>
      </p:sp>
      <p:sp>
        <p:nvSpPr>
          <p:cNvPr id="14" name="Text 12"/>
          <p:cNvSpPr/>
          <p:nvPr/>
        </p:nvSpPr>
        <p:spPr>
          <a:xfrm>
            <a:off x="1005840" y="4069080"/>
            <a:ext cx="603504" cy="603504"/>
          </a:xfrm>
          <a:prstGeom prst="rect">
            <a:avLst/>
          </a:prstGeom>
          <a:noFill/>
          <a:ln/>
        </p:spPr>
        <p:txBody>
          <a:bodyPr wrap="square" lIns="0" tIns="0" rIns="0" bIns="0" rtlCol="0" anchor="ctr"/>
          <a:lstStyle/>
          <a:p>
            <a:pPr algn="ctr" indent="0" marL="0">
              <a:buNone/>
            </a:pPr>
            <a:r>
              <a:rPr lang="en-US" sz="2400" b="1" dirty="0">
                <a:solidFill>
                  <a:srgbClr val="1F3864"/>
                </a:solidFill>
                <a:latin typeface="Trebuchet MS" pitchFamily="34" charset="0"/>
                <a:ea typeface="Trebuchet MS" pitchFamily="34" charset="-122"/>
                <a:cs typeface="Trebuchet MS" pitchFamily="34" charset="-120"/>
              </a:rPr>
              <a:t>3</a:t>
            </a:r>
            <a:endParaRPr lang="en-US" sz="2400" dirty="0"/>
          </a:p>
        </p:txBody>
      </p:sp>
      <p:sp>
        <p:nvSpPr>
          <p:cNvPr id="15" name="Text 13"/>
          <p:cNvSpPr/>
          <p:nvPr/>
        </p:nvSpPr>
        <p:spPr>
          <a:xfrm>
            <a:off x="1828800" y="4032504"/>
            <a:ext cx="950976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Open the report</a:t>
            </a:r>
            <a:endParaRPr lang="en-US" sz="1700" dirty="0"/>
          </a:p>
        </p:txBody>
      </p:sp>
      <p:sp>
        <p:nvSpPr>
          <p:cNvPr id="16" name="Text 14"/>
          <p:cNvSpPr/>
          <p:nvPr/>
        </p:nvSpPr>
        <p:spPr>
          <a:xfrm>
            <a:off x="1828800" y="4379976"/>
            <a:ext cx="9692640" cy="457200"/>
          </a:xfrm>
          <a:prstGeom prst="rect">
            <a:avLst/>
          </a:prstGeom>
          <a:noFill/>
          <a:ln/>
        </p:spPr>
        <p:txBody>
          <a:bodyPr wrap="square" lIns="0" tIns="0" rIns="0" bIns="0" rtlCol="0" anchor="ctr"/>
          <a:lstStyle/>
          <a:p>
            <a:pPr indent="0" marL="0">
              <a:buNone/>
            </a:pPr>
            <a:r>
              <a:rPr lang="en-US" sz="1250" dirty="0">
                <a:solidFill>
                  <a:srgbClr val="9FB0CE"/>
                </a:solidFill>
                <a:latin typeface="Calibri" pitchFamily="34" charset="0"/>
                <a:ea typeface="Calibri" pitchFamily="34" charset="-122"/>
                <a:cs typeface="Calibri" pitchFamily="34" charset="-120"/>
              </a:rPr>
              <a:t>The Monocart HTML report - video, screenshots and trace for every test</a:t>
            </a:r>
            <a:endParaRPr lang="en-US" sz="1250" dirty="0"/>
          </a:p>
        </p:txBody>
      </p:sp>
      <p:sp>
        <p:nvSpPr>
          <p:cNvPr id="17" name="Shape 15"/>
          <p:cNvSpPr/>
          <p:nvPr/>
        </p:nvSpPr>
        <p:spPr>
          <a:xfrm>
            <a:off x="1005840" y="5029200"/>
            <a:ext cx="603504" cy="603504"/>
          </a:xfrm>
          <a:prstGeom prst="roundRect">
            <a:avLst>
              <a:gd name="adj" fmla="val 7576"/>
            </a:avLst>
          </a:prstGeom>
          <a:solidFill>
            <a:srgbClr val="17A398"/>
          </a:solidFill>
          <a:ln/>
        </p:spPr>
      </p:sp>
      <p:sp>
        <p:nvSpPr>
          <p:cNvPr id="18" name="Text 16"/>
          <p:cNvSpPr/>
          <p:nvPr/>
        </p:nvSpPr>
        <p:spPr>
          <a:xfrm>
            <a:off x="1005840" y="5029200"/>
            <a:ext cx="603504" cy="603504"/>
          </a:xfrm>
          <a:prstGeom prst="rect">
            <a:avLst/>
          </a:prstGeom>
          <a:noFill/>
          <a:ln/>
        </p:spPr>
        <p:txBody>
          <a:bodyPr wrap="square" lIns="0" tIns="0" rIns="0" bIns="0" rtlCol="0" anchor="ctr"/>
          <a:lstStyle/>
          <a:p>
            <a:pPr algn="ctr" indent="0" marL="0">
              <a:buNone/>
            </a:pPr>
            <a:r>
              <a:rPr lang="en-US" sz="2400" b="1" dirty="0">
                <a:solidFill>
                  <a:srgbClr val="1F3864"/>
                </a:solidFill>
                <a:latin typeface="Trebuchet MS" pitchFamily="34" charset="0"/>
                <a:ea typeface="Trebuchet MS" pitchFamily="34" charset="-122"/>
                <a:cs typeface="Trebuchet MS" pitchFamily="34" charset="-120"/>
              </a:rPr>
              <a:t>4</a:t>
            </a:r>
            <a:endParaRPr lang="en-US" sz="2400" dirty="0"/>
          </a:p>
        </p:txBody>
      </p:sp>
      <p:sp>
        <p:nvSpPr>
          <p:cNvPr id="19" name="Text 17"/>
          <p:cNvSpPr/>
          <p:nvPr/>
        </p:nvSpPr>
        <p:spPr>
          <a:xfrm>
            <a:off x="1828800" y="4992624"/>
            <a:ext cx="950976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Review the workbook</a:t>
            </a:r>
            <a:endParaRPr lang="en-US" sz="1700" dirty="0"/>
          </a:p>
        </p:txBody>
      </p:sp>
      <p:sp>
        <p:nvSpPr>
          <p:cNvPr id="20" name="Text 18"/>
          <p:cNvSpPr/>
          <p:nvPr/>
        </p:nvSpPr>
        <p:spPr>
          <a:xfrm>
            <a:off x="1828800" y="5340096"/>
            <a:ext cx="9692640" cy="457200"/>
          </a:xfrm>
          <a:prstGeom prst="rect">
            <a:avLst/>
          </a:prstGeom>
          <a:noFill/>
          <a:ln/>
        </p:spPr>
        <p:txBody>
          <a:bodyPr wrap="square" lIns="0" tIns="0" rIns="0" bIns="0" rtlCol="0" anchor="ctr"/>
          <a:lstStyle/>
          <a:p>
            <a:pPr indent="0" marL="0">
              <a:buNone/>
            </a:pPr>
            <a:r>
              <a:rPr lang="en-US" sz="1250" dirty="0">
                <a:solidFill>
                  <a:srgbClr val="9FB0CE"/>
                </a:solidFill>
                <a:latin typeface="Calibri" pitchFamily="34" charset="0"/>
                <a:ea typeface="Calibri" pitchFamily="34" charset="-122"/>
                <a:cs typeface="Calibri" pitchFamily="34" charset="-120"/>
              </a:rPr>
              <a:t>ParaBank_Test_Cases.xlsx - 33 documented cases mapped to the automation</a:t>
            </a:r>
            <a:endParaRPr lang="en-US" sz="1250" dirty="0"/>
          </a:p>
        </p:txBody>
      </p:sp>
      <p:sp>
        <p:nvSpPr>
          <p:cNvPr id="21" name="Text 19"/>
          <p:cNvSpPr/>
          <p:nvPr/>
        </p:nvSpPr>
        <p:spPr>
          <a:xfrm>
            <a:off x="1005840" y="6126480"/>
            <a:ext cx="10515600" cy="365760"/>
          </a:xfrm>
          <a:prstGeom prst="rect">
            <a:avLst/>
          </a:prstGeom>
          <a:noFill/>
          <a:ln/>
        </p:spPr>
        <p:txBody>
          <a:bodyPr wrap="square" rtlCol="0" anchor="ctr"/>
          <a:lstStyle/>
          <a:p>
            <a:pPr indent="0" marL="0">
              <a:buNone/>
            </a:pPr>
            <a:r>
              <a:rPr lang="en-US" sz="1100" i="1" dirty="0">
                <a:solidFill>
                  <a:srgbClr val="17A398"/>
                </a:solidFill>
                <a:latin typeface="Calibri" pitchFamily="34" charset="0"/>
                <a:ea typeface="Calibri" pitchFamily="34" charset="-122"/>
                <a:cs typeface="Calibri" pitchFamily="34" charset="-120"/>
              </a:rPr>
              <a:t>Tip: the recorded run completes in about 2.5 minutes - show it sped up or pre-recorded.</a:t>
            </a:r>
            <a:endParaRPr lang="en-US" sz="1100" dirty="0"/>
          </a:p>
        </p:txBody>
      </p:sp>
    </p:spTree>
  </p:cSld>
  <p:clrMapOvr>
    <a:masterClrMapping/>
  </p:clrMapOvr>
  <p:transition advTm="45000">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RESULTS</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A clean, fully green run</a:t>
            </a:r>
            <a:endParaRPr lang="en-US" sz="2700" dirty="0"/>
          </a:p>
        </p:txBody>
      </p:sp>
      <p:sp>
        <p:nvSpPr>
          <p:cNvPr id="5" name="Shape 3"/>
          <p:cNvSpPr/>
          <p:nvPr/>
        </p:nvSpPr>
        <p:spPr>
          <a:xfrm>
            <a:off x="548640" y="1783080"/>
            <a:ext cx="2578608" cy="2194560"/>
          </a:xfrm>
          <a:prstGeom prst="roundRect">
            <a:avLst>
              <a:gd name="adj" fmla="val 2917"/>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548640" y="1783080"/>
            <a:ext cx="2578608" cy="109728"/>
          </a:xfrm>
          <a:prstGeom prst="rect">
            <a:avLst/>
          </a:prstGeom>
          <a:solidFill>
            <a:srgbClr val="17A398"/>
          </a:solidFill>
          <a:ln/>
        </p:spPr>
      </p:sp>
      <p:sp>
        <p:nvSpPr>
          <p:cNvPr id="7" name="Text 5"/>
          <p:cNvSpPr/>
          <p:nvPr/>
        </p:nvSpPr>
        <p:spPr>
          <a:xfrm>
            <a:off x="548640" y="2148840"/>
            <a:ext cx="2578608" cy="914400"/>
          </a:xfrm>
          <a:prstGeom prst="rect">
            <a:avLst/>
          </a:prstGeom>
          <a:noFill/>
          <a:ln/>
        </p:spPr>
        <p:txBody>
          <a:bodyPr wrap="square" lIns="0" tIns="0" rIns="0" bIns="0" rtlCol="0" anchor="ctr"/>
          <a:lstStyle/>
          <a:p>
            <a:pPr algn="ctr" indent="0" marL="0">
              <a:buNone/>
            </a:pPr>
            <a:r>
              <a:rPr lang="en-US" sz="3800" b="1" dirty="0">
                <a:solidFill>
                  <a:srgbClr val="17A398"/>
                </a:solidFill>
                <a:latin typeface="Trebuchet MS" pitchFamily="34" charset="0"/>
                <a:ea typeface="Trebuchet MS" pitchFamily="34" charset="-122"/>
                <a:cs typeface="Trebuchet MS" pitchFamily="34" charset="-120"/>
              </a:rPr>
              <a:t>33 / 33</a:t>
            </a:r>
            <a:endParaRPr lang="en-US" sz="3800" dirty="0"/>
          </a:p>
        </p:txBody>
      </p:sp>
      <p:sp>
        <p:nvSpPr>
          <p:cNvPr id="8" name="Text 6"/>
          <p:cNvSpPr/>
          <p:nvPr/>
        </p:nvSpPr>
        <p:spPr>
          <a:xfrm>
            <a:off x="548640" y="3108960"/>
            <a:ext cx="2578608" cy="45720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Scenarios passed</a:t>
            </a:r>
            <a:endParaRPr lang="en-US" sz="1250" dirty="0"/>
          </a:p>
        </p:txBody>
      </p:sp>
      <p:sp>
        <p:nvSpPr>
          <p:cNvPr id="9" name="Shape 7"/>
          <p:cNvSpPr/>
          <p:nvPr/>
        </p:nvSpPr>
        <p:spPr>
          <a:xfrm>
            <a:off x="3328416" y="1783080"/>
            <a:ext cx="2578608" cy="2194560"/>
          </a:xfrm>
          <a:prstGeom prst="roundRect">
            <a:avLst>
              <a:gd name="adj" fmla="val 2917"/>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0" name="Shape 8"/>
          <p:cNvSpPr/>
          <p:nvPr/>
        </p:nvSpPr>
        <p:spPr>
          <a:xfrm>
            <a:off x="3328416" y="1783080"/>
            <a:ext cx="2578608" cy="109728"/>
          </a:xfrm>
          <a:prstGeom prst="rect">
            <a:avLst/>
          </a:prstGeom>
          <a:solidFill>
            <a:srgbClr val="1F3864"/>
          </a:solidFill>
          <a:ln/>
        </p:spPr>
      </p:sp>
      <p:sp>
        <p:nvSpPr>
          <p:cNvPr id="11" name="Text 9"/>
          <p:cNvSpPr/>
          <p:nvPr/>
        </p:nvSpPr>
        <p:spPr>
          <a:xfrm>
            <a:off x="3328416" y="2148840"/>
            <a:ext cx="2578608" cy="914400"/>
          </a:xfrm>
          <a:prstGeom prst="rect">
            <a:avLst/>
          </a:prstGeom>
          <a:noFill/>
          <a:ln/>
        </p:spPr>
        <p:txBody>
          <a:bodyPr wrap="square" lIns="0" tIns="0" rIns="0" bIns="0" rtlCol="0" anchor="ctr"/>
          <a:lstStyle/>
          <a:p>
            <a:pPr algn="ctr" indent="0" marL="0">
              <a:buNone/>
            </a:pPr>
            <a:r>
              <a:rPr lang="en-US" sz="3800" b="1" dirty="0">
                <a:solidFill>
                  <a:srgbClr val="1F3864"/>
                </a:solidFill>
                <a:latin typeface="Trebuchet MS" pitchFamily="34" charset="0"/>
                <a:ea typeface="Trebuchet MS" pitchFamily="34" charset="-122"/>
                <a:cs typeface="Trebuchet MS" pitchFamily="34" charset="-120"/>
              </a:rPr>
              <a:t>0</a:t>
            </a:r>
            <a:endParaRPr lang="en-US" sz="3800" dirty="0"/>
          </a:p>
        </p:txBody>
      </p:sp>
      <p:sp>
        <p:nvSpPr>
          <p:cNvPr id="12" name="Text 10"/>
          <p:cNvSpPr/>
          <p:nvPr/>
        </p:nvSpPr>
        <p:spPr>
          <a:xfrm>
            <a:off x="3328416" y="3108960"/>
            <a:ext cx="2578608" cy="45720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Failures</a:t>
            </a:r>
            <a:endParaRPr lang="en-US" sz="1250" dirty="0"/>
          </a:p>
        </p:txBody>
      </p:sp>
      <p:sp>
        <p:nvSpPr>
          <p:cNvPr id="13" name="Shape 11"/>
          <p:cNvSpPr/>
          <p:nvPr/>
        </p:nvSpPr>
        <p:spPr>
          <a:xfrm>
            <a:off x="6108192" y="1783080"/>
            <a:ext cx="2578608" cy="2194560"/>
          </a:xfrm>
          <a:prstGeom prst="roundRect">
            <a:avLst>
              <a:gd name="adj" fmla="val 2917"/>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4" name="Shape 12"/>
          <p:cNvSpPr/>
          <p:nvPr/>
        </p:nvSpPr>
        <p:spPr>
          <a:xfrm>
            <a:off x="6108192" y="1783080"/>
            <a:ext cx="2578608" cy="109728"/>
          </a:xfrm>
          <a:prstGeom prst="rect">
            <a:avLst/>
          </a:prstGeom>
          <a:solidFill>
            <a:srgbClr val="2F5496"/>
          </a:solidFill>
          <a:ln/>
        </p:spPr>
      </p:sp>
      <p:sp>
        <p:nvSpPr>
          <p:cNvPr id="15" name="Text 13"/>
          <p:cNvSpPr/>
          <p:nvPr/>
        </p:nvSpPr>
        <p:spPr>
          <a:xfrm>
            <a:off x="6108192" y="2148840"/>
            <a:ext cx="2578608" cy="914400"/>
          </a:xfrm>
          <a:prstGeom prst="rect">
            <a:avLst/>
          </a:prstGeom>
          <a:noFill/>
          <a:ln/>
        </p:spPr>
        <p:txBody>
          <a:bodyPr wrap="square" lIns="0" tIns="0" rIns="0" bIns="0" rtlCol="0" anchor="ctr"/>
          <a:lstStyle/>
          <a:p>
            <a:pPr algn="ctr" indent="0" marL="0">
              <a:buNone/>
            </a:pPr>
            <a:r>
              <a:rPr lang="en-US" sz="3800" b="1" dirty="0">
                <a:solidFill>
                  <a:srgbClr val="2F5496"/>
                </a:solidFill>
                <a:latin typeface="Trebuchet MS" pitchFamily="34" charset="0"/>
                <a:ea typeface="Trebuchet MS" pitchFamily="34" charset="-122"/>
                <a:cs typeface="Trebuchet MS" pitchFamily="34" charset="-120"/>
              </a:rPr>
              <a:t>~141 s</a:t>
            </a:r>
            <a:endParaRPr lang="en-US" sz="3800" dirty="0"/>
          </a:p>
        </p:txBody>
      </p:sp>
      <p:sp>
        <p:nvSpPr>
          <p:cNvPr id="16" name="Text 14"/>
          <p:cNvSpPr/>
          <p:nvPr/>
        </p:nvSpPr>
        <p:spPr>
          <a:xfrm>
            <a:off x="6108192" y="3108960"/>
            <a:ext cx="2578608" cy="45720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Full-suite runtime</a:t>
            </a:r>
            <a:endParaRPr lang="en-US" sz="1250" dirty="0"/>
          </a:p>
        </p:txBody>
      </p:sp>
      <p:sp>
        <p:nvSpPr>
          <p:cNvPr id="17" name="Shape 15"/>
          <p:cNvSpPr/>
          <p:nvPr/>
        </p:nvSpPr>
        <p:spPr>
          <a:xfrm>
            <a:off x="8887968" y="1783080"/>
            <a:ext cx="2578608" cy="2194560"/>
          </a:xfrm>
          <a:prstGeom prst="roundRect">
            <a:avLst>
              <a:gd name="adj" fmla="val 2917"/>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8" name="Shape 16"/>
          <p:cNvSpPr/>
          <p:nvPr/>
        </p:nvSpPr>
        <p:spPr>
          <a:xfrm>
            <a:off x="8887968" y="1783080"/>
            <a:ext cx="2578608" cy="109728"/>
          </a:xfrm>
          <a:prstGeom prst="rect">
            <a:avLst/>
          </a:prstGeom>
          <a:solidFill>
            <a:srgbClr val="E8A33D"/>
          </a:solidFill>
          <a:ln/>
        </p:spPr>
      </p:sp>
      <p:sp>
        <p:nvSpPr>
          <p:cNvPr id="19" name="Text 17"/>
          <p:cNvSpPr/>
          <p:nvPr/>
        </p:nvSpPr>
        <p:spPr>
          <a:xfrm>
            <a:off x="8887968" y="2148840"/>
            <a:ext cx="2578608" cy="914400"/>
          </a:xfrm>
          <a:prstGeom prst="rect">
            <a:avLst/>
          </a:prstGeom>
          <a:noFill/>
          <a:ln/>
        </p:spPr>
        <p:txBody>
          <a:bodyPr wrap="square" lIns="0" tIns="0" rIns="0" bIns="0" rtlCol="0" anchor="ctr"/>
          <a:lstStyle/>
          <a:p>
            <a:pPr algn="ctr" indent="0" marL="0">
              <a:buNone/>
            </a:pPr>
            <a:r>
              <a:rPr lang="en-US" sz="3800" b="1" dirty="0">
                <a:solidFill>
                  <a:srgbClr val="E8A33D"/>
                </a:solidFill>
                <a:latin typeface="Trebuchet MS" pitchFamily="34" charset="0"/>
                <a:ea typeface="Trebuchet MS" pitchFamily="34" charset="-122"/>
                <a:cs typeface="Trebuchet MS" pitchFamily="34" charset="-120"/>
              </a:rPr>
              <a:t>100%</a:t>
            </a:r>
            <a:endParaRPr lang="en-US" sz="3800" dirty="0"/>
          </a:p>
        </p:txBody>
      </p:sp>
      <p:sp>
        <p:nvSpPr>
          <p:cNvPr id="20" name="Text 18"/>
          <p:cNvSpPr/>
          <p:nvPr/>
        </p:nvSpPr>
        <p:spPr>
          <a:xfrm>
            <a:off x="8887968" y="3108960"/>
            <a:ext cx="2578608" cy="45720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Automated</a:t>
            </a:r>
            <a:endParaRPr lang="en-US" sz="1250" dirty="0"/>
          </a:p>
        </p:txBody>
      </p:sp>
      <p:sp>
        <p:nvSpPr>
          <p:cNvPr id="21" name="Shape 19"/>
          <p:cNvSpPr/>
          <p:nvPr/>
        </p:nvSpPr>
        <p:spPr>
          <a:xfrm>
            <a:off x="548640" y="4251960"/>
            <a:ext cx="11091672" cy="1737360"/>
          </a:xfrm>
          <a:prstGeom prst="roundRect">
            <a:avLst>
              <a:gd name="adj" fmla="val 3684"/>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2" name="Shape 20"/>
          <p:cNvSpPr/>
          <p:nvPr/>
        </p:nvSpPr>
        <p:spPr>
          <a:xfrm>
            <a:off x="548640" y="4251960"/>
            <a:ext cx="109728" cy="1737360"/>
          </a:xfrm>
          <a:prstGeom prst="rect">
            <a:avLst/>
          </a:prstGeom>
          <a:solidFill>
            <a:srgbClr val="17A398"/>
          </a:solidFill>
          <a:ln/>
        </p:spPr>
      </p:sp>
      <p:sp>
        <p:nvSpPr>
          <p:cNvPr id="23" name="Text 21"/>
          <p:cNvSpPr/>
          <p:nvPr/>
        </p:nvSpPr>
        <p:spPr>
          <a:xfrm>
            <a:off x="914400" y="4480560"/>
            <a:ext cx="5486400" cy="274320"/>
          </a:xfrm>
          <a:prstGeom prst="rect">
            <a:avLst/>
          </a:prstGeom>
          <a:noFill/>
          <a:ln/>
        </p:spPr>
        <p:txBody>
          <a:bodyPr wrap="square" rtlCol="0" anchor="ctr"/>
          <a:lstStyle/>
          <a:p>
            <a:pPr indent="0" marL="0">
              <a:buNone/>
            </a:pPr>
            <a:r>
              <a:rPr lang="en-US" sz="1200" b="1" spc="200" kern="0" dirty="0">
                <a:solidFill>
                  <a:srgbClr val="17A398"/>
                </a:solidFill>
                <a:latin typeface="Trebuchet MS" pitchFamily="34" charset="0"/>
                <a:ea typeface="Trebuchet MS" pitchFamily="34" charset="-122"/>
                <a:cs typeface="Trebuchet MS" pitchFamily="34" charset="-120"/>
              </a:rPr>
              <a:t>THE RUN</a:t>
            </a:r>
            <a:endParaRPr lang="en-US" sz="1200" dirty="0"/>
          </a:p>
        </p:txBody>
      </p:sp>
      <p:sp>
        <p:nvSpPr>
          <p:cNvPr id="24" name="Text 22"/>
          <p:cNvSpPr/>
          <p:nvPr/>
        </p:nvSpPr>
        <p:spPr>
          <a:xfrm>
            <a:off x="914400" y="4773168"/>
            <a:ext cx="10424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 xml:space="preserve">Executed 24 May 2026 </a:t>
            </a:r>
            <a:pPr indent="0" marL="0">
              <a:buNone/>
            </a:pPr>
            <a:r>
              <a:rPr lang="en-US" sz="1500" dirty="0">
                <a:solidFill>
                  <a:srgbClr val="C7D2E8"/>
                </a:solidFill>
                <a:latin typeface="Calibri" pitchFamily="34" charset="0"/>
                <a:ea typeface="Calibri" pitchFamily="34" charset="-122"/>
                <a:cs typeface="Calibri" pitchFamily="34" charset="-120"/>
              </a:rPr>
              <a:t xml:space="preserve"> -  every one of the 33 scenarios passed.</a:t>
            </a:r>
            <a:endParaRPr lang="en-US" sz="1500" dirty="0"/>
          </a:p>
        </p:txBody>
      </p:sp>
      <p:sp>
        <p:nvSpPr>
          <p:cNvPr id="25" name="Text 23"/>
          <p:cNvSpPr/>
          <p:nvPr/>
        </p:nvSpPr>
        <p:spPr>
          <a:xfrm>
            <a:off x="914400" y="5212080"/>
            <a:ext cx="10424160" cy="548640"/>
          </a:xfrm>
          <a:prstGeom prst="rect">
            <a:avLst/>
          </a:prstGeom>
          <a:noFill/>
          <a:ln/>
        </p:spPr>
        <p:txBody>
          <a:bodyPr wrap="square" lIns="0" tIns="0" rIns="0" bIns="0" rtlCol="0" anchor="ctr"/>
          <a:lstStyle/>
          <a:p>
            <a:pPr indent="0" marL="0">
              <a:buNone/>
            </a:pPr>
            <a:r>
              <a:rPr lang="en-US" sz="1200" b="1" dirty="0">
                <a:solidFill>
                  <a:srgbClr val="17A398"/>
                </a:solidFill>
                <a:latin typeface="Calibri" pitchFamily="34" charset="0"/>
                <a:ea typeface="Calibri" pitchFamily="34" charset="-122"/>
                <a:cs typeface="Calibri" pitchFamily="34" charset="-120"/>
              </a:rPr>
              <a:t xml:space="preserve">One command  </a:t>
            </a:r>
            <a:pPr indent="0" marL="0">
              <a:buNone/>
            </a:pPr>
            <a:r>
              <a:rPr lang="en-US" sz="1200" dirty="0">
                <a:solidFill>
                  <a:srgbClr val="9FB0CE"/>
                </a:solidFill>
                <a:latin typeface="Calibri" pitchFamily="34" charset="0"/>
                <a:ea typeface="Calibri" pitchFamily="34" charset="-122"/>
                <a:cs typeface="Calibri" pitchFamily="34" charset="-120"/>
              </a:rPr>
              <a:t>(npm test)  ·  Chromium  ·  serial, single worker for a stable shared environment  ·  unique data each run.</a:t>
            </a:r>
            <a:endParaRPr lang="en-US" sz="120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27" name="Text 25"/>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13  /  17</a:t>
            </a:r>
            <a:endParaRPr lang="en-US" sz="900" dirty="0"/>
          </a:p>
        </p:txBody>
      </p:sp>
    </p:spTree>
  </p:cSld>
  <p:clrMapOvr>
    <a:masterClrMapping/>
  </p:clrMapOvr>
  <p:transition advTm="32000">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REPORTING &amp; EVIDENCE</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Every run documents itself</a:t>
            </a:r>
            <a:endParaRPr lang="en-US" sz="2700" dirty="0"/>
          </a:p>
        </p:txBody>
      </p:sp>
      <p:sp>
        <p:nvSpPr>
          <p:cNvPr id="5" name="Shape 3"/>
          <p:cNvSpPr/>
          <p:nvPr/>
        </p:nvSpPr>
        <p:spPr>
          <a:xfrm>
            <a:off x="548640" y="1783080"/>
            <a:ext cx="3520440" cy="1280160"/>
          </a:xfrm>
          <a:prstGeom prst="roundRect">
            <a:avLst>
              <a:gd name="adj" fmla="val 500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777240" y="2002536"/>
            <a:ext cx="457200" cy="457200"/>
          </a:xfrm>
          <a:prstGeom prst="roundRect">
            <a:avLst>
              <a:gd name="adj" fmla="val 50000"/>
            </a:avLst>
          </a:prstGeom>
          <a:solidFill>
            <a:srgbClr val="17A398"/>
          </a:solidFill>
          <a:ln/>
        </p:spPr>
      </p:sp>
      <p:sp>
        <p:nvSpPr>
          <p:cNvPr id="7" name="Text 5"/>
          <p:cNvSpPr/>
          <p:nvPr/>
        </p:nvSpPr>
        <p:spPr>
          <a:xfrm>
            <a:off x="777240" y="20025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1</a:t>
            </a:r>
            <a:endParaRPr lang="en-US" sz="1700" dirty="0"/>
          </a:p>
        </p:txBody>
      </p:sp>
      <p:sp>
        <p:nvSpPr>
          <p:cNvPr id="8" name="Text 6"/>
          <p:cNvSpPr/>
          <p:nvPr/>
        </p:nvSpPr>
        <p:spPr>
          <a:xfrm>
            <a:off x="1371600" y="1984248"/>
            <a:ext cx="2514600" cy="502920"/>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Monocart HTML report</a:t>
            </a:r>
            <a:endParaRPr lang="en-US" sz="1350" dirty="0"/>
          </a:p>
        </p:txBody>
      </p:sp>
      <p:sp>
        <p:nvSpPr>
          <p:cNvPr id="9" name="Text 7"/>
          <p:cNvSpPr/>
          <p:nvPr/>
        </p:nvSpPr>
        <p:spPr>
          <a:xfrm>
            <a:off x="795528" y="2478024"/>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Interactive report - browse every scenario and step</a:t>
            </a:r>
            <a:endParaRPr lang="en-US" sz="1100" dirty="0"/>
          </a:p>
        </p:txBody>
      </p:sp>
      <p:sp>
        <p:nvSpPr>
          <p:cNvPr id="10" name="Shape 8"/>
          <p:cNvSpPr/>
          <p:nvPr/>
        </p:nvSpPr>
        <p:spPr>
          <a:xfrm>
            <a:off x="4270248" y="1783080"/>
            <a:ext cx="3520440" cy="1280160"/>
          </a:xfrm>
          <a:prstGeom prst="roundRect">
            <a:avLst>
              <a:gd name="adj" fmla="val 500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1" name="Shape 9"/>
          <p:cNvSpPr/>
          <p:nvPr/>
        </p:nvSpPr>
        <p:spPr>
          <a:xfrm>
            <a:off x="4498848" y="2002536"/>
            <a:ext cx="457200" cy="457200"/>
          </a:xfrm>
          <a:prstGeom prst="roundRect">
            <a:avLst>
              <a:gd name="adj" fmla="val 50000"/>
            </a:avLst>
          </a:prstGeom>
          <a:solidFill>
            <a:srgbClr val="17A398"/>
          </a:solidFill>
          <a:ln/>
        </p:spPr>
      </p:sp>
      <p:sp>
        <p:nvSpPr>
          <p:cNvPr id="12" name="Text 10"/>
          <p:cNvSpPr/>
          <p:nvPr/>
        </p:nvSpPr>
        <p:spPr>
          <a:xfrm>
            <a:off x="4498848" y="20025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2</a:t>
            </a:r>
            <a:endParaRPr lang="en-US" sz="1700" dirty="0"/>
          </a:p>
        </p:txBody>
      </p:sp>
      <p:sp>
        <p:nvSpPr>
          <p:cNvPr id="13" name="Text 11"/>
          <p:cNvSpPr/>
          <p:nvPr/>
        </p:nvSpPr>
        <p:spPr>
          <a:xfrm>
            <a:off x="5093208" y="1984248"/>
            <a:ext cx="2514600" cy="502920"/>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Video per test</a:t>
            </a:r>
            <a:endParaRPr lang="en-US" sz="1350" dirty="0"/>
          </a:p>
        </p:txBody>
      </p:sp>
      <p:sp>
        <p:nvSpPr>
          <p:cNvPr id="14" name="Text 12"/>
          <p:cNvSpPr/>
          <p:nvPr/>
        </p:nvSpPr>
        <p:spPr>
          <a:xfrm>
            <a:off x="4517136" y="2478024"/>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A screen recording captured for every single test</a:t>
            </a:r>
            <a:endParaRPr lang="en-US" sz="1100" dirty="0"/>
          </a:p>
        </p:txBody>
      </p:sp>
      <p:sp>
        <p:nvSpPr>
          <p:cNvPr id="15" name="Shape 13"/>
          <p:cNvSpPr/>
          <p:nvPr/>
        </p:nvSpPr>
        <p:spPr>
          <a:xfrm>
            <a:off x="7991856" y="1783080"/>
            <a:ext cx="3520440" cy="1280160"/>
          </a:xfrm>
          <a:prstGeom prst="roundRect">
            <a:avLst>
              <a:gd name="adj" fmla="val 500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6" name="Shape 14"/>
          <p:cNvSpPr/>
          <p:nvPr/>
        </p:nvSpPr>
        <p:spPr>
          <a:xfrm>
            <a:off x="8220456" y="2002536"/>
            <a:ext cx="457200" cy="457200"/>
          </a:xfrm>
          <a:prstGeom prst="roundRect">
            <a:avLst>
              <a:gd name="adj" fmla="val 50000"/>
            </a:avLst>
          </a:prstGeom>
          <a:solidFill>
            <a:srgbClr val="17A398"/>
          </a:solidFill>
          <a:ln/>
        </p:spPr>
      </p:sp>
      <p:sp>
        <p:nvSpPr>
          <p:cNvPr id="17" name="Text 15"/>
          <p:cNvSpPr/>
          <p:nvPr/>
        </p:nvSpPr>
        <p:spPr>
          <a:xfrm>
            <a:off x="8220456" y="20025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3</a:t>
            </a:r>
            <a:endParaRPr lang="en-US" sz="1700" dirty="0"/>
          </a:p>
        </p:txBody>
      </p:sp>
      <p:sp>
        <p:nvSpPr>
          <p:cNvPr id="18" name="Text 16"/>
          <p:cNvSpPr/>
          <p:nvPr/>
        </p:nvSpPr>
        <p:spPr>
          <a:xfrm>
            <a:off x="8814816" y="1984248"/>
            <a:ext cx="2514600" cy="502920"/>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Screenshots &amp; trace</a:t>
            </a:r>
            <a:endParaRPr lang="en-US" sz="1350" dirty="0"/>
          </a:p>
        </p:txBody>
      </p:sp>
      <p:sp>
        <p:nvSpPr>
          <p:cNvPr id="19" name="Text 17"/>
          <p:cNvSpPr/>
          <p:nvPr/>
        </p:nvSpPr>
        <p:spPr>
          <a:xfrm>
            <a:off x="8238744" y="2478024"/>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Step screenshots and a full Playwright trace to replay</a:t>
            </a:r>
            <a:endParaRPr lang="en-US" sz="1100" dirty="0"/>
          </a:p>
        </p:txBody>
      </p:sp>
      <p:sp>
        <p:nvSpPr>
          <p:cNvPr id="20" name="Shape 18"/>
          <p:cNvSpPr/>
          <p:nvPr/>
        </p:nvSpPr>
        <p:spPr>
          <a:xfrm>
            <a:off x="548640" y="3246120"/>
            <a:ext cx="3520440" cy="1280160"/>
          </a:xfrm>
          <a:prstGeom prst="roundRect">
            <a:avLst>
              <a:gd name="adj" fmla="val 500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1" name="Shape 19"/>
          <p:cNvSpPr/>
          <p:nvPr/>
        </p:nvSpPr>
        <p:spPr>
          <a:xfrm>
            <a:off x="777240" y="3465576"/>
            <a:ext cx="457200" cy="457200"/>
          </a:xfrm>
          <a:prstGeom prst="roundRect">
            <a:avLst>
              <a:gd name="adj" fmla="val 50000"/>
            </a:avLst>
          </a:prstGeom>
          <a:solidFill>
            <a:srgbClr val="17A398"/>
          </a:solidFill>
          <a:ln/>
        </p:spPr>
      </p:sp>
      <p:sp>
        <p:nvSpPr>
          <p:cNvPr id="22" name="Text 20"/>
          <p:cNvSpPr/>
          <p:nvPr/>
        </p:nvSpPr>
        <p:spPr>
          <a:xfrm>
            <a:off x="777240" y="346557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4</a:t>
            </a:r>
            <a:endParaRPr lang="en-US" sz="1700" dirty="0"/>
          </a:p>
        </p:txBody>
      </p:sp>
      <p:sp>
        <p:nvSpPr>
          <p:cNvPr id="23" name="Text 21"/>
          <p:cNvSpPr/>
          <p:nvPr/>
        </p:nvSpPr>
        <p:spPr>
          <a:xfrm>
            <a:off x="1371600" y="3447288"/>
            <a:ext cx="2514600" cy="502920"/>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Custom dashboard</a:t>
            </a:r>
            <a:endParaRPr lang="en-US" sz="1350" dirty="0"/>
          </a:p>
        </p:txBody>
      </p:sp>
      <p:sp>
        <p:nvSpPr>
          <p:cNvPr id="24" name="Text 22"/>
          <p:cNvSpPr/>
          <p:nvPr/>
        </p:nvSpPr>
        <p:spPr>
          <a:xfrm>
            <a:off x="795528" y="3941064"/>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A KPI view of the run - pass rate, counts, timings</a:t>
            </a:r>
            <a:endParaRPr lang="en-US" sz="1100" dirty="0"/>
          </a:p>
        </p:txBody>
      </p:sp>
      <p:sp>
        <p:nvSpPr>
          <p:cNvPr id="25" name="Shape 23"/>
          <p:cNvSpPr/>
          <p:nvPr/>
        </p:nvSpPr>
        <p:spPr>
          <a:xfrm>
            <a:off x="4270248" y="3246120"/>
            <a:ext cx="3520440" cy="1280160"/>
          </a:xfrm>
          <a:prstGeom prst="roundRect">
            <a:avLst>
              <a:gd name="adj" fmla="val 500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6" name="Shape 24"/>
          <p:cNvSpPr/>
          <p:nvPr/>
        </p:nvSpPr>
        <p:spPr>
          <a:xfrm>
            <a:off x="4498848" y="3465576"/>
            <a:ext cx="457200" cy="457200"/>
          </a:xfrm>
          <a:prstGeom prst="roundRect">
            <a:avLst>
              <a:gd name="adj" fmla="val 50000"/>
            </a:avLst>
          </a:prstGeom>
          <a:solidFill>
            <a:srgbClr val="17A398"/>
          </a:solidFill>
          <a:ln/>
        </p:spPr>
      </p:sp>
      <p:sp>
        <p:nvSpPr>
          <p:cNvPr id="27" name="Text 25"/>
          <p:cNvSpPr/>
          <p:nvPr/>
        </p:nvSpPr>
        <p:spPr>
          <a:xfrm>
            <a:off x="4498848" y="346557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5</a:t>
            </a:r>
            <a:endParaRPr lang="en-US" sz="1700" dirty="0"/>
          </a:p>
        </p:txBody>
      </p:sp>
      <p:sp>
        <p:nvSpPr>
          <p:cNvPr id="28" name="Text 26"/>
          <p:cNvSpPr/>
          <p:nvPr/>
        </p:nvSpPr>
        <p:spPr>
          <a:xfrm>
            <a:off x="5093208" y="3447288"/>
            <a:ext cx="2514600" cy="502920"/>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Plain-English summary</a:t>
            </a:r>
            <a:endParaRPr lang="en-US" sz="1350" dirty="0"/>
          </a:p>
        </p:txBody>
      </p:sp>
      <p:sp>
        <p:nvSpPr>
          <p:cNvPr id="29" name="Text 27"/>
          <p:cNvSpPr/>
          <p:nvPr/>
        </p:nvSpPr>
        <p:spPr>
          <a:xfrm>
            <a:off x="4517136" y="3941064"/>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REPORT-SUMMARY for non-technical reviewers</a:t>
            </a:r>
            <a:endParaRPr lang="en-US" sz="1100" dirty="0"/>
          </a:p>
        </p:txBody>
      </p:sp>
      <p:sp>
        <p:nvSpPr>
          <p:cNvPr id="30" name="Shape 28"/>
          <p:cNvSpPr/>
          <p:nvPr/>
        </p:nvSpPr>
        <p:spPr>
          <a:xfrm>
            <a:off x="7991856" y="3246120"/>
            <a:ext cx="3520440" cy="1280160"/>
          </a:xfrm>
          <a:prstGeom prst="roundRect">
            <a:avLst>
              <a:gd name="adj" fmla="val 500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1" name="Shape 29"/>
          <p:cNvSpPr/>
          <p:nvPr/>
        </p:nvSpPr>
        <p:spPr>
          <a:xfrm>
            <a:off x="8220456" y="3465576"/>
            <a:ext cx="457200" cy="457200"/>
          </a:xfrm>
          <a:prstGeom prst="roundRect">
            <a:avLst>
              <a:gd name="adj" fmla="val 50000"/>
            </a:avLst>
          </a:prstGeom>
          <a:solidFill>
            <a:srgbClr val="17A398"/>
          </a:solidFill>
          <a:ln/>
        </p:spPr>
      </p:sp>
      <p:sp>
        <p:nvSpPr>
          <p:cNvPr id="32" name="Text 30"/>
          <p:cNvSpPr/>
          <p:nvPr/>
        </p:nvSpPr>
        <p:spPr>
          <a:xfrm>
            <a:off x="8220456" y="346557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6</a:t>
            </a:r>
            <a:endParaRPr lang="en-US" sz="1700" dirty="0"/>
          </a:p>
        </p:txBody>
      </p:sp>
      <p:sp>
        <p:nvSpPr>
          <p:cNvPr id="33" name="Text 31"/>
          <p:cNvSpPr/>
          <p:nvPr/>
        </p:nvSpPr>
        <p:spPr>
          <a:xfrm>
            <a:off x="8814816" y="3447288"/>
            <a:ext cx="2514600" cy="502920"/>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Execution logs</a:t>
            </a:r>
            <a:endParaRPr lang="en-US" sz="1350" dirty="0"/>
          </a:p>
        </p:txBody>
      </p:sp>
      <p:sp>
        <p:nvSpPr>
          <p:cNvPr id="34" name="Text 32"/>
          <p:cNvSpPr/>
          <p:nvPr/>
        </p:nvSpPr>
        <p:spPr>
          <a:xfrm>
            <a:off x="8238744" y="3941064"/>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Balance, performance &amp; security log files</a:t>
            </a:r>
            <a:endParaRPr lang="en-US" sz="1100" dirty="0"/>
          </a:p>
        </p:txBody>
      </p:sp>
      <p:sp>
        <p:nvSpPr>
          <p:cNvPr id="35" name="Shape 33"/>
          <p:cNvSpPr/>
          <p:nvPr/>
        </p:nvSpPr>
        <p:spPr>
          <a:xfrm>
            <a:off x="548640" y="4892040"/>
            <a:ext cx="11091672" cy="1097280"/>
          </a:xfrm>
          <a:prstGeom prst="roundRect">
            <a:avLst>
              <a:gd name="adj" fmla="val 5833"/>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6" name="Text 34"/>
          <p:cNvSpPr/>
          <p:nvPr/>
        </p:nvSpPr>
        <p:spPr>
          <a:xfrm>
            <a:off x="914400" y="4892040"/>
            <a:ext cx="10424160" cy="1097280"/>
          </a:xfrm>
          <a:prstGeom prst="rect">
            <a:avLst/>
          </a:prstGeom>
          <a:noFill/>
          <a:ln/>
        </p:spPr>
        <p:txBody>
          <a:bodyPr wrap="square" lIns="0" tIns="0" rIns="0" bIns="0" rtlCol="0" anchor="ctr"/>
          <a:lstStyle/>
          <a:p>
            <a:pPr indent="0" marL="0">
              <a:buNone/>
            </a:pPr>
            <a:r>
              <a:rPr lang="en-US" sz="1300" b="1" dirty="0">
                <a:solidFill>
                  <a:srgbClr val="17A398"/>
                </a:solidFill>
                <a:latin typeface="Calibri" pitchFamily="34" charset="0"/>
                <a:ea typeface="Calibri" pitchFamily="34" charset="-122"/>
                <a:cs typeface="Calibri" pitchFamily="34" charset="-120"/>
              </a:rPr>
              <a:t xml:space="preserve">Self-documenting.  </a:t>
            </a:r>
            <a:pPr indent="0" marL="0">
              <a:buNone/>
            </a:pPr>
            <a:r>
              <a:rPr lang="en-US" sz="1300" dirty="0">
                <a:solidFill>
                  <a:srgbClr val="C7D2E8"/>
                </a:solidFill>
                <a:latin typeface="Calibri" pitchFamily="34" charset="0"/>
                <a:ea typeface="Calibri" pitchFamily="34" charset="-122"/>
                <a:cs typeface="Calibri" pitchFamily="34" charset="-120"/>
              </a:rPr>
              <a:t>Open the report after any run and see exactly what happened, screen by screen - that is the proof of execution.</a:t>
            </a:r>
            <a:endParaRPr lang="en-US" sz="1300" dirty="0"/>
          </a:p>
        </p:txBody>
      </p:sp>
      <p:sp>
        <p:nvSpPr>
          <p:cNvPr id="37" name="Text 35"/>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38" name="Text 36"/>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14  /  17</a:t>
            </a:r>
            <a:endParaRPr lang="en-US" sz="900" dirty="0"/>
          </a:p>
        </p:txBody>
      </p:sp>
    </p:spTree>
  </p:cSld>
  <p:clrMapOvr>
    <a:masterClrMapping/>
  </p:clrMapOvr>
  <p:transition advTm="35000">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SECURITY FINDING</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The suite caught a real defect</a:t>
            </a:r>
            <a:endParaRPr lang="en-US" sz="2700" dirty="0"/>
          </a:p>
        </p:txBody>
      </p:sp>
      <p:sp>
        <p:nvSpPr>
          <p:cNvPr id="5" name="Shape 3"/>
          <p:cNvSpPr/>
          <p:nvPr/>
        </p:nvSpPr>
        <p:spPr>
          <a:xfrm>
            <a:off x="548640" y="1691640"/>
            <a:ext cx="11091672" cy="1143000"/>
          </a:xfrm>
          <a:prstGeom prst="roundRect">
            <a:avLst>
              <a:gd name="adj" fmla="val 5600"/>
            </a:avLst>
          </a:prstGeom>
          <a:solidFill>
            <a:srgbClr val="FCEEE9"/>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548640" y="1691640"/>
            <a:ext cx="109728" cy="1143000"/>
          </a:xfrm>
          <a:prstGeom prst="rect">
            <a:avLst/>
          </a:prstGeom>
          <a:solidFill>
            <a:srgbClr val="B12A2A"/>
          </a:solidFill>
          <a:ln/>
        </p:spPr>
      </p:sp>
      <p:sp>
        <p:nvSpPr>
          <p:cNvPr id="7" name="Text 5"/>
          <p:cNvSpPr/>
          <p:nvPr/>
        </p:nvSpPr>
        <p:spPr>
          <a:xfrm>
            <a:off x="868680" y="1691640"/>
            <a:ext cx="1371600" cy="1143000"/>
          </a:xfrm>
          <a:prstGeom prst="rect">
            <a:avLst/>
          </a:prstGeom>
          <a:noFill/>
          <a:ln/>
        </p:spPr>
        <p:txBody>
          <a:bodyPr wrap="square" lIns="0" tIns="0" rIns="0" bIns="0" rtlCol="0" anchor="ctr"/>
          <a:lstStyle/>
          <a:p>
            <a:pPr indent="0" marL="0">
              <a:buNone/>
            </a:pPr>
            <a:r>
              <a:rPr lang="en-US" sz="2400" b="1" dirty="0">
                <a:solidFill>
                  <a:srgbClr val="B12A2A"/>
                </a:solidFill>
                <a:latin typeface="Trebuchet MS" pitchFamily="34" charset="0"/>
                <a:ea typeface="Trebuchet MS" pitchFamily="34" charset="-122"/>
                <a:cs typeface="Trebuchet MS" pitchFamily="34" charset="-120"/>
              </a:rPr>
              <a:t>TC-019</a:t>
            </a:r>
            <a:endParaRPr lang="en-US" sz="2400" dirty="0"/>
          </a:p>
        </p:txBody>
      </p:sp>
      <p:sp>
        <p:nvSpPr>
          <p:cNvPr id="8" name="Text 6"/>
          <p:cNvSpPr/>
          <p:nvPr/>
        </p:nvSpPr>
        <p:spPr>
          <a:xfrm>
            <a:off x="2286000" y="1691640"/>
            <a:ext cx="9144000" cy="1143000"/>
          </a:xfrm>
          <a:prstGeom prst="rect">
            <a:avLst/>
          </a:prstGeom>
          <a:noFill/>
          <a:ln/>
        </p:spPr>
        <p:txBody>
          <a:bodyPr wrap="square" lIns="0" tIns="0" rIns="0" bIns="0" rtlCol="0" anchor="ctr"/>
          <a:lstStyle/>
          <a:p>
            <a:pPr indent="0" marL="0">
              <a:spcAft>
                <a:spcPts val="500"/>
              </a:spcAft>
              <a:buNone/>
            </a:pPr>
            <a:r>
              <a:rPr lang="en-US" sz="1500" b="1" dirty="0">
                <a:solidFill>
                  <a:srgbClr val="1F3864"/>
                </a:solidFill>
                <a:latin typeface="Calibri" pitchFamily="34" charset="0"/>
                <a:ea typeface="Calibri" pitchFamily="34" charset="-122"/>
                <a:cs typeface="Calibri" pitchFamily="34" charset="-120"/>
              </a:rPr>
              <a:t>Stored XSS / HTML injection in the registration first-name field.</a:t>
            </a:r>
            <a:endParaRPr lang="en-US" sz="1500" dirty="0"/>
          </a:p>
          <a:p>
            <a:pPr indent="0" marL="0">
              <a:buNone/>
            </a:pPr>
            <a:r>
              <a:rPr lang="en-US" sz="1250" dirty="0">
                <a:solidFill>
                  <a:srgbClr val="2A2E3A"/>
                </a:solidFill>
                <a:latin typeface="Calibri" pitchFamily="34" charset="0"/>
                <a:ea typeface="Calibri" pitchFamily="34" charset="-122"/>
                <a:cs typeface="Calibri" pitchFamily="34" charset="-120"/>
              </a:rPr>
              <a:t>ParaBank renders the first name without escaping - injected markup becomes live page content.</a:t>
            </a:r>
            <a:endParaRPr lang="en-US" sz="1500" dirty="0"/>
          </a:p>
        </p:txBody>
      </p:sp>
      <p:sp>
        <p:nvSpPr>
          <p:cNvPr id="9" name="Shape 7"/>
          <p:cNvSpPr/>
          <p:nvPr/>
        </p:nvSpPr>
        <p:spPr>
          <a:xfrm>
            <a:off x="548640" y="3063240"/>
            <a:ext cx="5394960" cy="2743200"/>
          </a:xfrm>
          <a:prstGeom prst="roundRect">
            <a:avLst>
              <a:gd name="adj" fmla="val 233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0" name="Text 8"/>
          <p:cNvSpPr/>
          <p:nvPr/>
        </p:nvSpPr>
        <p:spPr>
          <a:xfrm>
            <a:off x="822960" y="3291840"/>
            <a:ext cx="4846320" cy="274320"/>
          </a:xfrm>
          <a:prstGeom prst="rect">
            <a:avLst/>
          </a:prstGeom>
          <a:noFill/>
          <a:ln/>
        </p:spPr>
        <p:txBody>
          <a:bodyPr wrap="square" rtlCol="0" anchor="ctr"/>
          <a:lstStyle/>
          <a:p>
            <a:pPr indent="0" marL="0">
              <a:buNone/>
            </a:pPr>
            <a:r>
              <a:rPr lang="en-US" sz="1150" b="1" spc="150" kern="0" dirty="0">
                <a:solidFill>
                  <a:srgbClr val="17A398"/>
                </a:solidFill>
                <a:latin typeface="Trebuchet MS" pitchFamily="34" charset="0"/>
                <a:ea typeface="Trebuchet MS" pitchFamily="34" charset="-122"/>
                <a:cs typeface="Trebuchet MS" pitchFamily="34" charset="-120"/>
              </a:rPr>
              <a:t>HOW THE TEST HANDLES IT</a:t>
            </a:r>
            <a:endParaRPr lang="en-US" sz="1150" dirty="0"/>
          </a:p>
        </p:txBody>
      </p:sp>
      <p:sp>
        <p:nvSpPr>
          <p:cNvPr id="11" name="Text 9"/>
          <p:cNvSpPr/>
          <p:nvPr/>
        </p:nvSpPr>
        <p:spPr>
          <a:xfrm>
            <a:off x="822960" y="3611880"/>
            <a:ext cx="4892040" cy="2103120"/>
          </a:xfrm>
          <a:prstGeom prst="rect">
            <a:avLst/>
          </a:prstGeom>
          <a:noFill/>
          <a:ln/>
        </p:spPr>
        <p:txBody>
          <a:bodyPr wrap="square" lIns="0" tIns="0" rIns="0" bIns="0" rtlCol="0" anchor="ctr"/>
          <a:lstStyle/>
          <a:p>
            <a:pPr indent="0" marL="0">
              <a:spcAft>
                <a:spcPts val="600"/>
              </a:spcAft>
              <a:buNone/>
            </a:pPr>
            <a:r>
              <a:rPr lang="en-US" sz="1250" b="1" dirty="0">
                <a:solidFill>
                  <a:srgbClr val="1F3864"/>
                </a:solidFill>
                <a:latin typeface="Calibri" pitchFamily="34" charset="0"/>
                <a:ea typeface="Calibri" pitchFamily="34" charset="-122"/>
                <a:cs typeface="Calibri" pitchFamily="34" charset="-120"/>
              </a:rPr>
              <a:t>The test asserts the secure expectation</a:t>
            </a:r>
            <a:endParaRPr lang="en-US" sz="1250" dirty="0"/>
          </a:p>
          <a:p>
            <a:pPr indent="0" marL="0">
              <a:spcAft>
                <a:spcPts val="1000"/>
              </a:spcAft>
              <a:buNone/>
            </a:pPr>
            <a:r>
              <a:rPr lang="en-US" sz="1250" dirty="0">
                <a:solidFill>
                  <a:srgbClr val="2A2E3A"/>
                </a:solidFill>
                <a:latin typeface="Calibri" pitchFamily="34" charset="0"/>
                <a:ea typeface="Calibri" pitchFamily="34" charset="-122"/>
                <a:cs typeface="Calibri" pitchFamily="34" charset="-120"/>
              </a:rPr>
              <a:t>- injected markup must be neutralised. Because ParaBank is vulnerable, that check fails.</a:t>
            </a:r>
            <a:endParaRPr lang="en-US" sz="1250" dirty="0"/>
          </a:p>
          <a:p>
            <a:pPr indent="0" marL="0">
              <a:spcAft>
                <a:spcPts val="600"/>
              </a:spcAft>
              <a:buNone/>
            </a:pPr>
            <a:r>
              <a:rPr lang="en-US" sz="1250" b="1" dirty="0">
                <a:solidFill>
                  <a:srgbClr val="17A398"/>
                </a:solidFill>
                <a:latin typeface="Calibri" pitchFamily="34" charset="0"/>
                <a:ea typeface="Calibri" pitchFamily="34" charset="-122"/>
                <a:cs typeface="Calibri" pitchFamily="34" charset="-120"/>
              </a:rPr>
              <a:t>Tagged @fail</a:t>
            </a:r>
            <a:endParaRPr lang="en-US" sz="1250" dirty="0"/>
          </a:p>
          <a:p>
            <a:pPr indent="0" marL="0">
              <a:buNone/>
            </a:pPr>
            <a:r>
              <a:rPr lang="en-US" sz="1250" dirty="0">
                <a:solidFill>
                  <a:srgbClr val="2A2E3A"/>
                </a:solidFill>
                <a:latin typeface="Calibri" pitchFamily="34" charset="0"/>
                <a:ea typeface="Calibri" pitchFamily="34" charset="-122"/>
                <a:cs typeface="Calibri" pitchFamily="34" charset="-120"/>
              </a:rPr>
              <a:t>- recorded as an expected failure, so the defect is tracked without breaking the suite.</a:t>
            </a:r>
            <a:endParaRPr lang="en-US" sz="1250" dirty="0"/>
          </a:p>
        </p:txBody>
      </p:sp>
      <p:sp>
        <p:nvSpPr>
          <p:cNvPr id="12" name="Shape 10"/>
          <p:cNvSpPr/>
          <p:nvPr/>
        </p:nvSpPr>
        <p:spPr>
          <a:xfrm>
            <a:off x="6126480" y="3063240"/>
            <a:ext cx="5513832" cy="2743200"/>
          </a:xfrm>
          <a:prstGeom prst="roundRect">
            <a:avLst>
              <a:gd name="adj" fmla="val 2333"/>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3" name="Text 11"/>
          <p:cNvSpPr/>
          <p:nvPr/>
        </p:nvSpPr>
        <p:spPr>
          <a:xfrm>
            <a:off x="6400800" y="3291840"/>
            <a:ext cx="4846320" cy="274320"/>
          </a:xfrm>
          <a:prstGeom prst="rect">
            <a:avLst/>
          </a:prstGeom>
          <a:noFill/>
          <a:ln/>
        </p:spPr>
        <p:txBody>
          <a:bodyPr wrap="square" rtlCol="0" anchor="ctr"/>
          <a:lstStyle/>
          <a:p>
            <a:pPr indent="0" marL="0">
              <a:buNone/>
            </a:pPr>
            <a:r>
              <a:rPr lang="en-US" sz="1150" b="1" spc="150" kern="0" dirty="0">
                <a:solidFill>
                  <a:srgbClr val="17A398"/>
                </a:solidFill>
                <a:latin typeface="Trebuchet MS" pitchFamily="34" charset="0"/>
                <a:ea typeface="Trebuchet MS" pitchFamily="34" charset="-122"/>
                <a:cs typeface="Trebuchet MS" pitchFamily="34" charset="-120"/>
              </a:rPr>
              <a:t>WHY THIS MATTERS</a:t>
            </a:r>
            <a:endParaRPr lang="en-US" sz="1150" dirty="0"/>
          </a:p>
        </p:txBody>
      </p:sp>
      <p:sp>
        <p:nvSpPr>
          <p:cNvPr id="14" name="Text 12"/>
          <p:cNvSpPr/>
          <p:nvPr/>
        </p:nvSpPr>
        <p:spPr>
          <a:xfrm>
            <a:off x="6400800" y="3611880"/>
            <a:ext cx="4983480" cy="2103120"/>
          </a:xfrm>
          <a:prstGeom prst="rect">
            <a:avLst/>
          </a:prstGeom>
          <a:noFill/>
          <a:ln/>
        </p:spPr>
        <p:txBody>
          <a:bodyPr wrap="square" lIns="0" tIns="0" rIns="0" bIns="0" rtlCol="0" anchor="ctr"/>
          <a:lstStyle/>
          <a:p>
            <a:pPr indent="0" marL="0">
              <a:spcAft>
                <a:spcPts val="1000"/>
              </a:spcAft>
              <a:buNone/>
            </a:pPr>
            <a:r>
              <a:rPr lang="en-US" sz="1400" b="1" dirty="0">
                <a:solidFill>
                  <a:srgbClr val="FFFFFF"/>
                </a:solidFill>
                <a:latin typeface="Calibri" pitchFamily="34" charset="0"/>
                <a:ea typeface="Calibri" pitchFamily="34" charset="-122"/>
                <a:cs typeface="Calibri" pitchFamily="34" charset="-120"/>
              </a:rPr>
              <a:t>A security test that finds a genuine vulnerability is doing its job.</a:t>
            </a:r>
            <a:endParaRPr lang="en-US" sz="1400" dirty="0"/>
          </a:p>
          <a:p>
            <a:pPr indent="0" marL="0">
              <a:buNone/>
            </a:pPr>
            <a:r>
              <a:rPr lang="en-US" sz="1250" dirty="0">
                <a:solidFill>
                  <a:srgbClr val="C7D2E8"/>
                </a:solidFill>
                <a:latin typeface="Calibri" pitchFamily="34" charset="0"/>
                <a:ea typeface="Calibri" pitchFamily="34" charset="-122"/>
                <a:cs typeface="Calibri" pitchFamily="34" charset="-120"/>
              </a:rPr>
              <a:t>The finding is documented in the test case workbook and the test plan as a known defect - honest, traceable, and clearly separated from a false alarm.</a:t>
            </a:r>
            <a:endParaRPr lang="en-US" sz="1400" dirty="0"/>
          </a:p>
        </p:txBody>
      </p:sp>
      <p:sp>
        <p:nvSpPr>
          <p:cNvPr id="15" name="Text 13"/>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16" name="Text 14"/>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15  /  17</a:t>
            </a:r>
            <a:endParaRPr lang="en-US" sz="900" dirty="0"/>
          </a:p>
        </p:txBody>
      </p:sp>
    </p:spTree>
  </p:cSld>
  <p:clrMapOvr>
    <a:masterClrMapping/>
  </p:clrMapOvr>
  <p:transition advTm="42000">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DELIVERABLES</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Everything that ships</a:t>
            </a:r>
            <a:endParaRPr lang="en-US" sz="2700" dirty="0"/>
          </a:p>
        </p:txBody>
      </p:sp>
      <p:sp>
        <p:nvSpPr>
          <p:cNvPr id="5" name="Shape 3"/>
          <p:cNvSpPr/>
          <p:nvPr/>
        </p:nvSpPr>
        <p:spPr>
          <a:xfrm>
            <a:off x="548640" y="1783080"/>
            <a:ext cx="3520440" cy="1234440"/>
          </a:xfrm>
          <a:prstGeom prst="roundRect">
            <a:avLst>
              <a:gd name="adj" fmla="val 518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777240" y="2002536"/>
            <a:ext cx="457200" cy="457200"/>
          </a:xfrm>
          <a:prstGeom prst="roundRect">
            <a:avLst>
              <a:gd name="adj" fmla="val 50000"/>
            </a:avLst>
          </a:prstGeom>
          <a:solidFill>
            <a:srgbClr val="17A398"/>
          </a:solidFill>
          <a:ln/>
        </p:spPr>
      </p:sp>
      <p:sp>
        <p:nvSpPr>
          <p:cNvPr id="7" name="Text 5"/>
          <p:cNvSpPr/>
          <p:nvPr/>
        </p:nvSpPr>
        <p:spPr>
          <a:xfrm>
            <a:off x="777240" y="20025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1</a:t>
            </a:r>
            <a:endParaRPr lang="en-US" sz="1700" dirty="0"/>
          </a:p>
        </p:txBody>
      </p:sp>
      <p:sp>
        <p:nvSpPr>
          <p:cNvPr id="8" name="Text 6"/>
          <p:cNvSpPr/>
          <p:nvPr/>
        </p:nvSpPr>
        <p:spPr>
          <a:xfrm>
            <a:off x="1371600" y="1984248"/>
            <a:ext cx="2514600" cy="502920"/>
          </a:xfrm>
          <a:prstGeom prst="rect">
            <a:avLst/>
          </a:prstGeom>
          <a:noFill/>
          <a:ln/>
        </p:spPr>
        <p:txBody>
          <a:bodyPr wrap="square" lIns="0" tIns="0" rIns="0" bIns="0" rtlCol="0" anchor="ctr"/>
          <a:lstStyle/>
          <a:p>
            <a:pPr indent="0" marL="0">
              <a:buNone/>
            </a:pPr>
            <a:r>
              <a:rPr lang="en-US" sz="1400" b="1" dirty="0">
                <a:solidFill>
                  <a:srgbClr val="1F3864"/>
                </a:solidFill>
                <a:latin typeface="Trebuchet MS" pitchFamily="34" charset="0"/>
                <a:ea typeface="Trebuchet MS" pitchFamily="34" charset="-122"/>
                <a:cs typeface="Trebuchet MS" pitchFamily="34" charset="-120"/>
              </a:rPr>
              <a:t>Automation suite</a:t>
            </a:r>
            <a:endParaRPr lang="en-US" sz="1400" dirty="0"/>
          </a:p>
        </p:txBody>
      </p:sp>
      <p:sp>
        <p:nvSpPr>
          <p:cNvPr id="9" name="Text 7"/>
          <p:cNvSpPr/>
          <p:nvPr/>
        </p:nvSpPr>
        <p:spPr>
          <a:xfrm>
            <a:off x="795528" y="2459736"/>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 feature files, 5 page objects, 33 scenarios</a:t>
            </a:r>
            <a:endParaRPr lang="en-US" sz="1100" dirty="0"/>
          </a:p>
        </p:txBody>
      </p:sp>
      <p:sp>
        <p:nvSpPr>
          <p:cNvPr id="10" name="Shape 8"/>
          <p:cNvSpPr/>
          <p:nvPr/>
        </p:nvSpPr>
        <p:spPr>
          <a:xfrm>
            <a:off x="4270248" y="1783080"/>
            <a:ext cx="3520440" cy="1234440"/>
          </a:xfrm>
          <a:prstGeom prst="roundRect">
            <a:avLst>
              <a:gd name="adj" fmla="val 518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1" name="Shape 9"/>
          <p:cNvSpPr/>
          <p:nvPr/>
        </p:nvSpPr>
        <p:spPr>
          <a:xfrm>
            <a:off x="4498848" y="2002536"/>
            <a:ext cx="457200" cy="457200"/>
          </a:xfrm>
          <a:prstGeom prst="roundRect">
            <a:avLst>
              <a:gd name="adj" fmla="val 50000"/>
            </a:avLst>
          </a:prstGeom>
          <a:solidFill>
            <a:srgbClr val="17A398"/>
          </a:solidFill>
          <a:ln/>
        </p:spPr>
      </p:sp>
      <p:sp>
        <p:nvSpPr>
          <p:cNvPr id="12" name="Text 10"/>
          <p:cNvSpPr/>
          <p:nvPr/>
        </p:nvSpPr>
        <p:spPr>
          <a:xfrm>
            <a:off x="4498848" y="20025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2</a:t>
            </a:r>
            <a:endParaRPr lang="en-US" sz="1700" dirty="0"/>
          </a:p>
        </p:txBody>
      </p:sp>
      <p:sp>
        <p:nvSpPr>
          <p:cNvPr id="13" name="Text 11"/>
          <p:cNvSpPr/>
          <p:nvPr/>
        </p:nvSpPr>
        <p:spPr>
          <a:xfrm>
            <a:off x="5093208" y="1984248"/>
            <a:ext cx="2514600" cy="502920"/>
          </a:xfrm>
          <a:prstGeom prst="rect">
            <a:avLst/>
          </a:prstGeom>
          <a:noFill/>
          <a:ln/>
        </p:spPr>
        <p:txBody>
          <a:bodyPr wrap="square" lIns="0" tIns="0" rIns="0" bIns="0" rtlCol="0" anchor="ctr"/>
          <a:lstStyle/>
          <a:p>
            <a:pPr indent="0" marL="0">
              <a:buNone/>
            </a:pPr>
            <a:r>
              <a:rPr lang="en-US" sz="1400" b="1" dirty="0">
                <a:solidFill>
                  <a:srgbClr val="1F3864"/>
                </a:solidFill>
                <a:latin typeface="Trebuchet MS" pitchFamily="34" charset="0"/>
                <a:ea typeface="Trebuchet MS" pitchFamily="34" charset="-122"/>
                <a:cs typeface="Trebuchet MS" pitchFamily="34" charset="-120"/>
              </a:rPr>
              <a:t>Test case workbook</a:t>
            </a:r>
            <a:endParaRPr lang="en-US" sz="1400" dirty="0"/>
          </a:p>
        </p:txBody>
      </p:sp>
      <p:sp>
        <p:nvSpPr>
          <p:cNvPr id="14" name="Text 12"/>
          <p:cNvSpPr/>
          <p:nvPr/>
        </p:nvSpPr>
        <p:spPr>
          <a:xfrm>
            <a:off x="4517136" y="2459736"/>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ParaBank_Test_Cases.xlsx - 33 cases, 5 sheets</a:t>
            </a:r>
            <a:endParaRPr lang="en-US" sz="1100" dirty="0"/>
          </a:p>
        </p:txBody>
      </p:sp>
      <p:sp>
        <p:nvSpPr>
          <p:cNvPr id="15" name="Shape 13"/>
          <p:cNvSpPr/>
          <p:nvPr/>
        </p:nvSpPr>
        <p:spPr>
          <a:xfrm>
            <a:off x="7991856" y="1783080"/>
            <a:ext cx="3520440" cy="1234440"/>
          </a:xfrm>
          <a:prstGeom prst="roundRect">
            <a:avLst>
              <a:gd name="adj" fmla="val 518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6" name="Shape 14"/>
          <p:cNvSpPr/>
          <p:nvPr/>
        </p:nvSpPr>
        <p:spPr>
          <a:xfrm>
            <a:off x="8220456" y="2002536"/>
            <a:ext cx="457200" cy="457200"/>
          </a:xfrm>
          <a:prstGeom prst="roundRect">
            <a:avLst>
              <a:gd name="adj" fmla="val 50000"/>
            </a:avLst>
          </a:prstGeom>
          <a:solidFill>
            <a:srgbClr val="17A398"/>
          </a:solidFill>
          <a:ln/>
        </p:spPr>
      </p:sp>
      <p:sp>
        <p:nvSpPr>
          <p:cNvPr id="17" name="Text 15"/>
          <p:cNvSpPr/>
          <p:nvPr/>
        </p:nvSpPr>
        <p:spPr>
          <a:xfrm>
            <a:off x="8220456" y="20025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3</a:t>
            </a:r>
            <a:endParaRPr lang="en-US" sz="1700" dirty="0"/>
          </a:p>
        </p:txBody>
      </p:sp>
      <p:sp>
        <p:nvSpPr>
          <p:cNvPr id="18" name="Text 16"/>
          <p:cNvSpPr/>
          <p:nvPr/>
        </p:nvSpPr>
        <p:spPr>
          <a:xfrm>
            <a:off x="8814816" y="1984248"/>
            <a:ext cx="2514600" cy="502920"/>
          </a:xfrm>
          <a:prstGeom prst="rect">
            <a:avLst/>
          </a:prstGeom>
          <a:noFill/>
          <a:ln/>
        </p:spPr>
        <p:txBody>
          <a:bodyPr wrap="square" lIns="0" tIns="0" rIns="0" bIns="0" rtlCol="0" anchor="ctr"/>
          <a:lstStyle/>
          <a:p>
            <a:pPr indent="0" marL="0">
              <a:buNone/>
            </a:pPr>
            <a:r>
              <a:rPr lang="en-US" sz="1400" b="1" dirty="0">
                <a:solidFill>
                  <a:srgbClr val="1F3864"/>
                </a:solidFill>
                <a:latin typeface="Trebuchet MS" pitchFamily="34" charset="0"/>
                <a:ea typeface="Trebuchet MS" pitchFamily="34" charset="-122"/>
                <a:cs typeface="Trebuchet MS" pitchFamily="34" charset="-120"/>
              </a:rPr>
              <a:t>Test plan</a:t>
            </a:r>
            <a:endParaRPr lang="en-US" sz="1400" dirty="0"/>
          </a:p>
        </p:txBody>
      </p:sp>
      <p:sp>
        <p:nvSpPr>
          <p:cNvPr id="19" name="Text 17"/>
          <p:cNvSpPr/>
          <p:nvPr/>
        </p:nvSpPr>
        <p:spPr>
          <a:xfrm>
            <a:off x="8238744" y="2459736"/>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Scope, approach, environment &amp; risks</a:t>
            </a:r>
            <a:endParaRPr lang="en-US" sz="1100" dirty="0"/>
          </a:p>
        </p:txBody>
      </p:sp>
      <p:sp>
        <p:nvSpPr>
          <p:cNvPr id="20" name="Shape 18"/>
          <p:cNvSpPr/>
          <p:nvPr/>
        </p:nvSpPr>
        <p:spPr>
          <a:xfrm>
            <a:off x="548640" y="3154680"/>
            <a:ext cx="3520440" cy="1234440"/>
          </a:xfrm>
          <a:prstGeom prst="roundRect">
            <a:avLst>
              <a:gd name="adj" fmla="val 518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1" name="Shape 19"/>
          <p:cNvSpPr/>
          <p:nvPr/>
        </p:nvSpPr>
        <p:spPr>
          <a:xfrm>
            <a:off x="777240" y="3374136"/>
            <a:ext cx="457200" cy="457200"/>
          </a:xfrm>
          <a:prstGeom prst="roundRect">
            <a:avLst>
              <a:gd name="adj" fmla="val 50000"/>
            </a:avLst>
          </a:prstGeom>
          <a:solidFill>
            <a:srgbClr val="17A398"/>
          </a:solidFill>
          <a:ln/>
        </p:spPr>
      </p:sp>
      <p:sp>
        <p:nvSpPr>
          <p:cNvPr id="22" name="Text 20"/>
          <p:cNvSpPr/>
          <p:nvPr/>
        </p:nvSpPr>
        <p:spPr>
          <a:xfrm>
            <a:off x="777240" y="33741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4</a:t>
            </a:r>
            <a:endParaRPr lang="en-US" sz="1700" dirty="0"/>
          </a:p>
        </p:txBody>
      </p:sp>
      <p:sp>
        <p:nvSpPr>
          <p:cNvPr id="23" name="Text 21"/>
          <p:cNvSpPr/>
          <p:nvPr/>
        </p:nvSpPr>
        <p:spPr>
          <a:xfrm>
            <a:off x="1371600" y="3355848"/>
            <a:ext cx="2514600" cy="502920"/>
          </a:xfrm>
          <a:prstGeom prst="rect">
            <a:avLst/>
          </a:prstGeom>
          <a:noFill/>
          <a:ln/>
        </p:spPr>
        <p:txBody>
          <a:bodyPr wrap="square" lIns="0" tIns="0" rIns="0" bIns="0" rtlCol="0" anchor="ctr"/>
          <a:lstStyle/>
          <a:p>
            <a:pPr indent="0" marL="0">
              <a:buNone/>
            </a:pPr>
            <a:r>
              <a:rPr lang="en-US" sz="1400" b="1" dirty="0">
                <a:solidFill>
                  <a:srgbClr val="1F3864"/>
                </a:solidFill>
                <a:latin typeface="Trebuchet MS" pitchFamily="34" charset="0"/>
                <a:ea typeface="Trebuchet MS" pitchFamily="34" charset="-122"/>
                <a:cs typeface="Trebuchet MS" pitchFamily="34" charset="-120"/>
              </a:rPr>
              <a:t>GitHub repository</a:t>
            </a:r>
            <a:endParaRPr lang="en-US" sz="1400" dirty="0"/>
          </a:p>
        </p:txBody>
      </p:sp>
      <p:sp>
        <p:nvSpPr>
          <p:cNvPr id="24" name="Text 22"/>
          <p:cNvSpPr/>
          <p:nvPr/>
        </p:nvSpPr>
        <p:spPr>
          <a:xfrm>
            <a:off x="795528" y="3831336"/>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Incremental commit history, clear messages</a:t>
            </a:r>
            <a:endParaRPr lang="en-US" sz="1100" dirty="0"/>
          </a:p>
        </p:txBody>
      </p:sp>
      <p:sp>
        <p:nvSpPr>
          <p:cNvPr id="25" name="Shape 23"/>
          <p:cNvSpPr/>
          <p:nvPr/>
        </p:nvSpPr>
        <p:spPr>
          <a:xfrm>
            <a:off x="4270248" y="3154680"/>
            <a:ext cx="3520440" cy="1234440"/>
          </a:xfrm>
          <a:prstGeom prst="roundRect">
            <a:avLst>
              <a:gd name="adj" fmla="val 518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6" name="Shape 24"/>
          <p:cNvSpPr/>
          <p:nvPr/>
        </p:nvSpPr>
        <p:spPr>
          <a:xfrm>
            <a:off x="4498848" y="3374136"/>
            <a:ext cx="457200" cy="457200"/>
          </a:xfrm>
          <a:prstGeom prst="roundRect">
            <a:avLst>
              <a:gd name="adj" fmla="val 50000"/>
            </a:avLst>
          </a:prstGeom>
          <a:solidFill>
            <a:srgbClr val="17A398"/>
          </a:solidFill>
          <a:ln/>
        </p:spPr>
      </p:sp>
      <p:sp>
        <p:nvSpPr>
          <p:cNvPr id="27" name="Text 25"/>
          <p:cNvSpPr/>
          <p:nvPr/>
        </p:nvSpPr>
        <p:spPr>
          <a:xfrm>
            <a:off x="4498848" y="33741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5</a:t>
            </a:r>
            <a:endParaRPr lang="en-US" sz="1700" dirty="0"/>
          </a:p>
        </p:txBody>
      </p:sp>
      <p:sp>
        <p:nvSpPr>
          <p:cNvPr id="28" name="Text 26"/>
          <p:cNvSpPr/>
          <p:nvPr/>
        </p:nvSpPr>
        <p:spPr>
          <a:xfrm>
            <a:off x="5093208" y="3355848"/>
            <a:ext cx="2514600" cy="502920"/>
          </a:xfrm>
          <a:prstGeom prst="rect">
            <a:avLst/>
          </a:prstGeom>
          <a:noFill/>
          <a:ln/>
        </p:spPr>
        <p:txBody>
          <a:bodyPr wrap="square" lIns="0" tIns="0" rIns="0" bIns="0" rtlCol="0" anchor="ctr"/>
          <a:lstStyle/>
          <a:p>
            <a:pPr indent="0" marL="0">
              <a:buNone/>
            </a:pPr>
            <a:r>
              <a:rPr lang="en-US" sz="1400" b="1" dirty="0">
                <a:solidFill>
                  <a:srgbClr val="1F3864"/>
                </a:solidFill>
                <a:latin typeface="Trebuchet MS" pitchFamily="34" charset="0"/>
                <a:ea typeface="Trebuchet MS" pitchFamily="34" charset="-122"/>
                <a:cs typeface="Trebuchet MS" pitchFamily="34" charset="-120"/>
              </a:rPr>
              <a:t>CI pipeline</a:t>
            </a:r>
            <a:endParaRPr lang="en-US" sz="1400" dirty="0"/>
          </a:p>
        </p:txBody>
      </p:sp>
      <p:sp>
        <p:nvSpPr>
          <p:cNvPr id="29" name="Text 27"/>
          <p:cNvSpPr/>
          <p:nvPr/>
        </p:nvSpPr>
        <p:spPr>
          <a:xfrm>
            <a:off x="4517136" y="3831336"/>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GitHub Actions runs the suite on every push</a:t>
            </a:r>
            <a:endParaRPr lang="en-US" sz="1100" dirty="0"/>
          </a:p>
        </p:txBody>
      </p:sp>
      <p:sp>
        <p:nvSpPr>
          <p:cNvPr id="30" name="Shape 28"/>
          <p:cNvSpPr/>
          <p:nvPr/>
        </p:nvSpPr>
        <p:spPr>
          <a:xfrm>
            <a:off x="7991856" y="3154680"/>
            <a:ext cx="3520440" cy="1234440"/>
          </a:xfrm>
          <a:prstGeom prst="roundRect">
            <a:avLst>
              <a:gd name="adj" fmla="val 518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1" name="Shape 29"/>
          <p:cNvSpPr/>
          <p:nvPr/>
        </p:nvSpPr>
        <p:spPr>
          <a:xfrm>
            <a:off x="8220456" y="3374136"/>
            <a:ext cx="457200" cy="457200"/>
          </a:xfrm>
          <a:prstGeom prst="roundRect">
            <a:avLst>
              <a:gd name="adj" fmla="val 50000"/>
            </a:avLst>
          </a:prstGeom>
          <a:solidFill>
            <a:srgbClr val="17A398"/>
          </a:solidFill>
          <a:ln/>
        </p:spPr>
      </p:sp>
      <p:sp>
        <p:nvSpPr>
          <p:cNvPr id="32" name="Text 30"/>
          <p:cNvSpPr/>
          <p:nvPr/>
        </p:nvSpPr>
        <p:spPr>
          <a:xfrm>
            <a:off x="8220456" y="33741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6</a:t>
            </a:r>
            <a:endParaRPr lang="en-US" sz="1700" dirty="0"/>
          </a:p>
        </p:txBody>
      </p:sp>
      <p:sp>
        <p:nvSpPr>
          <p:cNvPr id="33" name="Text 31"/>
          <p:cNvSpPr/>
          <p:nvPr/>
        </p:nvSpPr>
        <p:spPr>
          <a:xfrm>
            <a:off x="8814816" y="3355848"/>
            <a:ext cx="2514600" cy="502920"/>
          </a:xfrm>
          <a:prstGeom prst="rect">
            <a:avLst/>
          </a:prstGeom>
          <a:noFill/>
          <a:ln/>
        </p:spPr>
        <p:txBody>
          <a:bodyPr wrap="square" lIns="0" tIns="0" rIns="0" bIns="0" rtlCol="0" anchor="ctr"/>
          <a:lstStyle/>
          <a:p>
            <a:pPr indent="0" marL="0">
              <a:buNone/>
            </a:pPr>
            <a:r>
              <a:rPr lang="en-US" sz="1400" b="1" dirty="0">
                <a:solidFill>
                  <a:srgbClr val="1F3864"/>
                </a:solidFill>
                <a:latin typeface="Trebuchet MS" pitchFamily="34" charset="0"/>
                <a:ea typeface="Trebuchet MS" pitchFamily="34" charset="-122"/>
                <a:cs typeface="Trebuchet MS" pitchFamily="34" charset="-120"/>
              </a:rPr>
              <a:t>Rich reporting</a:t>
            </a:r>
            <a:endParaRPr lang="en-US" sz="1400" dirty="0"/>
          </a:p>
        </p:txBody>
      </p:sp>
      <p:sp>
        <p:nvSpPr>
          <p:cNvPr id="34" name="Text 32"/>
          <p:cNvSpPr/>
          <p:nvPr/>
        </p:nvSpPr>
        <p:spPr>
          <a:xfrm>
            <a:off x="8238744" y="3831336"/>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Monocart report + plain-English summary</a:t>
            </a:r>
            <a:endParaRPr lang="en-US" sz="1100" dirty="0"/>
          </a:p>
        </p:txBody>
      </p:sp>
      <p:sp>
        <p:nvSpPr>
          <p:cNvPr id="35" name="Shape 33"/>
          <p:cNvSpPr/>
          <p:nvPr/>
        </p:nvSpPr>
        <p:spPr>
          <a:xfrm>
            <a:off x="548640" y="4709160"/>
            <a:ext cx="11091672" cy="1280160"/>
          </a:xfrm>
          <a:prstGeom prst="roundRect">
            <a:avLst>
              <a:gd name="adj" fmla="val 5000"/>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6" name="Text 34"/>
          <p:cNvSpPr/>
          <p:nvPr/>
        </p:nvSpPr>
        <p:spPr>
          <a:xfrm>
            <a:off x="868680" y="4901184"/>
            <a:ext cx="2743200" cy="274320"/>
          </a:xfrm>
          <a:prstGeom prst="rect">
            <a:avLst/>
          </a:prstGeom>
          <a:noFill/>
          <a:ln/>
        </p:spPr>
        <p:txBody>
          <a:bodyPr wrap="square" rtlCol="0" anchor="ctr"/>
          <a:lstStyle/>
          <a:p>
            <a:pPr indent="0" marL="0">
              <a:buNone/>
            </a:pPr>
            <a:r>
              <a:rPr lang="en-US" sz="1100" b="1" spc="200" kern="0" dirty="0">
                <a:solidFill>
                  <a:srgbClr val="17A398"/>
                </a:solidFill>
                <a:latin typeface="Trebuchet MS" pitchFamily="34" charset="0"/>
                <a:ea typeface="Trebuchet MS" pitchFamily="34" charset="-122"/>
                <a:cs typeface="Trebuchet MS" pitchFamily="34" charset="-120"/>
              </a:rPr>
              <a:t>CRAFTSMANSHIP</a:t>
            </a:r>
            <a:endParaRPr lang="en-US" sz="1100" dirty="0"/>
          </a:p>
        </p:txBody>
      </p:sp>
      <p:sp>
        <p:nvSpPr>
          <p:cNvPr id="37" name="Text 35"/>
          <p:cNvSpPr/>
          <p:nvPr/>
        </p:nvSpPr>
        <p:spPr>
          <a:xfrm>
            <a:off x="868680" y="5184648"/>
            <a:ext cx="10515600" cy="640080"/>
          </a:xfrm>
          <a:prstGeom prst="rect">
            <a:avLst/>
          </a:prstGeom>
          <a:noFill/>
          <a:ln/>
        </p:spPr>
        <p:txBody>
          <a:bodyPr wrap="square" lIns="0" tIns="0" rIns="0" bIns="0" rtlCol="0" anchor="ctr"/>
          <a:lstStyle/>
          <a:p>
            <a:pPr indent="0" marL="0">
              <a:buNone/>
            </a:pPr>
            <a:r>
              <a:rPr lang="en-US" sz="1300" dirty="0">
                <a:solidFill>
                  <a:srgbClr val="C7D2E8"/>
                </a:solidFill>
                <a:latin typeface="Calibri" pitchFamily="34" charset="0"/>
                <a:ea typeface="Calibri" pitchFamily="34" charset="-122"/>
                <a:cs typeface="Calibri" pitchFamily="34" charset="-120"/>
              </a:rPr>
              <a:t xml:space="preserve">Typed code, </a:t>
            </a:r>
            <a:pPr indent="0" marL="0">
              <a:buNone/>
            </a:pPr>
            <a:r>
              <a:rPr lang="en-US" sz="1300" b="1" dirty="0">
                <a:solidFill>
                  <a:srgbClr val="FFFFFF"/>
                </a:solidFill>
                <a:latin typeface="Calibri" pitchFamily="34" charset="0"/>
                <a:ea typeface="Calibri" pitchFamily="34" charset="-122"/>
                <a:cs typeface="Calibri" pitchFamily="34" charset="-120"/>
              </a:rPr>
              <a:t xml:space="preserve">small reviewable commits, </a:t>
            </a:r>
            <a:pPr indent="0" marL="0">
              <a:buNone/>
            </a:pPr>
            <a:r>
              <a:rPr lang="en-US" sz="1300" dirty="0">
                <a:solidFill>
                  <a:srgbClr val="C7D2E8"/>
                </a:solidFill>
                <a:latin typeface="Calibri" pitchFamily="34" charset="0"/>
                <a:ea typeface="Calibri" pitchFamily="34" charset="-122"/>
                <a:cs typeface="Calibri" pitchFamily="34" charset="-120"/>
              </a:rPr>
              <a:t xml:space="preserve">reusable steps, a data factory for repeatable runs, CI on every push, and </a:t>
            </a:r>
            <a:pPr indent="0" marL="0">
              <a:buNone/>
            </a:pPr>
            <a:r>
              <a:rPr lang="en-US" sz="1300" b="1" dirty="0">
                <a:solidFill>
                  <a:srgbClr val="FFFFFF"/>
                </a:solidFill>
                <a:latin typeface="Calibri" pitchFamily="34" charset="0"/>
                <a:ea typeface="Calibri" pitchFamily="34" charset="-122"/>
                <a:cs typeface="Calibri" pitchFamily="34" charset="-120"/>
              </a:rPr>
              <a:t>documentation that even a non-technical reader can follow.</a:t>
            </a:r>
            <a:endParaRPr lang="en-US" sz="1300" dirty="0"/>
          </a:p>
        </p:txBody>
      </p:sp>
      <p:sp>
        <p:nvSpPr>
          <p:cNvPr id="38" name="Text 36"/>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39" name="Text 37"/>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16  /  17</a:t>
            </a:r>
            <a:endParaRPr lang="en-US" sz="900" dirty="0"/>
          </a:p>
        </p:txBody>
      </p:sp>
    </p:spTree>
  </p:cSld>
  <p:clrMapOvr>
    <a:masterClrMapping/>
  </p:clrMapOvr>
  <p:transition advTm="32000">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0" y="0"/>
            <a:ext cx="12188952" cy="146304"/>
          </a:xfrm>
          <a:prstGeom prst="rect">
            <a:avLst/>
          </a:prstGeom>
          <a:solidFill>
            <a:srgbClr val="17A398"/>
          </a:solidFill>
          <a:ln/>
        </p:spPr>
      </p:sp>
      <p:sp>
        <p:nvSpPr>
          <p:cNvPr id="3" name="Shape 1"/>
          <p:cNvSpPr/>
          <p:nvPr/>
        </p:nvSpPr>
        <p:spPr>
          <a:xfrm>
            <a:off x="0" y="6711696"/>
            <a:ext cx="12188952" cy="146304"/>
          </a:xfrm>
          <a:prstGeom prst="rect">
            <a:avLst/>
          </a:prstGeom>
          <a:solidFill>
            <a:srgbClr val="E8A33D"/>
          </a:solidFill>
          <a:ln/>
        </p:spPr>
      </p:sp>
      <p:sp>
        <p:nvSpPr>
          <p:cNvPr id="4" name="Text 2"/>
          <p:cNvSpPr/>
          <p:nvPr/>
        </p:nvSpPr>
        <p:spPr>
          <a:xfrm>
            <a:off x="914400" y="1463040"/>
            <a:ext cx="10058400" cy="457200"/>
          </a:xfrm>
          <a:prstGeom prst="rect">
            <a:avLst/>
          </a:prstGeom>
          <a:noFill/>
          <a:ln/>
        </p:spPr>
        <p:txBody>
          <a:bodyPr wrap="square" rtlCol="0" anchor="ctr"/>
          <a:lstStyle/>
          <a:p>
            <a:pPr indent="0" marL="0">
              <a:buNone/>
            </a:pPr>
            <a:r>
              <a:rPr lang="en-US" sz="1500" b="1" spc="500" kern="0" dirty="0">
                <a:solidFill>
                  <a:srgbClr val="17A398"/>
                </a:solidFill>
                <a:latin typeface="Trebuchet MS" pitchFamily="34" charset="0"/>
                <a:ea typeface="Trebuchet MS" pitchFamily="34" charset="-122"/>
                <a:cs typeface="Trebuchet MS" pitchFamily="34" charset="-120"/>
              </a:rPr>
              <a:t>THANK YOU</a:t>
            </a:r>
            <a:endParaRPr lang="en-US" sz="1500" dirty="0"/>
          </a:p>
        </p:txBody>
      </p:sp>
      <p:sp>
        <p:nvSpPr>
          <p:cNvPr id="5" name="Text 3"/>
          <p:cNvSpPr/>
          <p:nvPr/>
        </p:nvSpPr>
        <p:spPr>
          <a:xfrm>
            <a:off x="868680" y="1874520"/>
            <a:ext cx="10424160" cy="1645920"/>
          </a:xfrm>
          <a:prstGeom prst="rect">
            <a:avLst/>
          </a:prstGeom>
          <a:noFill/>
          <a:ln/>
        </p:spPr>
        <p:txBody>
          <a:bodyPr wrap="square" rtlCol="0" anchor="ctr"/>
          <a:lstStyle/>
          <a:p>
            <a:pPr indent="0" marL="0">
              <a:buNone/>
            </a:pPr>
            <a:r>
              <a:rPr lang="en-US" sz="4200" b="1" dirty="0">
                <a:solidFill>
                  <a:srgbClr val="FFFFFF"/>
                </a:solidFill>
                <a:latin typeface="Trebuchet MS" pitchFamily="34" charset="0"/>
                <a:ea typeface="Trebuchet MS" pitchFamily="34" charset="-122"/>
                <a:cs typeface="Trebuchet MS" pitchFamily="34" charset="-120"/>
              </a:rPr>
              <a:t>A craftsmanship-first</a:t>
            </a:r>
            <a:endParaRPr lang="en-US" sz="4200" dirty="0"/>
          </a:p>
          <a:p>
            <a:pPr indent="0" marL="0">
              <a:buNone/>
            </a:pPr>
            <a:r>
              <a:rPr lang="en-US" sz="4200" b="1" dirty="0">
                <a:solidFill>
                  <a:srgbClr val="FFFFFF"/>
                </a:solidFill>
                <a:latin typeface="Trebuchet MS" pitchFamily="34" charset="0"/>
                <a:ea typeface="Trebuchet MS" pitchFamily="34" charset="-122"/>
                <a:cs typeface="Trebuchet MS" pitchFamily="34" charset="-120"/>
              </a:rPr>
              <a:t>automation suite</a:t>
            </a:r>
            <a:endParaRPr lang="en-US" sz="4200" dirty="0"/>
          </a:p>
        </p:txBody>
      </p:sp>
      <p:sp>
        <p:nvSpPr>
          <p:cNvPr id="6" name="Shape 4"/>
          <p:cNvSpPr/>
          <p:nvPr/>
        </p:nvSpPr>
        <p:spPr>
          <a:xfrm>
            <a:off x="914400" y="3611880"/>
            <a:ext cx="2377440" cy="32004"/>
          </a:xfrm>
          <a:prstGeom prst="rect">
            <a:avLst/>
          </a:prstGeom>
          <a:solidFill>
            <a:srgbClr val="E8A33D"/>
          </a:solidFill>
          <a:ln/>
        </p:spPr>
      </p:sp>
      <p:sp>
        <p:nvSpPr>
          <p:cNvPr id="7" name="Shape 5"/>
          <p:cNvSpPr/>
          <p:nvPr/>
        </p:nvSpPr>
        <p:spPr>
          <a:xfrm>
            <a:off x="932688" y="3931920"/>
            <a:ext cx="155448" cy="155448"/>
          </a:xfrm>
          <a:prstGeom prst="ellipse">
            <a:avLst/>
          </a:prstGeom>
          <a:solidFill>
            <a:srgbClr val="17A398"/>
          </a:solidFill>
          <a:ln/>
        </p:spPr>
      </p:sp>
      <p:sp>
        <p:nvSpPr>
          <p:cNvPr id="8" name="Text 6"/>
          <p:cNvSpPr/>
          <p:nvPr/>
        </p:nvSpPr>
        <p:spPr>
          <a:xfrm>
            <a:off x="1207008" y="3849624"/>
            <a:ext cx="1005840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 xml:space="preserve">33 deep-testing scenarios  </a:t>
            </a:r>
            <a:pPr indent="0" marL="0">
              <a:buNone/>
            </a:pPr>
            <a:r>
              <a:rPr lang="en-US" sz="1350" dirty="0">
                <a:solidFill>
                  <a:srgbClr val="9FB0CE"/>
                </a:solidFill>
                <a:latin typeface="Calibri" pitchFamily="34" charset="0"/>
                <a:ea typeface="Calibri" pitchFamily="34" charset="-122"/>
                <a:cs typeface="Calibri" pitchFamily="34" charset="-120"/>
              </a:rPr>
              <a:t>- functional, boundary, security, access &amp; performance</a:t>
            </a:r>
            <a:endParaRPr lang="en-US" sz="1350" dirty="0"/>
          </a:p>
        </p:txBody>
      </p:sp>
      <p:sp>
        <p:nvSpPr>
          <p:cNvPr id="9" name="Shape 7"/>
          <p:cNvSpPr/>
          <p:nvPr/>
        </p:nvSpPr>
        <p:spPr>
          <a:xfrm>
            <a:off x="932688" y="4498848"/>
            <a:ext cx="155448" cy="155448"/>
          </a:xfrm>
          <a:prstGeom prst="ellipse">
            <a:avLst/>
          </a:prstGeom>
          <a:solidFill>
            <a:srgbClr val="17A398"/>
          </a:solidFill>
          <a:ln/>
        </p:spPr>
      </p:sp>
      <p:sp>
        <p:nvSpPr>
          <p:cNvPr id="10" name="Text 8"/>
          <p:cNvSpPr/>
          <p:nvPr/>
        </p:nvSpPr>
        <p:spPr>
          <a:xfrm>
            <a:off x="1207008" y="4416552"/>
            <a:ext cx="1005840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 xml:space="preserve">BDD + Page Object Model  </a:t>
            </a:r>
            <a:pPr indent="0" marL="0">
              <a:buNone/>
            </a:pPr>
            <a:r>
              <a:rPr lang="en-US" sz="1350" dirty="0">
                <a:solidFill>
                  <a:srgbClr val="9FB0CE"/>
                </a:solidFill>
                <a:latin typeface="Calibri" pitchFamily="34" charset="0"/>
                <a:ea typeface="Calibri" pitchFamily="34" charset="-122"/>
                <a:cs typeface="Calibri" pitchFamily="34" charset="-120"/>
              </a:rPr>
              <a:t>- readable, maintainable, repeatable</a:t>
            </a:r>
            <a:endParaRPr lang="en-US" sz="1350" dirty="0"/>
          </a:p>
        </p:txBody>
      </p:sp>
      <p:sp>
        <p:nvSpPr>
          <p:cNvPr id="11" name="Shape 9"/>
          <p:cNvSpPr/>
          <p:nvPr/>
        </p:nvSpPr>
        <p:spPr>
          <a:xfrm>
            <a:off x="932688" y="5065776"/>
            <a:ext cx="155448" cy="155448"/>
          </a:xfrm>
          <a:prstGeom prst="ellipse">
            <a:avLst/>
          </a:prstGeom>
          <a:solidFill>
            <a:srgbClr val="17A398"/>
          </a:solidFill>
          <a:ln/>
        </p:spPr>
      </p:sp>
      <p:sp>
        <p:nvSpPr>
          <p:cNvPr id="12" name="Text 10"/>
          <p:cNvSpPr/>
          <p:nvPr/>
        </p:nvSpPr>
        <p:spPr>
          <a:xfrm>
            <a:off x="1207008" y="4983480"/>
            <a:ext cx="1005840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 xml:space="preserve">100% green run  </a:t>
            </a:r>
            <a:pPr indent="0" marL="0">
              <a:buNone/>
            </a:pPr>
            <a:r>
              <a:rPr lang="en-US" sz="1350" dirty="0">
                <a:solidFill>
                  <a:srgbClr val="9FB0CE"/>
                </a:solidFill>
                <a:latin typeface="Calibri" pitchFamily="34" charset="0"/>
                <a:ea typeface="Calibri" pitchFamily="34" charset="-122"/>
                <a:cs typeface="Calibri" pitchFamily="34" charset="-120"/>
              </a:rPr>
              <a:t>- with proof of execution and a tracked security finding</a:t>
            </a:r>
            <a:endParaRPr lang="en-US" sz="1350" dirty="0"/>
          </a:p>
        </p:txBody>
      </p:sp>
      <p:sp>
        <p:nvSpPr>
          <p:cNvPr id="13" name="Text 11"/>
          <p:cNvSpPr/>
          <p:nvPr/>
        </p:nvSpPr>
        <p:spPr>
          <a:xfrm>
            <a:off x="914400" y="5852160"/>
            <a:ext cx="10515600" cy="365760"/>
          </a:xfrm>
          <a:prstGeom prst="rect">
            <a:avLst/>
          </a:prstGeom>
          <a:noFill/>
          <a:ln/>
        </p:spPr>
        <p:txBody>
          <a:bodyPr wrap="square"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Ashik Mohamed</a:t>
            </a:r>
            <a:pPr indent="0" marL="0">
              <a:buNone/>
            </a:pPr>
            <a:r>
              <a:rPr lang="en-US" sz="1200" dirty="0">
                <a:solidFill>
                  <a:srgbClr val="9FB0CE"/>
                </a:solidFill>
                <a:latin typeface="Trebuchet MS" pitchFamily="34" charset="0"/>
                <a:ea typeface="Trebuchet MS" pitchFamily="34" charset="-122"/>
                <a:cs typeface="Trebuchet MS" pitchFamily="34" charset="-120"/>
              </a:rPr>
              <a:t xml:space="preserve">     Software Craftsperson assessment  -  Incubyte</a:t>
            </a:r>
            <a:endParaRPr lang="en-US" sz="1500" dirty="0"/>
          </a:p>
        </p:txBody>
      </p:sp>
    </p:spTree>
  </p:cSld>
  <p:clrMapOvr>
    <a:masterClrMapping/>
  </p:clrMapOvr>
  <p:transition advTm="220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ParaBank Automation Assessment</dc:title>
  <dc:subject>PptxGenJS Presentation</dc:subject>
  <dc:creator>Ashik Mohamed</dc:creator>
  <cp:lastModifiedBy>Ashik Mohamed</cp:lastModifiedBy>
  <cp:revision>1</cp:revision>
  <dcterms:created xsi:type="dcterms:W3CDTF">2026-05-24T20:40:16Z</dcterms:created>
  <dcterms:modified xsi:type="dcterms:W3CDTF">2026-05-24T20:40:16Z</dcterms:modified>
</cp:coreProperties>
</file>